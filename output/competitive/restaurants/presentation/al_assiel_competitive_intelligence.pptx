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a0254566c4829" /><Relationship Type="http://schemas.openxmlformats.org/officeDocument/2006/relationships/extended-properties" Target="/docProps/app.xml" Id="R001f4f60db2b4f82" /><Relationship Type="http://schemas.openxmlformats.org/officeDocument/2006/relationships/officeDocument" Target="/ppt/presentation.xml" Id="R54c9d4bce3a0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05326730184ca4"/>
  </p:sldMasterIdLst>
  <p:notesMasterIdLst>
    <p:notesMasterId xmlns:r="http://schemas.openxmlformats.org/officeDocument/2006/relationships" r:id="Rb11df1bf6b044511"/>
  </p:notesMasterIdLst>
  <p:sldIdLst>
    <p:sldId xmlns:r="http://schemas.openxmlformats.org/officeDocument/2006/relationships" id="256" r:id="R13e8af9cab784c6a"/>
    <p:sldId xmlns:r="http://schemas.openxmlformats.org/officeDocument/2006/relationships" id="257" r:id="Rf02c7cfd4c864a5b"/>
    <p:sldId xmlns:r="http://schemas.openxmlformats.org/officeDocument/2006/relationships" id="258" r:id="R62aa10dcc5cb4b22"/>
    <p:sldId xmlns:r="http://schemas.openxmlformats.org/officeDocument/2006/relationships" id="259" r:id="Rab5fabc5c2194e3f"/>
    <p:sldId xmlns:r="http://schemas.openxmlformats.org/officeDocument/2006/relationships" id="260" r:id="Rdb90ae2f98b941ee"/>
    <p:sldId xmlns:r="http://schemas.openxmlformats.org/officeDocument/2006/relationships" id="261" r:id="R77603f5bcfef493a"/>
    <p:sldId xmlns:r="http://schemas.openxmlformats.org/officeDocument/2006/relationships" id="262" r:id="R4d414c40132841a3"/>
    <p:sldId xmlns:r="http://schemas.openxmlformats.org/officeDocument/2006/relationships" id="263" r:id="R60a5b1f038434ef5"/>
    <p:sldId xmlns:r="http://schemas.openxmlformats.org/officeDocument/2006/relationships" id="264" r:id="Re5d41cdff7b44d26"/>
    <p:sldId xmlns:r="http://schemas.openxmlformats.org/officeDocument/2006/relationships" id="265" r:id="Ra7500c49ed414c24"/>
    <p:sldId xmlns:r="http://schemas.openxmlformats.org/officeDocument/2006/relationships" id="266" r:id="R6c7c2056255a4c95"/>
    <p:sldId xmlns:r="http://schemas.openxmlformats.org/officeDocument/2006/relationships" id="267" r:id="R59170793588844bf"/>
    <p:sldId xmlns:r="http://schemas.openxmlformats.org/officeDocument/2006/relationships" id="268" r:id="R316e3a419a8447d9"/>
    <p:sldId xmlns:r="http://schemas.openxmlformats.org/officeDocument/2006/relationships" id="269" r:id="R6f721b27a07b4f05"/>
    <p:sldId xmlns:r="http://schemas.openxmlformats.org/officeDocument/2006/relationships" id="270" r:id="R25809446a58146c1"/>
    <p:sldId xmlns:r="http://schemas.openxmlformats.org/officeDocument/2006/relationships" id="271" r:id="Re55dedc0a1cf4068"/>
    <p:sldId xmlns:r="http://schemas.openxmlformats.org/officeDocument/2006/relationships" id="272" r:id="R573f0a512eb14ae3"/>
    <p:sldId xmlns:r="http://schemas.openxmlformats.org/officeDocument/2006/relationships" id="273" r:id="R52f5f888d5044c1c"/>
    <p:sldId xmlns:r="http://schemas.openxmlformats.org/officeDocument/2006/relationships" id="274" r:id="Rdb7091dc831b48ef"/>
    <p:sldId xmlns:r="http://schemas.openxmlformats.org/officeDocument/2006/relationships" id="275" r:id="R1d6617b60c9444df"/>
    <p:sldId xmlns:r="http://schemas.openxmlformats.org/officeDocument/2006/relationships" id="276" r:id="R82dbdde36d564d1b"/>
    <p:sldId xmlns:r="http://schemas.openxmlformats.org/officeDocument/2006/relationships" id="277" r:id="R14064de741a642ea"/>
    <p:sldId xmlns:r="http://schemas.openxmlformats.org/officeDocument/2006/relationships" id="278" r:id="R8b1b09cd39834a08"/>
    <p:sldId xmlns:r="http://schemas.openxmlformats.org/officeDocument/2006/relationships" id="279" r:id="R99bb5176e51940ac"/>
    <p:sldId xmlns:r="http://schemas.openxmlformats.org/officeDocument/2006/relationships" id="280" r:id="Rf0355a880dfd4c7d"/>
    <p:sldId xmlns:r="http://schemas.openxmlformats.org/officeDocument/2006/relationships" id="281" r:id="R2aa740a2a0014092"/>
    <p:sldId xmlns:r="http://schemas.openxmlformats.org/officeDocument/2006/relationships" id="282" r:id="R114f297dee7b4195"/>
    <p:sldId xmlns:r="http://schemas.openxmlformats.org/officeDocument/2006/relationships" id="283" r:id="Rdafec617ed504764"/>
    <p:sldId xmlns:r="http://schemas.openxmlformats.org/officeDocument/2006/relationships" id="284" r:id="Rcc28590e42c54e6d"/>
    <p:sldId xmlns:r="http://schemas.openxmlformats.org/officeDocument/2006/relationships" id="285" r:id="Rdc1bb81820f94454"/>
    <p:sldId xmlns:r="http://schemas.openxmlformats.org/officeDocument/2006/relationships" id="286" r:id="Rb850d54f18d34a60"/>
    <p:sldId xmlns:r="http://schemas.openxmlformats.org/officeDocument/2006/relationships" id="287" r:id="R16c31677c8f74445"/>
    <p:sldId xmlns:r="http://schemas.openxmlformats.org/officeDocument/2006/relationships" id="288" r:id="Re10ec7d804bd4290"/>
    <p:sldId xmlns:r="http://schemas.openxmlformats.org/officeDocument/2006/relationships" id="289" r:id="Rbd6baf0d11774689"/>
    <p:sldId xmlns:r="http://schemas.openxmlformats.org/officeDocument/2006/relationships" id="290" r:id="R6572a45ce4cc4d79"/>
    <p:sldId xmlns:r="http://schemas.openxmlformats.org/officeDocument/2006/relationships" id="291" r:id="Ra14db8fd057b48f6"/>
    <p:sldId xmlns:r="http://schemas.openxmlformats.org/officeDocument/2006/relationships" id="292" r:id="R1f28bb765cb34c33"/>
    <p:sldId xmlns:r="http://schemas.openxmlformats.org/officeDocument/2006/relationships" id="293" r:id="R37e44649c5944dfb"/>
    <p:sldId xmlns:r="http://schemas.openxmlformats.org/officeDocument/2006/relationships" id="294" r:id="Rd1e7e086cd9c4e5a"/>
    <p:sldId xmlns:r="http://schemas.openxmlformats.org/officeDocument/2006/relationships" id="295" r:id="Re0e3e80a3d7e4fea"/>
    <p:sldId xmlns:r="http://schemas.openxmlformats.org/officeDocument/2006/relationships" id="296" r:id="R902365562d864b2a"/>
    <p:sldId xmlns:r="http://schemas.openxmlformats.org/officeDocument/2006/relationships" id="297" r:id="R84504b152a764c05"/>
    <p:sldId xmlns:r="http://schemas.openxmlformats.org/officeDocument/2006/relationships" id="298" r:id="R02bf8d9739ff4e51"/>
    <p:sldId xmlns:r="http://schemas.openxmlformats.org/officeDocument/2006/relationships" id="299" r:id="Ra4467fa868844ac1"/>
    <p:sldId xmlns:r="http://schemas.openxmlformats.org/officeDocument/2006/relationships" id="300" r:id="R083ae87768c04498"/>
    <p:sldId xmlns:r="http://schemas.openxmlformats.org/officeDocument/2006/relationships" id="301" r:id="R5c895361f6d24435"/>
    <p:sldId xmlns:r="http://schemas.openxmlformats.org/officeDocument/2006/relationships" id="302" r:id="Rf610fcfe71ab4d10"/>
    <p:sldId xmlns:r="http://schemas.openxmlformats.org/officeDocument/2006/relationships" id="303" r:id="Ra2c0dc2d6a1e415b"/>
    <p:sldId xmlns:r="http://schemas.openxmlformats.org/officeDocument/2006/relationships" id="304" r:id="Rb0e45a777f1a4ec5"/>
    <p:sldId xmlns:r="http://schemas.openxmlformats.org/officeDocument/2006/relationships" id="305" r:id="R8d95c5745c4c4439"/>
    <p:sldId xmlns:r="http://schemas.openxmlformats.org/officeDocument/2006/relationships" id="306" r:id="R7bb043888cfe4968"/>
    <p:sldId xmlns:r="http://schemas.openxmlformats.org/officeDocument/2006/relationships" id="307" r:id="R20c28e00fd54480b"/>
    <p:sldId xmlns:r="http://schemas.openxmlformats.org/officeDocument/2006/relationships" id="308" r:id="R48b315b2cb2348ae"/>
    <p:sldId xmlns:r="http://schemas.openxmlformats.org/officeDocument/2006/relationships" id="309" r:id="R4dda965e14cb454d"/>
    <p:sldId xmlns:r="http://schemas.openxmlformats.org/officeDocument/2006/relationships" id="310" r:id="R5088965878b84022"/>
    <p:sldId xmlns:r="http://schemas.openxmlformats.org/officeDocument/2006/relationships" id="311" r:id="Rc913ea1031ed4418"/>
    <p:sldId xmlns:r="http://schemas.openxmlformats.org/officeDocument/2006/relationships" id="312" r:id="R66f3a7c4f14e42d3"/>
    <p:sldId xmlns:r="http://schemas.openxmlformats.org/officeDocument/2006/relationships" id="313" r:id="R41cec40db23a4f96"/>
    <p:sldId xmlns:r="http://schemas.openxmlformats.org/officeDocument/2006/relationships" id="314" r:id="R2b006c63c4814de6"/>
    <p:sldId xmlns:r="http://schemas.openxmlformats.org/officeDocument/2006/relationships" id="315" r:id="R9fc873deda654e8e"/>
    <p:sldId xmlns:r="http://schemas.openxmlformats.org/officeDocument/2006/relationships" id="316" r:id="Re078a7d9db4249b9"/>
    <p:sldId xmlns:r="http://schemas.openxmlformats.org/officeDocument/2006/relationships" id="317" r:id="R8aad23d1d2074f30"/>
    <p:sldId xmlns:r="http://schemas.openxmlformats.org/officeDocument/2006/relationships" id="318" r:id="R39a6dc60a0f845bc"/>
    <p:sldId xmlns:r="http://schemas.openxmlformats.org/officeDocument/2006/relationships" id="319" r:id="Rb248f6bd42624671"/>
    <p:sldId xmlns:r="http://schemas.openxmlformats.org/officeDocument/2006/relationships" id="320" r:id="R5932e14e099d44d1"/>
    <p:sldId xmlns:r="http://schemas.openxmlformats.org/officeDocument/2006/relationships" id="321" r:id="Rf41a6578f72044c0"/>
    <p:sldId xmlns:r="http://schemas.openxmlformats.org/officeDocument/2006/relationships" id="322" r:id="R64e23a8bb1b547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3d8eae44d4d2b" /><Relationship Type="http://schemas.openxmlformats.org/officeDocument/2006/relationships/slideMaster" Target="/ppt/slideMasters/slideMaster1.xml" Id="Rb505326730184ca4" /><Relationship Type="http://schemas.openxmlformats.org/officeDocument/2006/relationships/notesMaster" Target="/ppt/notesMasters/notesMaster1.xml" Id="Rb11df1bf6b044511" /><Relationship Type="http://schemas.openxmlformats.org/officeDocument/2006/relationships/presProps" Target="/ppt/presProps.xml" Id="Rcaa86b6a4ec34c73" /><Relationship Type="http://schemas.openxmlformats.org/officeDocument/2006/relationships/tableStyles" Target="/ppt/tableStyles.xml" Id="R08e396c88ae64b9f" /><Relationship Type="http://schemas.openxmlformats.org/officeDocument/2006/relationships/slide" Target="/ppt/slides/slide1.xml" Id="R13e8af9cab784c6a" /><Relationship Type="http://schemas.openxmlformats.org/officeDocument/2006/relationships/slide" Target="/ppt/slides/slide2.xml" Id="Rf02c7cfd4c864a5b" /><Relationship Type="http://schemas.openxmlformats.org/officeDocument/2006/relationships/slide" Target="/ppt/slides/slide3.xml" Id="R62aa10dcc5cb4b22" /><Relationship Type="http://schemas.openxmlformats.org/officeDocument/2006/relationships/slide" Target="/ppt/slides/slide4.xml" Id="Rab5fabc5c2194e3f" /><Relationship Type="http://schemas.openxmlformats.org/officeDocument/2006/relationships/slide" Target="/ppt/slides/slide5.xml" Id="Rdb90ae2f98b941ee" /><Relationship Type="http://schemas.openxmlformats.org/officeDocument/2006/relationships/slide" Target="/ppt/slides/slide6.xml" Id="R77603f5bcfef493a" /><Relationship Type="http://schemas.openxmlformats.org/officeDocument/2006/relationships/slide" Target="/ppt/slides/slide7.xml" Id="R4d414c40132841a3" /><Relationship Type="http://schemas.openxmlformats.org/officeDocument/2006/relationships/slide" Target="/ppt/slides/slide8.xml" Id="R60a5b1f038434ef5" /><Relationship Type="http://schemas.openxmlformats.org/officeDocument/2006/relationships/slide" Target="/ppt/slides/slide9.xml" Id="Re5d41cdff7b44d26" /><Relationship Type="http://schemas.openxmlformats.org/officeDocument/2006/relationships/slide" Target="/ppt/slides/slide10.xml" Id="Ra7500c49ed414c24" /><Relationship Type="http://schemas.openxmlformats.org/officeDocument/2006/relationships/slide" Target="/ppt/slides/slide11.xml" Id="R6c7c2056255a4c95" /><Relationship Type="http://schemas.openxmlformats.org/officeDocument/2006/relationships/slide" Target="/ppt/slides/slide12.xml" Id="R59170793588844bf" /><Relationship Type="http://schemas.openxmlformats.org/officeDocument/2006/relationships/slide" Target="/ppt/slides/slide13.xml" Id="R316e3a419a8447d9" /><Relationship Type="http://schemas.openxmlformats.org/officeDocument/2006/relationships/slide" Target="/ppt/slides/slide14.xml" Id="R6f721b27a07b4f05" /><Relationship Type="http://schemas.openxmlformats.org/officeDocument/2006/relationships/slide" Target="/ppt/slides/slide15.xml" Id="R25809446a58146c1" /><Relationship Type="http://schemas.openxmlformats.org/officeDocument/2006/relationships/slide" Target="/ppt/slides/slide16.xml" Id="Re55dedc0a1cf4068" /><Relationship Type="http://schemas.openxmlformats.org/officeDocument/2006/relationships/slide" Target="/ppt/slides/slide17.xml" Id="R573f0a512eb14ae3" /><Relationship Type="http://schemas.openxmlformats.org/officeDocument/2006/relationships/slide" Target="/ppt/slides/slide18.xml" Id="R52f5f888d5044c1c" /><Relationship Type="http://schemas.openxmlformats.org/officeDocument/2006/relationships/slide" Target="/ppt/slides/slide19.xml" Id="Rdb7091dc831b48ef" /><Relationship Type="http://schemas.openxmlformats.org/officeDocument/2006/relationships/slide" Target="/ppt/slides/slide20.xml" Id="R1d6617b60c9444df" /><Relationship Type="http://schemas.openxmlformats.org/officeDocument/2006/relationships/slide" Target="/ppt/slides/slide21.xml" Id="R82dbdde36d564d1b" /><Relationship Type="http://schemas.openxmlformats.org/officeDocument/2006/relationships/slide" Target="/ppt/slides/slide22.xml" Id="R14064de741a642ea" /><Relationship Type="http://schemas.openxmlformats.org/officeDocument/2006/relationships/slide" Target="/ppt/slides/slide23.xml" Id="R8b1b09cd39834a08" /><Relationship Type="http://schemas.openxmlformats.org/officeDocument/2006/relationships/slide" Target="/ppt/slides/slide24.xml" Id="R99bb5176e51940ac" /><Relationship Type="http://schemas.openxmlformats.org/officeDocument/2006/relationships/slide" Target="/ppt/slides/slide25.xml" Id="Rf0355a880dfd4c7d" /><Relationship Type="http://schemas.openxmlformats.org/officeDocument/2006/relationships/slide" Target="/ppt/slides/slide26.xml" Id="R2aa740a2a0014092" /><Relationship Type="http://schemas.openxmlformats.org/officeDocument/2006/relationships/slide" Target="/ppt/slides/slide27.xml" Id="R114f297dee7b4195" /><Relationship Type="http://schemas.openxmlformats.org/officeDocument/2006/relationships/slide" Target="/ppt/slides/slide28.xml" Id="Rdafec617ed504764" /><Relationship Type="http://schemas.openxmlformats.org/officeDocument/2006/relationships/slide" Target="/ppt/slides/slide29.xml" Id="Rcc28590e42c54e6d" /><Relationship Type="http://schemas.openxmlformats.org/officeDocument/2006/relationships/slide" Target="/ppt/slides/slide30.xml" Id="Rdc1bb81820f94454" /><Relationship Type="http://schemas.openxmlformats.org/officeDocument/2006/relationships/slide" Target="/ppt/slides/slide31.xml" Id="Rb850d54f18d34a60" /><Relationship Type="http://schemas.openxmlformats.org/officeDocument/2006/relationships/slide" Target="/ppt/slides/slide32.xml" Id="R16c31677c8f74445" /><Relationship Type="http://schemas.openxmlformats.org/officeDocument/2006/relationships/slide" Target="/ppt/slides/slide33.xml" Id="Re10ec7d804bd4290" /><Relationship Type="http://schemas.openxmlformats.org/officeDocument/2006/relationships/slide" Target="/ppt/slides/slide34.xml" Id="Rbd6baf0d11774689" /><Relationship Type="http://schemas.openxmlformats.org/officeDocument/2006/relationships/slide" Target="/ppt/slides/slide35.xml" Id="R6572a45ce4cc4d79" /><Relationship Type="http://schemas.openxmlformats.org/officeDocument/2006/relationships/slide" Target="/ppt/slides/slide36.xml" Id="Ra14db8fd057b48f6" /><Relationship Type="http://schemas.openxmlformats.org/officeDocument/2006/relationships/slide" Target="/ppt/slides/slide37.xml" Id="R1f28bb765cb34c33" /><Relationship Type="http://schemas.openxmlformats.org/officeDocument/2006/relationships/slide" Target="/ppt/slides/slide38.xml" Id="R37e44649c5944dfb" /><Relationship Type="http://schemas.openxmlformats.org/officeDocument/2006/relationships/slide" Target="/ppt/slides/slide39.xml" Id="Rd1e7e086cd9c4e5a" /><Relationship Type="http://schemas.openxmlformats.org/officeDocument/2006/relationships/slide" Target="/ppt/slides/slide40.xml" Id="Re0e3e80a3d7e4fea" /><Relationship Type="http://schemas.openxmlformats.org/officeDocument/2006/relationships/slide" Target="/ppt/slides/slide41.xml" Id="R902365562d864b2a" /><Relationship Type="http://schemas.openxmlformats.org/officeDocument/2006/relationships/slide" Target="/ppt/slides/slide42.xml" Id="R84504b152a764c05" /><Relationship Type="http://schemas.openxmlformats.org/officeDocument/2006/relationships/slide" Target="/ppt/slides/slide43.xml" Id="R02bf8d9739ff4e51" /><Relationship Type="http://schemas.openxmlformats.org/officeDocument/2006/relationships/slide" Target="/ppt/slides/slide44.xml" Id="Ra4467fa868844ac1" /><Relationship Type="http://schemas.openxmlformats.org/officeDocument/2006/relationships/slide" Target="/ppt/slides/slide45.xml" Id="R083ae87768c04498" /><Relationship Type="http://schemas.openxmlformats.org/officeDocument/2006/relationships/slide" Target="/ppt/slides/slide46.xml" Id="R5c895361f6d24435" /><Relationship Type="http://schemas.openxmlformats.org/officeDocument/2006/relationships/slide" Target="/ppt/slides/slide47.xml" Id="Rf610fcfe71ab4d10" /><Relationship Type="http://schemas.openxmlformats.org/officeDocument/2006/relationships/slide" Target="/ppt/slides/slide48.xml" Id="Ra2c0dc2d6a1e415b" /><Relationship Type="http://schemas.openxmlformats.org/officeDocument/2006/relationships/slide" Target="/ppt/slides/slide49.xml" Id="Rb0e45a777f1a4ec5" /><Relationship Type="http://schemas.openxmlformats.org/officeDocument/2006/relationships/slide" Target="/ppt/slides/slide50.xml" Id="R8d95c5745c4c4439" /><Relationship Type="http://schemas.openxmlformats.org/officeDocument/2006/relationships/slide" Target="/ppt/slides/slide51.xml" Id="R7bb043888cfe4968" /><Relationship Type="http://schemas.openxmlformats.org/officeDocument/2006/relationships/slide" Target="/ppt/slides/slide52.xml" Id="R20c28e00fd54480b" /><Relationship Type="http://schemas.openxmlformats.org/officeDocument/2006/relationships/slide" Target="/ppt/slides/slide53.xml" Id="R48b315b2cb2348ae" /><Relationship Type="http://schemas.openxmlformats.org/officeDocument/2006/relationships/slide" Target="/ppt/slides/slide54.xml" Id="R4dda965e14cb454d" /><Relationship Type="http://schemas.openxmlformats.org/officeDocument/2006/relationships/slide" Target="/ppt/slides/slide55.xml" Id="R5088965878b84022" /><Relationship Type="http://schemas.openxmlformats.org/officeDocument/2006/relationships/slide" Target="/ppt/slides/slide56.xml" Id="Rc913ea1031ed4418" /><Relationship Type="http://schemas.openxmlformats.org/officeDocument/2006/relationships/slide" Target="/ppt/slides/slide57.xml" Id="R66f3a7c4f14e42d3" /><Relationship Type="http://schemas.openxmlformats.org/officeDocument/2006/relationships/slide" Target="/ppt/slides/slide58.xml" Id="R41cec40db23a4f96" /><Relationship Type="http://schemas.openxmlformats.org/officeDocument/2006/relationships/slide" Target="/ppt/slides/slide59.xml" Id="R2b006c63c4814de6" /><Relationship Type="http://schemas.openxmlformats.org/officeDocument/2006/relationships/slide" Target="/ppt/slides/slide60.xml" Id="R9fc873deda654e8e" /><Relationship Type="http://schemas.openxmlformats.org/officeDocument/2006/relationships/slide" Target="/ppt/slides/slide61.xml" Id="Re078a7d9db4249b9" /><Relationship Type="http://schemas.openxmlformats.org/officeDocument/2006/relationships/slide" Target="/ppt/slides/slide62.xml" Id="R8aad23d1d2074f30" /><Relationship Type="http://schemas.openxmlformats.org/officeDocument/2006/relationships/slide" Target="/ppt/slides/slide63.xml" Id="R39a6dc60a0f845bc" /><Relationship Type="http://schemas.openxmlformats.org/officeDocument/2006/relationships/slide" Target="/ppt/slides/slide64.xml" Id="Rb248f6bd42624671" /><Relationship Type="http://schemas.openxmlformats.org/officeDocument/2006/relationships/slide" Target="/ppt/slides/slide65.xml" Id="R5932e14e099d44d1" /><Relationship Type="http://schemas.openxmlformats.org/officeDocument/2006/relationships/slide" Target="/ppt/slides/slide66.xml" Id="Rf41a6578f72044c0" /><Relationship Type="http://schemas.openxmlformats.org/officeDocument/2006/relationships/slide" Target="/ppt/slides/slide67.xml" Id="R64e23a8bb1b5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61131fb3a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2e7fd3302492d" /><Relationship Type="http://schemas.openxmlformats.org/officeDocument/2006/relationships/notesMaster" Target="/ppt/notesMasters/notesMaster1.xml" Id="R3ecc138fec3c43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202dcc515493d" /><Relationship Type="http://schemas.openxmlformats.org/officeDocument/2006/relationships/notesMaster" Target="/ppt/notesMasters/notesMaster1.xml" Id="R51bed7762f70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d73c008524f26" /><Relationship Type="http://schemas.openxmlformats.org/officeDocument/2006/relationships/notesMaster" Target="/ppt/notesMasters/notesMaster1.xml" Id="R1121df23a071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bdc0dff2549e8" /><Relationship Type="http://schemas.openxmlformats.org/officeDocument/2006/relationships/notesMaster" Target="/ppt/notesMasters/notesMaster1.xml" Id="Rbf23eb554f6a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d4cfb9a5eb4c75" /><Relationship Type="http://schemas.openxmlformats.org/officeDocument/2006/relationships/notesMaster" Target="/ppt/notesMasters/notesMaster1.xml" Id="Rd37850734864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d2875bfa3d423e" /><Relationship Type="http://schemas.openxmlformats.org/officeDocument/2006/relationships/notesMaster" Target="/ppt/notesMasters/notesMaster1.xml" Id="R5b7586eddc2f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003e343784b22" /><Relationship Type="http://schemas.openxmlformats.org/officeDocument/2006/relationships/notesMaster" Target="/ppt/notesMasters/notesMaster1.xml" Id="R1d9d5d47dd974d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d2e640fe8f48fd" /><Relationship Type="http://schemas.openxmlformats.org/officeDocument/2006/relationships/notesMaster" Target="/ppt/notesMasters/notesMaster1.xml" Id="Re9f77fa40c3743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9e1b5b20144e0" /><Relationship Type="http://schemas.openxmlformats.org/officeDocument/2006/relationships/notesMaster" Target="/ppt/notesMasters/notesMaster1.xml" Id="R0e9c5d058c25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5a853cb5604187" /><Relationship Type="http://schemas.openxmlformats.org/officeDocument/2006/relationships/notesMaster" Target="/ppt/notesMasters/notesMaster1.xml" Id="R331fd968cfce41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467e004f34fa7" /><Relationship Type="http://schemas.openxmlformats.org/officeDocument/2006/relationships/notesMaster" Target="/ppt/notesMasters/notesMaster1.xml" Id="Rbae603cebb2546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6bed7fe6a849bf" /><Relationship Type="http://schemas.openxmlformats.org/officeDocument/2006/relationships/notesMaster" Target="/ppt/notesMasters/notesMaster1.xml" Id="Rc42295b62caa48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ba9d435e524f12" /><Relationship Type="http://schemas.openxmlformats.org/officeDocument/2006/relationships/notesMaster" Target="/ppt/notesMasters/notesMaster1.xml" Id="R0438c3e775c242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0e9f1aa4d948c3" /><Relationship Type="http://schemas.openxmlformats.org/officeDocument/2006/relationships/notesMaster" Target="/ppt/notesMasters/notesMaster1.xml" Id="R7337512eb9514d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0e866f5d014d7c" /><Relationship Type="http://schemas.openxmlformats.org/officeDocument/2006/relationships/notesMaster" Target="/ppt/notesMasters/notesMaster1.xml" Id="R6ee9eafede4345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0ddeb1b81a4eb5" /><Relationship Type="http://schemas.openxmlformats.org/officeDocument/2006/relationships/notesMaster" Target="/ppt/notesMasters/notesMaster1.xml" Id="Rbe2b24bbd3ed4e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3661b23242435b" /><Relationship Type="http://schemas.openxmlformats.org/officeDocument/2006/relationships/notesMaster" Target="/ppt/notesMasters/notesMaster1.xml" Id="R29692c0d929b4c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f6a7d55b5f4e0b" /><Relationship Type="http://schemas.openxmlformats.org/officeDocument/2006/relationships/notesMaster" Target="/ppt/notesMasters/notesMaster1.xml" Id="Reb0ccbd0706a4a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089cf7f2d04632" /><Relationship Type="http://schemas.openxmlformats.org/officeDocument/2006/relationships/notesMaster" Target="/ppt/notesMasters/notesMaster1.xml" Id="Re68d6ce3e42c4c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fb9677fc314e17" /><Relationship Type="http://schemas.openxmlformats.org/officeDocument/2006/relationships/notesMaster" Target="/ppt/notesMasters/notesMaster1.xml" Id="Rb3a51731ab1c4a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b3c4ac3fb34686" /><Relationship Type="http://schemas.openxmlformats.org/officeDocument/2006/relationships/notesMaster" Target="/ppt/notesMasters/notesMaster1.xml" Id="Rb6456bab57b24b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e40caab8424602" /><Relationship Type="http://schemas.openxmlformats.org/officeDocument/2006/relationships/notesMaster" Target="/ppt/notesMasters/notesMaster1.xml" Id="R0bc52e78e59645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05d573c68445a1" /><Relationship Type="http://schemas.openxmlformats.org/officeDocument/2006/relationships/notesMaster" Target="/ppt/notesMasters/notesMaster1.xml" Id="R1041894fbc1646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05014311c248be" /><Relationship Type="http://schemas.openxmlformats.org/officeDocument/2006/relationships/notesMaster" Target="/ppt/notesMasters/notesMaster1.xml" Id="R3fed5e095c4d42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3c5ca79de246fa" /><Relationship Type="http://schemas.openxmlformats.org/officeDocument/2006/relationships/notesMaster" Target="/ppt/notesMasters/notesMaster1.xml" Id="R8df956d3cef244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e6986e6c9e4e24" /><Relationship Type="http://schemas.openxmlformats.org/officeDocument/2006/relationships/notesMaster" Target="/ppt/notesMasters/notesMaster1.xml" Id="R095fb1a4446342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ccf04787ef4302" /><Relationship Type="http://schemas.openxmlformats.org/officeDocument/2006/relationships/notesMaster" Target="/ppt/notesMasters/notesMaster1.xml" Id="R804bfab88c004a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2f1ea759744ee7" /><Relationship Type="http://schemas.openxmlformats.org/officeDocument/2006/relationships/notesMaster" Target="/ppt/notesMasters/notesMaster1.xml" Id="R8406c222ba1847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0588b96ca64adb" /><Relationship Type="http://schemas.openxmlformats.org/officeDocument/2006/relationships/notesMaster" Target="/ppt/notesMasters/notesMaster1.xml" Id="Rc17c188fea2045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c4fbdc2cbe4fb1" /><Relationship Type="http://schemas.openxmlformats.org/officeDocument/2006/relationships/notesMaster" Target="/ppt/notesMasters/notesMaster1.xml" Id="Rec9fa47dfc774c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c28b2b4e4b244c1" /><Relationship Type="http://schemas.openxmlformats.org/officeDocument/2006/relationships/notesMaster" Target="/ppt/notesMasters/notesMaster1.xml" Id="R415616eedf654a5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e92d725d014206" /><Relationship Type="http://schemas.openxmlformats.org/officeDocument/2006/relationships/notesMaster" Target="/ppt/notesMasters/notesMaster1.xml" Id="R85d1e3836bb542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9eb7cc3e4649b8" /><Relationship Type="http://schemas.openxmlformats.org/officeDocument/2006/relationships/notesMaster" Target="/ppt/notesMasters/notesMaster1.xml" Id="Rddfe4cd929d346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ea2027df6c64968" /><Relationship Type="http://schemas.openxmlformats.org/officeDocument/2006/relationships/notesMaster" Target="/ppt/notesMasters/notesMaster1.xml" Id="R4e966db908004cc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d8378b61a2477c" /><Relationship Type="http://schemas.openxmlformats.org/officeDocument/2006/relationships/notesMaster" Target="/ppt/notesMasters/notesMaster1.xml" Id="Reed307c2195f43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6f059a0774241a1" /><Relationship Type="http://schemas.openxmlformats.org/officeDocument/2006/relationships/notesMaster" Target="/ppt/notesMasters/notesMaster1.xml" Id="R517a3ce0511c44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ed83fc13144008" /><Relationship Type="http://schemas.openxmlformats.org/officeDocument/2006/relationships/notesMaster" Target="/ppt/notesMasters/notesMaster1.xml" Id="R4c659f88cbe346f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613985b44754fec" /><Relationship Type="http://schemas.openxmlformats.org/officeDocument/2006/relationships/notesMaster" Target="/ppt/notesMasters/notesMaster1.xml" Id="R21aa51d41c16486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ddc3f337e3a4717" /><Relationship Type="http://schemas.openxmlformats.org/officeDocument/2006/relationships/notesMaster" Target="/ppt/notesMasters/notesMaster1.xml" Id="Re93720f4fb0642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5539a86a7e148b7" /><Relationship Type="http://schemas.openxmlformats.org/officeDocument/2006/relationships/notesMaster" Target="/ppt/notesMasters/notesMaster1.xml" Id="R089fb0827383499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b36e734ddbe4b8e" /><Relationship Type="http://schemas.openxmlformats.org/officeDocument/2006/relationships/notesMaster" Target="/ppt/notesMasters/notesMaster1.xml" Id="R4c01c1c3b2ce4d5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46be723cceb4806" /><Relationship Type="http://schemas.openxmlformats.org/officeDocument/2006/relationships/notesMaster" Target="/ppt/notesMasters/notesMaster1.xml" Id="R6534dd049f2a42a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bb0d98350d84b4c" /><Relationship Type="http://schemas.openxmlformats.org/officeDocument/2006/relationships/notesMaster" Target="/ppt/notesMasters/notesMaster1.xml" Id="Raf70c2b22560497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f321234a9bd4d96" /><Relationship Type="http://schemas.openxmlformats.org/officeDocument/2006/relationships/notesMaster" Target="/ppt/notesMasters/notesMaster1.xml" Id="Read538c77e0f424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303c18d15da4de6" /><Relationship Type="http://schemas.openxmlformats.org/officeDocument/2006/relationships/notesMaster" Target="/ppt/notesMasters/notesMaster1.xml" Id="R9d5e258c5501490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0003a1554674e6e" /><Relationship Type="http://schemas.openxmlformats.org/officeDocument/2006/relationships/notesMaster" Target="/ppt/notesMasters/notesMaster1.xml" Id="Rbafb0168d33d4cb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ec872cb873046eb" /><Relationship Type="http://schemas.openxmlformats.org/officeDocument/2006/relationships/notesMaster" Target="/ppt/notesMasters/notesMaster1.xml" Id="R174d43b3fd48444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04b742c5674782" /><Relationship Type="http://schemas.openxmlformats.org/officeDocument/2006/relationships/notesMaster" Target="/ppt/notesMasters/notesMaster1.xml" Id="Rca7e7b888cee4a3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aa6f293d38f471a" /><Relationship Type="http://schemas.openxmlformats.org/officeDocument/2006/relationships/notesMaster" Target="/ppt/notesMasters/notesMaster1.xml" Id="R65fa5c9fde3f4e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ccfe20e0578409f" /><Relationship Type="http://schemas.openxmlformats.org/officeDocument/2006/relationships/notesMaster" Target="/ppt/notesMasters/notesMaster1.xml" Id="R9fa142c4286f4a4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55afacc453b4dfe" /><Relationship Type="http://schemas.openxmlformats.org/officeDocument/2006/relationships/notesMaster" Target="/ppt/notesMasters/notesMaster1.xml" Id="R7f68cc5671a445e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eb5219617df4323" /><Relationship Type="http://schemas.openxmlformats.org/officeDocument/2006/relationships/notesMaster" Target="/ppt/notesMasters/notesMaster1.xml" Id="R6a48b2070d6d40f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4104f8f816a4704" /><Relationship Type="http://schemas.openxmlformats.org/officeDocument/2006/relationships/notesMaster" Target="/ppt/notesMasters/notesMaster1.xml" Id="R9027921542ab4f2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32a272e02fe4228" /><Relationship Type="http://schemas.openxmlformats.org/officeDocument/2006/relationships/notesMaster" Target="/ppt/notesMasters/notesMaster1.xml" Id="Rdc687cd07aab4e5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329d7ba62bd4bce" /><Relationship Type="http://schemas.openxmlformats.org/officeDocument/2006/relationships/notesMaster" Target="/ppt/notesMasters/notesMaster1.xml" Id="R500ae958de15485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b5eb7b6d4b44da2" /><Relationship Type="http://schemas.openxmlformats.org/officeDocument/2006/relationships/notesMaster" Target="/ppt/notesMasters/notesMaster1.xml" Id="Re69d1582be2a4a8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24927756d6a4734" /><Relationship Type="http://schemas.openxmlformats.org/officeDocument/2006/relationships/notesMaster" Target="/ppt/notesMasters/notesMaster1.xml" Id="R68c1279f840141d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1d8ae35680049c4" /><Relationship Type="http://schemas.openxmlformats.org/officeDocument/2006/relationships/notesMaster" Target="/ppt/notesMasters/notesMaster1.xml" Id="R3a5224f87bbd449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6f657cf5e5e4a05" /><Relationship Type="http://schemas.openxmlformats.org/officeDocument/2006/relationships/notesMaster" Target="/ppt/notesMasters/notesMaster1.xml" Id="R915150dfc2b6477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ccb4810cfe34225" /><Relationship Type="http://schemas.openxmlformats.org/officeDocument/2006/relationships/notesMaster" Target="/ppt/notesMasters/notesMaster1.xml" Id="R70eb7179af6b4ad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835ba2c6b1b42e6" /><Relationship Type="http://schemas.openxmlformats.org/officeDocument/2006/relationships/notesMaster" Target="/ppt/notesMasters/notesMaster1.xml" Id="Raee3ca4b551e403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0e09e7b6fb249ab" /><Relationship Type="http://schemas.openxmlformats.org/officeDocument/2006/relationships/notesMaster" Target="/ppt/notesMasters/notesMaster1.xml" Id="Rd67d5ed1b5dd4d8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3a6ad8f664a4826" /><Relationship Type="http://schemas.openxmlformats.org/officeDocument/2006/relationships/notesMaster" Target="/ppt/notesMasters/notesMaster1.xml" Id="R72ad2c0979554bb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4f2246fde9a4f20" /><Relationship Type="http://schemas.openxmlformats.org/officeDocument/2006/relationships/notesMaster" Target="/ppt/notesMasters/notesMaster1.xml" Id="R2adf9b07f9584a2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dc9675fb0544f65" /><Relationship Type="http://schemas.openxmlformats.org/officeDocument/2006/relationships/notesMaster" Target="/ppt/notesMasters/notesMaster1.xml" Id="R1e5046b9c1ac4c4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c092738de9e4325" /><Relationship Type="http://schemas.openxmlformats.org/officeDocument/2006/relationships/notesMaster" Target="/ppt/notesMasters/notesMaster1.xml" Id="R597eba8d9b6b42c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f40ed377be444bf" /><Relationship Type="http://schemas.openxmlformats.org/officeDocument/2006/relationships/notesMaster" Target="/ppt/notesMasters/notesMaster1.xml" Id="Re8ca51d4c598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7a7f3b06e4c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547293f2442eb" /><Relationship Type="http://schemas.openxmlformats.org/officeDocument/2006/relationships/slideLayout" Target="/ppt/slideLayouts/slideLayout1.xml" Id="Re54e5a2fcbfc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4e5a2fcbfc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5aae184e144cd" /><Relationship Type="http://schemas.openxmlformats.org/officeDocument/2006/relationships/notesSlide" Target="/ppt/notesSlides/notesSlide1.xml" Id="Ra771606224f7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4dc0d64dc448f" /><Relationship Type="http://schemas.openxmlformats.org/officeDocument/2006/relationships/notesSlide" Target="/ppt/notesSlides/notesSlide2.xml" Id="Ra9241713f82d40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9d85e8ff548ef" /><Relationship Type="http://schemas.openxmlformats.org/officeDocument/2006/relationships/notesSlide" Target="/ppt/notesSlides/notesSlide3.xml" Id="Rf844b7eddd4e49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d94342574c8f" /><Relationship Type="http://schemas.openxmlformats.org/officeDocument/2006/relationships/notesSlide" Target="/ppt/notesSlides/notesSlide4.xml" Id="R13c14043ea47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cee5fe7504d6b" /><Relationship Type="http://schemas.openxmlformats.org/officeDocument/2006/relationships/notesSlide" Target="/ppt/notesSlides/notesSlide5.xml" Id="Rcace61199d90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3849073ba4a37" /><Relationship Type="http://schemas.openxmlformats.org/officeDocument/2006/relationships/chart" Target="/ppt/slides/charts/chart1.xml" Id="R1fc5fde373234c7a" /><Relationship Type="http://schemas.openxmlformats.org/officeDocument/2006/relationships/notesSlide" Target="/ppt/notesSlides/notesSlide6.xml" Id="R857a769f7f204d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474b7339a41a4" /><Relationship Type="http://schemas.openxmlformats.org/officeDocument/2006/relationships/chart" Target="/ppt/slides/charts/chart2.xml" Id="Rdf6fe736a491481b" /><Relationship Type="http://schemas.openxmlformats.org/officeDocument/2006/relationships/chart" Target="/ppt/slides/charts/chart3.xml" Id="R92232df460e14a67" /><Relationship Type="http://schemas.openxmlformats.org/officeDocument/2006/relationships/notesSlide" Target="/ppt/notesSlides/notesSlide7.xml" Id="Ref51e83bb0c7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acaa4845c4408" /><Relationship Type="http://schemas.openxmlformats.org/officeDocument/2006/relationships/chart" Target="/ppt/slides/charts/chart4.xml" Id="R58651d150d73420b" /><Relationship Type="http://schemas.openxmlformats.org/officeDocument/2006/relationships/notesSlide" Target="/ppt/notesSlides/notesSlide8.xml" Id="Rc93655d3975e40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38624c314829" /><Relationship Type="http://schemas.openxmlformats.org/officeDocument/2006/relationships/chart" Target="/ppt/slides/charts/chart5.xml" Id="Rda24b22060144ac7" /><Relationship Type="http://schemas.openxmlformats.org/officeDocument/2006/relationships/notesSlide" Target="/ppt/notesSlides/notesSlide9.xml" Id="R0520c7f1c88f46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5e8e561845f8" /><Relationship Type="http://schemas.openxmlformats.org/officeDocument/2006/relationships/notesSlide" Target="/ppt/notesSlides/notesSlide10.xml" Id="R940a87a5a5fb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6658e3df94be0" /><Relationship Type="http://schemas.openxmlformats.org/officeDocument/2006/relationships/notesSlide" Target="/ppt/notesSlides/notesSlide11.xml" Id="R780d539170c647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c9ab66cc4ff7" /><Relationship Type="http://schemas.openxmlformats.org/officeDocument/2006/relationships/chart" Target="/ppt/slides/charts/chart6.xml" Id="R59498f186e42420c" /><Relationship Type="http://schemas.openxmlformats.org/officeDocument/2006/relationships/notesSlide" Target="/ppt/notesSlides/notesSlide12.xml" Id="R30c8df5c44204c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c4ce133e14ee3" /><Relationship Type="http://schemas.openxmlformats.org/officeDocument/2006/relationships/chart" Target="/ppt/slides/charts/chart7.xml" Id="R856ab2059d374254" /><Relationship Type="http://schemas.openxmlformats.org/officeDocument/2006/relationships/notesSlide" Target="/ppt/notesSlides/notesSlide13.xml" Id="R90cab546dbaa4c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887b584fd43e6" /><Relationship Type="http://schemas.openxmlformats.org/officeDocument/2006/relationships/chart" Target="/ppt/slides/charts/chart8.xml" Id="Rebd6173e56584e7a" /><Relationship Type="http://schemas.openxmlformats.org/officeDocument/2006/relationships/notesSlide" Target="/ppt/notesSlides/notesSlide14.xml" Id="R89130a2124ba44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ce9dab594ebd" /><Relationship Type="http://schemas.openxmlformats.org/officeDocument/2006/relationships/chart" Target="/ppt/slides/charts/chart9.xml" Id="R1a2531355ce44b95" /><Relationship Type="http://schemas.openxmlformats.org/officeDocument/2006/relationships/notesSlide" Target="/ppt/notesSlides/notesSlide15.xml" Id="Re12118c911aa46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4bd555eff4e58" /><Relationship Type="http://schemas.openxmlformats.org/officeDocument/2006/relationships/notesSlide" Target="/ppt/notesSlides/notesSlide16.xml" Id="R1d42bdcd8e974e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09b4a69a447cc" /><Relationship Type="http://schemas.openxmlformats.org/officeDocument/2006/relationships/chart" Target="/ppt/slides/charts/chart10.xml" Id="R5ba6167293f04709" /><Relationship Type="http://schemas.openxmlformats.org/officeDocument/2006/relationships/notesSlide" Target="/ppt/notesSlides/notesSlide17.xml" Id="R9dfb40b03e2740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af9fe6e2b40c3" /><Relationship Type="http://schemas.openxmlformats.org/officeDocument/2006/relationships/notesSlide" Target="/ppt/notesSlides/notesSlide18.xml" Id="R499f2424e84740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b9ce25f4c498b" /><Relationship Type="http://schemas.openxmlformats.org/officeDocument/2006/relationships/notesSlide" Target="/ppt/notesSlides/notesSlide19.xml" Id="Rc768ecbb493948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af98e45784e1e" /><Relationship Type="http://schemas.openxmlformats.org/officeDocument/2006/relationships/notesSlide" Target="/ppt/notesSlides/notesSlide20.xml" Id="R62defad709184b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026c9cca4774" /><Relationship Type="http://schemas.openxmlformats.org/officeDocument/2006/relationships/notesSlide" Target="/ppt/notesSlides/notesSlide21.xml" Id="Rc8da3e21e00942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a2c5b9db24bf7" /><Relationship Type="http://schemas.openxmlformats.org/officeDocument/2006/relationships/notesSlide" Target="/ppt/notesSlides/notesSlide22.xml" Id="R20c20816a2784a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3ae61a7a43a3" /><Relationship Type="http://schemas.openxmlformats.org/officeDocument/2006/relationships/notesSlide" Target="/ppt/notesSlides/notesSlide23.xml" Id="Rdfdb5d2899624c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bfd94ab0a427c" /><Relationship Type="http://schemas.openxmlformats.org/officeDocument/2006/relationships/chart" Target="/ppt/slides/charts/chart11.xml" Id="R28b25ee5642d4483" /><Relationship Type="http://schemas.openxmlformats.org/officeDocument/2006/relationships/notesSlide" Target="/ppt/notesSlides/notesSlide24.xml" Id="R49ab15aa604642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d93290e5444f8" /><Relationship Type="http://schemas.openxmlformats.org/officeDocument/2006/relationships/notesSlide" Target="/ppt/notesSlides/notesSlide25.xml" Id="R08fe32d1bf4e48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5fec5d4b14aba" /><Relationship Type="http://schemas.openxmlformats.org/officeDocument/2006/relationships/notesSlide" Target="/ppt/notesSlides/notesSlide26.xml" Id="Rcd5bbda2d27645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18ea5322b4780" /><Relationship Type="http://schemas.openxmlformats.org/officeDocument/2006/relationships/notesSlide" Target="/ppt/notesSlides/notesSlide27.xml" Id="R86b81563d5db4b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40a4130774050" /><Relationship Type="http://schemas.openxmlformats.org/officeDocument/2006/relationships/notesSlide" Target="/ppt/notesSlides/notesSlide28.xml" Id="Rf5daa12ec39548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c9950db8f4b51" /><Relationship Type="http://schemas.openxmlformats.org/officeDocument/2006/relationships/notesSlide" Target="/ppt/notesSlides/notesSlide29.xml" Id="Rf793161003cf434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829a772914af4" /><Relationship Type="http://schemas.openxmlformats.org/officeDocument/2006/relationships/notesSlide" Target="/ppt/notesSlides/notesSlide30.xml" Id="R7dd7bd40071540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dc0272a54d62" /><Relationship Type="http://schemas.openxmlformats.org/officeDocument/2006/relationships/notesSlide" Target="/ppt/notesSlides/notesSlide31.xml" Id="Ra7a2ce3b1c6e46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3b3a32c334b86" /><Relationship Type="http://schemas.openxmlformats.org/officeDocument/2006/relationships/notesSlide" Target="/ppt/notesSlides/notesSlide32.xml" Id="R0f50b7052b53418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7878d66e9449e" /><Relationship Type="http://schemas.openxmlformats.org/officeDocument/2006/relationships/notesSlide" Target="/ppt/notesSlides/notesSlide33.xml" Id="Ra79cd5b044d54f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cfffde7e94f00" /><Relationship Type="http://schemas.openxmlformats.org/officeDocument/2006/relationships/notesSlide" Target="/ppt/notesSlides/notesSlide34.xml" Id="R865f63bdda5d4d7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685b06234ae5" /><Relationship Type="http://schemas.openxmlformats.org/officeDocument/2006/relationships/notesSlide" Target="/ppt/notesSlides/notesSlide35.xml" Id="R6883fee7d1bf4e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11a28f13e40bf" /><Relationship Type="http://schemas.openxmlformats.org/officeDocument/2006/relationships/notesSlide" Target="/ppt/notesSlides/notesSlide36.xml" Id="R464f03ff0d484f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ec9c56e534552" /><Relationship Type="http://schemas.openxmlformats.org/officeDocument/2006/relationships/notesSlide" Target="/ppt/notesSlides/notesSlide37.xml" Id="Re2e272de6e1140e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916269fdd4e3c" /><Relationship Type="http://schemas.openxmlformats.org/officeDocument/2006/relationships/notesSlide" Target="/ppt/notesSlides/notesSlide38.xml" Id="Rd852a7b543db4ca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0b3896e0248f5" /><Relationship Type="http://schemas.openxmlformats.org/officeDocument/2006/relationships/notesSlide" Target="/ppt/notesSlides/notesSlide39.xml" Id="Rf4a04fa5736348f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304b400b445dd" /><Relationship Type="http://schemas.openxmlformats.org/officeDocument/2006/relationships/notesSlide" Target="/ppt/notesSlides/notesSlide40.xml" Id="R83c53bb99da54b8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590b42c64ccc" /><Relationship Type="http://schemas.openxmlformats.org/officeDocument/2006/relationships/notesSlide" Target="/ppt/notesSlides/notesSlide41.xml" Id="Rd3b18d77093c440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518f01e44369" /><Relationship Type="http://schemas.openxmlformats.org/officeDocument/2006/relationships/notesSlide" Target="/ppt/notesSlides/notesSlide42.xml" Id="Rd5ff55fd642c4e4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e0cd4dce54972" /><Relationship Type="http://schemas.openxmlformats.org/officeDocument/2006/relationships/notesSlide" Target="/ppt/notesSlides/notesSlide43.xml" Id="Rd6d51227997449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94e3e428345f8" /><Relationship Type="http://schemas.openxmlformats.org/officeDocument/2006/relationships/notesSlide" Target="/ppt/notesSlides/notesSlide44.xml" Id="R271a9f104eca458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8c976603a4b3d" /><Relationship Type="http://schemas.openxmlformats.org/officeDocument/2006/relationships/notesSlide" Target="/ppt/notesSlides/notesSlide45.xml" Id="R3044ea84ca90404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324a1c5f41a2" /><Relationship Type="http://schemas.openxmlformats.org/officeDocument/2006/relationships/notesSlide" Target="/ppt/notesSlides/notesSlide46.xml" Id="Rf0fffada272742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9dba2cd0c40c2" /><Relationship Type="http://schemas.openxmlformats.org/officeDocument/2006/relationships/notesSlide" Target="/ppt/notesSlides/notesSlide47.xml" Id="Rb53351952fe74b7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3a6d64df1458f" /><Relationship Type="http://schemas.openxmlformats.org/officeDocument/2006/relationships/notesSlide" Target="/ppt/notesSlides/notesSlide48.xml" Id="R480f1ae60da442a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793429dca4c70" /><Relationship Type="http://schemas.openxmlformats.org/officeDocument/2006/relationships/notesSlide" Target="/ppt/notesSlides/notesSlide49.xml" Id="R89f8e1c52b5548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51ff2e3084e72" /><Relationship Type="http://schemas.openxmlformats.org/officeDocument/2006/relationships/notesSlide" Target="/ppt/notesSlides/notesSlide50.xml" Id="R6f38a1f50c1f4f5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85bcf51a9477d" /><Relationship Type="http://schemas.openxmlformats.org/officeDocument/2006/relationships/notesSlide" Target="/ppt/notesSlides/notesSlide51.xml" Id="Rfec297f8a9874c4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6bb552794882" /><Relationship Type="http://schemas.openxmlformats.org/officeDocument/2006/relationships/notesSlide" Target="/ppt/notesSlides/notesSlide52.xml" Id="Rf141292e1b7242a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b4ff7cde4098" /><Relationship Type="http://schemas.openxmlformats.org/officeDocument/2006/relationships/notesSlide" Target="/ppt/notesSlides/notesSlide53.xml" Id="Rf3f8a91a481640a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7f7280eb147a4" /><Relationship Type="http://schemas.openxmlformats.org/officeDocument/2006/relationships/notesSlide" Target="/ppt/notesSlides/notesSlide54.xml" Id="R329f0fd83edd4f3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24d2da51c485e" /><Relationship Type="http://schemas.openxmlformats.org/officeDocument/2006/relationships/notesSlide" Target="/ppt/notesSlides/notesSlide55.xml" Id="Rb3c6c2cb99ba4e1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485b14624585" /><Relationship Type="http://schemas.openxmlformats.org/officeDocument/2006/relationships/notesSlide" Target="/ppt/notesSlides/notesSlide56.xml" Id="Rc3539ee38afa4a1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c0846ef0140c7" /><Relationship Type="http://schemas.openxmlformats.org/officeDocument/2006/relationships/notesSlide" Target="/ppt/notesSlides/notesSlide57.xml" Id="R2fbc283f300e4f9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1e2b7af94d04" /><Relationship Type="http://schemas.openxmlformats.org/officeDocument/2006/relationships/notesSlide" Target="/ppt/notesSlides/notesSlide58.xml" Id="R523b2f5dcbe14be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3ef8d53bd4524" /><Relationship Type="http://schemas.openxmlformats.org/officeDocument/2006/relationships/notesSlide" Target="/ppt/notesSlides/notesSlide59.xml" Id="Rcfa8ba77b13b492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6c82c4c134a77" /><Relationship Type="http://schemas.openxmlformats.org/officeDocument/2006/relationships/notesSlide" Target="/ppt/notesSlides/notesSlide60.xml" Id="R49882cca20d546f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14549199e43d0" /><Relationship Type="http://schemas.openxmlformats.org/officeDocument/2006/relationships/notesSlide" Target="/ppt/notesSlides/notesSlide61.xml" Id="R7392c2a04a5948d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af7c510c24bfd" /><Relationship Type="http://schemas.openxmlformats.org/officeDocument/2006/relationships/notesSlide" Target="/ppt/notesSlides/notesSlide62.xml" Id="Raf6582e104ec4a5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42ecd6e143c9" /><Relationship Type="http://schemas.openxmlformats.org/officeDocument/2006/relationships/notesSlide" Target="/ppt/notesSlides/notesSlide63.xml" Id="R2808d28c0f8e445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89ed894a4a94" /><Relationship Type="http://schemas.openxmlformats.org/officeDocument/2006/relationships/notesSlide" Target="/ppt/notesSlides/notesSlide64.xml" Id="R0e9fc9e895c84a7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17a37a0074d2d" /><Relationship Type="http://schemas.openxmlformats.org/officeDocument/2006/relationships/notesSlide" Target="/ppt/notesSlides/notesSlide65.xml" Id="Rf026be72ab604b9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4c66126c84ce0" /><Relationship Type="http://schemas.openxmlformats.org/officeDocument/2006/relationships/notesSlide" Target="/ppt/notesSlides/notesSlide66.xml" Id="Rbc88c2ad4b6b47f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29e0e28e64c66" /><Relationship Type="http://schemas.openxmlformats.org/officeDocument/2006/relationships/notesSlide" Target="/ppt/notesSlides/notesSlide67.xml" Id="Rd174aeadfd6441d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rating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3.679</c:v>
              </c:pt>
              <c:pt idx="1">
                <c:v>4.346</c:v>
              </c:pt>
              <c:pt idx="2">
                <c:v>4.295</c:v>
              </c:pt>
              <c:pt idx="3">
                <c:v>4.857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 count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52</c:v>
              </c:pt>
              <c:pt idx="2">
                <c:v>78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Reviews / week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2.178</c:v>
              </c:pt>
              <c:pt idx="1">
                <c:v>4.044</c:v>
              </c:pt>
              <c:pt idx="2">
                <c:v>6.067</c:v>
              </c:pt>
              <c:pt idx="3">
                <c:v>1.089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5-star share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0\%</c:formatCode>
              <c:ptCount val="4"/>
              <c:pt idx="0">
                <c:v>57.14</c:v>
              </c:pt>
              <c:pt idx="1">
                <c:v>75</c:v>
              </c:pt>
              <c:pt idx="2">
                <c:v>69.23</c:v>
              </c:pt>
              <c:pt idx="3">
                <c:v>92.86</c:v>
              </c:pt>
            </c:numLit>
          </c:val>
        </c:ser>
        <c:ser>
          <c:idx val="1"/>
          <c:order val="1"/>
          <c:tx>
            <c:v>1–2-star share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0\%</c:formatCode>
              <c:ptCount val="4"/>
              <c:pt idx="0">
                <c:v>32.14</c:v>
              </c:pt>
              <c:pt idx="1">
                <c:v>13.46</c:v>
              </c:pt>
              <c:pt idx="2">
                <c:v>12.82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\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Historical</c:v>
          </c:tx>
          <c:spPr>
            <a:solidFill xmlns:a="http://schemas.openxmlformats.org/drawingml/2006/main">
              <a:srgbClr val="AAB6C2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4.661</c:v>
              </c:pt>
              <c:pt idx="1">
                <c:v>4.793</c:v>
              </c:pt>
              <c:pt idx="2">
                <c:v>4.723</c:v>
              </c:pt>
              <c:pt idx="3">
                <c:v>0</c:v>
              </c:pt>
            </c:numLit>
          </c:val>
        </c:ser>
        <c:ser>
          <c:idx val="1"/>
          <c:order val="1"/>
          <c:tx>
            <c:v>Previous 90d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3.912</c:v>
              </c:pt>
              <c:pt idx="1">
                <c:v>4.214</c:v>
              </c:pt>
              <c:pt idx="2">
                <c:v>4.789</c:v>
              </c:pt>
              <c:pt idx="3">
                <c:v>4.984</c:v>
              </c:pt>
            </c:numLit>
          </c:val>
        </c:ser>
        <c:ser>
          <c:idx val="2"/>
          <c:order val="2"/>
          <c:tx>
            <c:v>Recent 90d</c:v>
          </c:tx>
          <c:spPr>
            <a:solidFill xmlns:a="http://schemas.openxmlformats.org/drawingml/2006/main">
              <a:srgbClr val="16334F"/>
            </a:solidFill>
          </c:spPr>
          <c:dLbls/>
          <c:cat>
            <c:strLit>
              <c:ptCount val="4"/>
              <c:pt idx="0">
                <c:v>Al Assiel</c:v>
              </c:pt>
              <c:pt idx="1">
                <c:v>Olivenzweig</c:v>
              </c:pt>
              <c:pt idx="2">
                <c:v>Al Safa</c:v>
              </c:pt>
              <c:pt idx="3">
                <c:v>Beit Fayrouz</c:v>
              </c:pt>
            </c:strLit>
          </c:cat>
          <c:val>
            <c:numLit>
              <c:formatCode>General</c:formatCode>
              <c:ptCount val="4"/>
              <c:pt idx="0">
                <c:v>3.679</c:v>
              </c:pt>
              <c:pt idx="1">
                <c:v>4.346</c:v>
              </c:pt>
              <c:pt idx="2">
                <c:v>4.295</c:v>
              </c:pt>
              <c:pt idx="3">
                <c:v>4.857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Val val="1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4.375</c:v>
              </c:pt>
              <c:pt idx="1">
                <c:v>3.643</c:v>
              </c:pt>
              <c:pt idx="2">
                <c:v>4</c:v>
              </c:pt>
              <c:pt idx="3">
                <c:v>2.667</c:v>
              </c:pt>
              <c:pt idx="4">
                <c:v>4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3.731</c:v>
              </c:pt>
              <c:pt idx="1">
                <c:v>4.286</c:v>
              </c:pt>
              <c:pt idx="2">
                <c:v>3.769</c:v>
              </c:pt>
              <c:pt idx="3">
                <c:v>4.25</c:v>
              </c:pt>
              <c:pt idx="4">
                <c:v>4.875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4.821</c:v>
              </c:pt>
              <c:pt idx="1">
                <c:v>4.611</c:v>
              </c:pt>
              <c:pt idx="2">
                <c:v>4.636</c:v>
              </c:pt>
              <c:pt idx="3">
                <c:v>4.312</c:v>
              </c:pt>
              <c:pt idx="4">
                <c:v>4.071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5"/>
              <c:pt idx="0">
                <c:v>2026-04</c:v>
              </c:pt>
              <c:pt idx="1">
                <c:v>2026-05</c:v>
              </c:pt>
              <c:pt idx="2">
                <c:v>2026-06</c:v>
              </c:pt>
              <c:pt idx="3">
                <c:v>2026-07</c:v>
              </c:pt>
              <c:pt idx="4">
                <c:v>2026-08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4.955</c:v>
              </c:pt>
              <c:pt idx="2">
                <c:v>5</c:v>
              </c:pt>
              <c:pt idx="3">
                <c:v>4.6</c:v>
              </c:pt>
              <c:pt idx="4">
                <c:v>5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14</c:v>
              </c:pt>
              <c:pt idx="2">
                <c:v>9</c:v>
              </c:pt>
              <c:pt idx="3">
                <c:v>6</c:v>
              </c:pt>
              <c:pt idx="4">
                <c:v>15</c:v>
              </c:pt>
              <c:pt idx="5">
                <c:v>1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26</c:v>
              </c:pt>
              <c:pt idx="1">
                <c:v>35</c:v>
              </c:pt>
              <c:pt idx="2">
                <c:v>13</c:v>
              </c:pt>
              <c:pt idx="3">
                <c:v>24</c:v>
              </c:pt>
              <c:pt idx="4">
                <c:v>16</c:v>
              </c:pt>
              <c:pt idx="5">
                <c:v>1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18</c:v>
              </c:pt>
              <c:pt idx="2">
                <c:v>22</c:v>
              </c:pt>
              <c:pt idx="3">
                <c:v>32</c:v>
              </c:pt>
              <c:pt idx="4">
                <c:v>28</c:v>
              </c:pt>
              <c:pt idx="5">
                <c:v>2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39</c:v>
              </c:pt>
              <c:pt idx="1">
                <c:v>22</c:v>
              </c:pt>
              <c:pt idx="2">
                <c:v>2</c:v>
              </c:pt>
              <c:pt idx="3">
                <c:v>5</c:v>
              </c:pt>
              <c:pt idx="4">
                <c:v>7</c:v>
              </c:pt>
              <c:pt idx="5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12.5</c:v>
              </c:pt>
              <c:pt idx="1">
                <c:v>28.57</c:v>
              </c:pt>
              <c:pt idx="2">
                <c:v>22.22</c:v>
              </c:pt>
              <c:pt idx="3">
                <c:v>50</c:v>
              </c:pt>
              <c:pt idx="4">
                <c:v>26.67</c:v>
              </c:pt>
              <c:pt idx="5">
                <c:v>0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30.77</c:v>
              </c:pt>
              <c:pt idx="1">
                <c:v>14.29</c:v>
              </c:pt>
              <c:pt idx="2">
                <c:v>23.08</c:v>
              </c:pt>
              <c:pt idx="3">
                <c:v>16.67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5.56</c:v>
              </c:pt>
              <c:pt idx="2">
                <c:v>4.55</c:v>
              </c:pt>
              <c:pt idx="3">
                <c:v>12.5</c:v>
              </c:pt>
              <c:pt idx="4">
                <c:v>17.86</c:v>
              </c:pt>
              <c:pt idx="5">
                <c:v>0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Al Assiel</c:v>
          </c:tx>
          <c:spPr>
            <a:ln xmlns:a="http://schemas.openxmlformats.org/drawingml/2006/main" w="28575">
              <a:solidFill>
                <a:srgbClr val="D4A72C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1"/>
          <c:order val="1"/>
          <c:tx>
            <c:v>Olivenzweig</c:v>
          </c:tx>
          <c:spPr>
            <a:ln xmlns:a="http://schemas.openxmlformats.org/drawingml/2006/main" w="28575">
              <a:solidFill>
                <a:srgbClr val="1F9D8A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2"/>
          <c:order val="2"/>
          <c:tx>
            <c:v>Al Safa</c:v>
          </c:tx>
          <c:spPr>
            <a:ln xmlns:a="http://schemas.openxmlformats.org/drawingml/2006/main" w="28575">
              <a:solidFill>
                <a:srgbClr val="D95C5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ser>
          <c:idx val="3"/>
          <c:order val="3"/>
          <c:tx>
            <c:v>Beit Fayrouz</c:v>
          </c:tx>
          <c:spPr>
            <a:ln xmlns:a="http://schemas.openxmlformats.org/drawingml/2006/main" w="28575">
              <a:solidFill>
                <a:srgbClr val="5B8FF9"/>
              </a:solidFill>
              <a:prstDash val="solid"/>
            </a:ln>
          </c:spPr>
          <c:marker>
            <c:symbol val="none"/>
          </c:marker>
          <c:dLbls/>
          <c:cat>
            <c:strLit>
              <c:ptCount val="6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  <c:pt idx="4">
                <c:v>Aug</c:v>
              </c:pt>
              <c:pt idx="5">
                <c:v>Sep*</c:v>
              </c:pt>
            </c:strLit>
          </c:cat>
          <c:val>
            <c:numLit>
              <c:formatCode>General</c:formatCode>
              <c:ptCount val="6"/>
              <c:pt idx="0">
                <c:v>2.56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6"/>
              <c:pt idx="0">
                <c:v>Food</c:v>
              </c:pt>
              <c:pt idx="1">
                <c:v>Service</c:v>
              </c:pt>
              <c:pt idx="2">
                <c:v>Taste</c:v>
              </c:pt>
              <c:pt idx="3">
                <c:v>Price &amp; Value</c:v>
              </c:pt>
              <c:pt idx="4">
                <c:v>Waiting Time</c:v>
              </c:pt>
              <c:pt idx="5">
                <c:v>Drinks</c:v>
              </c:pt>
            </c:strLit>
          </c:cat>
          <c:val>
            <c:numLit>
              <c:formatCode>General</c:formatCode>
              <c:ptCount val="6"/>
              <c:pt idx="0">
                <c:v>10</c:v>
              </c:pt>
              <c:pt idx="1">
                <c:v>9</c:v>
              </c:pt>
              <c:pt idx="2">
                <c:v>6</c:v>
              </c:pt>
              <c:pt idx="3">
                <c:v>5</c:v>
              </c:pt>
              <c:pt idx="4">
                <c:v>3</c:v>
              </c:pt>
              <c:pt idx="5">
                <c:v>1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6"/>
              <c:pt idx="0">
                <c:v>Food</c:v>
              </c:pt>
              <c:pt idx="1">
                <c:v>Service</c:v>
              </c:pt>
              <c:pt idx="2">
                <c:v>Taste</c:v>
              </c:pt>
              <c:pt idx="3">
                <c:v>Price &amp; Value</c:v>
              </c:pt>
              <c:pt idx="4">
                <c:v>Waiting Time</c:v>
              </c:pt>
              <c:pt idx="5">
                <c:v>Drinks</c:v>
              </c:pt>
            </c:strLit>
          </c:cat>
          <c:val>
            <c:numLit>
              <c:formatCode>General</c:formatCode>
              <c:ptCount val="6"/>
              <c:pt idx="0">
                <c:v>9</c:v>
              </c:pt>
              <c:pt idx="1">
                <c:v>12</c:v>
              </c:pt>
              <c:pt idx="2">
                <c:v>5</c:v>
              </c:pt>
              <c:pt idx="3">
                <c:v>7</c:v>
              </c:pt>
              <c:pt idx="4">
                <c:v>13</c:v>
              </c:pt>
              <c:pt idx="5">
                <c:v>2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6"/>
              <c:pt idx="0">
                <c:v>Food</c:v>
              </c:pt>
              <c:pt idx="1">
                <c:v>Service</c:v>
              </c:pt>
              <c:pt idx="2">
                <c:v>Taste</c:v>
              </c:pt>
              <c:pt idx="3">
                <c:v>Price &amp; Value</c:v>
              </c:pt>
              <c:pt idx="4">
                <c:v>Waiting Time</c:v>
              </c:pt>
              <c:pt idx="5">
                <c:v>Drinks</c:v>
              </c:pt>
            </c:strLit>
          </c:cat>
          <c:val>
            <c:numLit>
              <c:formatCode>General</c:formatCode>
              <c:ptCount val="6"/>
              <c:pt idx="0">
                <c:v>6</c:v>
              </c:pt>
              <c:pt idx="1">
                <c:v>9</c:v>
              </c:pt>
              <c:pt idx="2">
                <c:v>2</c:v>
              </c:pt>
              <c:pt idx="3">
                <c:v>6</c:v>
              </c:pt>
              <c:pt idx="4">
                <c:v>1</c:v>
              </c:pt>
              <c:pt idx="5">
                <c:v>0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6"/>
              <c:pt idx="0">
                <c:v>Food</c:v>
              </c:pt>
              <c:pt idx="1">
                <c:v>Service</c:v>
              </c:pt>
              <c:pt idx="2">
                <c:v>Taste</c:v>
              </c:pt>
              <c:pt idx="3">
                <c:v>Price &amp; Value</c:v>
              </c:pt>
              <c:pt idx="4">
                <c:v>Waiting Time</c:v>
              </c:pt>
              <c:pt idx="5">
                <c:v>Drinks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Al Assiel</c:v>
          </c:tx>
          <c:spPr>
            <a:solidFill xmlns:a="http://schemas.openxmlformats.org/drawingml/2006/main">
              <a:srgbClr val="D4A72C"/>
            </a:solidFill>
          </c:spPr>
          <c:dLbls/>
          <c:cat>
            <c:strLit>
              <c:ptCount val="4"/>
              <c:pt idx="0">
                <c:v>Food +</c:v>
              </c:pt>
              <c:pt idx="1">
                <c:v>Food −</c:v>
              </c:pt>
              <c:pt idx="2">
                <c:v>Taste +</c:v>
              </c:pt>
              <c:pt idx="3">
                <c:v>Taste −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5</c:v>
              </c:pt>
              <c:pt idx="2">
                <c:v>13</c:v>
              </c:pt>
              <c:pt idx="3">
                <c:v>4</c:v>
              </c:pt>
            </c:numLit>
          </c:val>
        </c:ser>
        <c:ser>
          <c:idx val="1"/>
          <c:order val="1"/>
          <c:tx>
            <c:v>Olivenzweig</c:v>
          </c:tx>
          <c:spPr>
            <a:solidFill xmlns:a="http://schemas.openxmlformats.org/drawingml/2006/main">
              <a:srgbClr val="1F9D8A"/>
            </a:solidFill>
          </c:spPr>
          <c:dLbls/>
          <c:cat>
            <c:strLit>
              <c:ptCount val="4"/>
              <c:pt idx="0">
                <c:v>Food +</c:v>
              </c:pt>
              <c:pt idx="1">
                <c:v>Food −</c:v>
              </c:pt>
              <c:pt idx="2">
                <c:v>Taste +</c:v>
              </c:pt>
              <c:pt idx="3">
                <c:v>Taste −</c:v>
              </c:pt>
            </c:strLit>
          </c:cat>
          <c:val>
            <c:numLit>
              <c:formatCode>General</c:formatCode>
              <c:ptCount val="4"/>
              <c:pt idx="0">
                <c:v>20</c:v>
              </c:pt>
              <c:pt idx="1">
                <c:v>1</c:v>
              </c:pt>
              <c:pt idx="2">
                <c:v>15</c:v>
              </c:pt>
              <c:pt idx="3">
                <c:v>2</c:v>
              </c:pt>
            </c:numLit>
          </c:val>
        </c:ser>
        <c:ser>
          <c:idx val="2"/>
          <c:order val="2"/>
          <c:tx>
            <c:v>Al Safa</c:v>
          </c:tx>
          <c:spPr>
            <a:solidFill xmlns:a="http://schemas.openxmlformats.org/drawingml/2006/main">
              <a:srgbClr val="D95C59"/>
            </a:solidFill>
          </c:spPr>
          <c:dLbls/>
          <c:cat>
            <c:strLit>
              <c:ptCount val="4"/>
              <c:pt idx="0">
                <c:v>Food +</c:v>
              </c:pt>
              <c:pt idx="1">
                <c:v>Food −</c:v>
              </c:pt>
              <c:pt idx="2">
                <c:v>Taste +</c:v>
              </c:pt>
              <c:pt idx="3">
                <c:v>Taste −</c:v>
              </c:pt>
            </c:strLit>
          </c:cat>
          <c:val>
            <c:numLit>
              <c:formatCode>General</c:formatCode>
              <c:ptCount val="4"/>
              <c:pt idx="0">
                <c:v>24</c:v>
              </c:pt>
              <c:pt idx="1">
                <c:v>1</c:v>
              </c:pt>
              <c:pt idx="2">
                <c:v>23</c:v>
              </c:pt>
              <c:pt idx="3">
                <c:v>1</c:v>
              </c:pt>
            </c:numLit>
          </c:val>
        </c:ser>
        <c:ser>
          <c:idx val="3"/>
          <c:order val="3"/>
          <c:tx>
            <c:v>Beit Fayrouz</c:v>
          </c:tx>
          <c:spPr>
            <a:solidFill xmlns:a="http://schemas.openxmlformats.org/drawingml/2006/main">
              <a:srgbClr val="5B8FF9"/>
            </a:solidFill>
          </c:spPr>
          <c:dLbls/>
          <c:cat>
            <c:strLit>
              <c:ptCount val="4"/>
              <c:pt idx="0">
                <c:v>Food +</c:v>
              </c:pt>
              <c:pt idx="1">
                <c:v>Food −</c:v>
              </c:pt>
              <c:pt idx="2">
                <c:v>Taste +</c:v>
              </c:pt>
              <c:pt idx="3">
                <c:v>Taste −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0</c:v>
              </c:pt>
              <c:pt idx="2">
                <c:v>3</c:v>
              </c:pt>
              <c:pt idx="3">
                <c:v>0</c:v>
              </c:pt>
            </c:numLit>
          </c:val>
        </c:ser>
        <c:dLbls/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08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080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17080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F7067-3F8E-4894-B037-0DFFC0D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91A4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F0E8F-5EFA-455A-A6C7-D439751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0137B-CCE1-4FBB-AA6F-8D303A2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F6677-08DE-43AF-AA4A-2006F5BD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4A7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A72C"/>
                </a:solidFill>
                <a:latin typeface="Aptos"/>
                <a:ea typeface="Aptos"/>
                <a:cs typeface="Aptos"/>
              </a:rPr>
              <a:t>COMPETITIVE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87D0E-4DE3-4085-97D4-BB42857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Competitive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D025D-4309-4590-938A-45FC778B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Observed review performance • menu structure • field-research 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D4C46-08D3-44EB-9032-37A3EF2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049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AB649-D91E-4A8C-8AE1-CA05377E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33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F8F8-C325-4228-A63A-14CDA45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38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BC599-97B7-412D-9B61-2BE7BBD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1F9D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9C985-914F-47B1-869D-D019A7F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A2ABF-1489-4FAB-9713-D0C7986F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7E2E-A19D-4008-991E-32EACCAE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E0350-4DCA-434C-9032-05811DC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99C27-CD87-4A71-BC36-5EB6B8EA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B9E9D-B6DE-437F-8500-5CA69325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9525">
            <a:solidFill>
              <a:srgbClr val="5B8F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4CA5B-6FA0-4FA7-84C6-242636CD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D0406-18DA-4166-A6FE-71B516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0097C-91B2-41F8-94DA-1785A25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EB1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EB1C3"/>
                </a:solidFill>
                <a:latin typeface="Aptos"/>
                <a:ea typeface="Aptos"/>
                <a:cs typeface="Aptos"/>
              </a:rPr>
              <a:t>Common cutoff: 03 Sep 2026  |  Recent 90 days: 06 Jun–03 Sep 2026</a:t>
            </a:r>
          </a:p>
        </p:txBody>
      </p:sp>
    </p:spTree>
    <p:extLst>
      <p:ext uri="{BB962C8B-B14F-4D97-AF65-F5344CB8AC3E}">
        <p14:creationId xmlns:p14="http://schemas.microsoft.com/office/powerpoint/2010/main" val="839690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B521B-F0FD-4F9F-8CD4-0D02724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 — EXECUTIVE COMPETITIVE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A38AD-DEC3-4CA1-9763-1616CB13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What is compared—and what is not?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74BC2-CF6C-41A8-AC33-45C9C348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One cutoff, four formal restaurants, and an observed-evidence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7A201-AEDE-499D-A64F-802521F0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38FB9-62AC-46E5-B1FB-8FFFEEB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8DAF3-65C5-4838-AA6B-014B494D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Formal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E445C-4AF3-4317-B61D-A8DF4090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 · Olivenzweig · Al Safa · Beit Fayrouz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CD167-A3A8-4F9C-B17C-6969E004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E428-E06E-4B34-A3E0-48436FC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Common 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BE4F-97D7-4505-8A66-2F7ADDEA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03 Sep 2026; post-cutoff competitor reviews excluded from formal comparisons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0DBDC-C115-44F4-BE21-0B94C890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1075F-B930-4F05-B898-B927704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Core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18FD7-ABBE-4A14-B92A-00A3119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Recent 90 days: 06 Jun–03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07B59-FA36-42CC-A995-FBF85C0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87D34-9573-45F0-9C39-1816C3B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Evidence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009A7-17DD-4FB2-A01C-9AB1610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Counts, shares, sample sizes and low / medium / high evidence shown 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E0210-3FC6-4621-BF57-94CC91F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5FB9B-C01E-4418-A99E-B4F2D2B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F1F01-F1BB-45FF-858B-011B869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Observed comparison—not proof that one restaurant is universally 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1435C-66C2-41F7-A9F2-594F1DA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52BD2-4E15-4AAD-BB70-F1607B8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A03BE-AC81-4921-8E65-D7930A3A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Aleppo Rose remains outside the formal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FE0FF-B7BF-486E-ACBE-0DE421AD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3618D-1A40-4ED1-A6FA-611B183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5EBF5-A782-492A-9970-BD6B5EC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4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Source details →</a:t>
            </a:r>
          </a:p>
        </p:txBody>
      </p:sp>
    </p:spTree>
    <p:extLst>
      <p:ext uri="{BB962C8B-B14F-4D97-AF65-F5344CB8AC3E}">
        <p14:creationId xmlns:p14="http://schemas.microsoft.com/office/powerpoint/2010/main" val="2032514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DFD63-BDAB-4672-A987-3D05BFEA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 — EXECUTIVE COMPETITIVE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0CA2-6E2D-4543-A4CD-06FA047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recent market signal is uneven—not a single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26F5A-E270-4AFB-83EF-07062E2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During the common recent 90-day period, Al Assiel has the weakest rating and the highest low-score share in the formal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C1962-95DD-4310-B342-3B1536D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0CF16-568B-4D57-999E-872509A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99D44-EBF1-4DAD-B5EA-EA405DB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307A5-A77E-444E-8A45-2BFBEAA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13818-65F9-4BBC-AC54-FA7C186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DAF6A-2AF0-4546-904A-F1D82B6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3.68 / 32.1%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725FA-D643-4C66-ABC3-68BCBF69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rating / low-score share · n=28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5C284-306F-419B-A870-8CDC1AE6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FDEE2-7491-4CBF-BC44-0D1C52B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2CE0-83C4-48BB-A1CF-5361894A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EF45C-20A8-4F6C-922B-DD30F725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4.35 / 13.5%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0BCAD-3344-4ADC-824A-2A32D5B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rating / low-score share · n=52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93E70-E775-40FE-8290-D1B45C8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A71FF-5BF4-49FC-AD72-BCCEBD0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E818B-99DE-429D-A944-2E2BA46D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63403-78DD-49C5-833E-43D3C85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4.30 / 12.8%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D8B46-F84A-496D-B04C-8992600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rating / low-score share · n=78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8CDCC-06BB-4831-ABF1-0525236C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8E5B1-721F-45FD-B958-12C03C98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E800B-C0E1-4C44-9F90-7222251C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ADC8E-308D-43FE-902E-96C2D9C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574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4.86 / 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B23D2-CA9E-459D-AEE8-683324EE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n=14 · medium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BCC57-2934-489F-900F-E1A20086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085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9C082-918F-47D6-9993-B1C9F737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602B6-A0A9-4D98-9AC1-A61BF7B1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055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Management implication: treat Beit Fayrouz’s high observed rating cautiously because its recent sample is smaller. Al Assiel’s 9 low-score reviews in 90 days are a repeated signal, not a one-off.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E05FA-02F2-4793-BC05-2676CDE2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market’s owner-response behavior is also weak: all four recorded 0% responses in the common recent-90-day window.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300EC-F35D-4DAE-A495-7DAC943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03541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3430A-3E20-4CAB-8330-ADF745A9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 — EXECUTIVE COMPETITIVE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4E70F-C6A7-469E-ABF9-425F6D3A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Where does the observed evidence point to a leader?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5A405-CA0F-4F6D-BF51-CF47CE7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Only qualified samples are labelled; ties and insufficient evidence remain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1D337-20B6-4D4D-8D17-480F771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533BE-683B-469C-913C-DB6DB0F9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50FEF-7AB8-4E7C-916D-85436EDA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9AED2-973C-4C59-BCE4-04D704C3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4D587-7BDD-45FD-9D58-7FF727E2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1F97-48F0-487D-A2F4-DF4ED98D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573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 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2245D-C3E1-4596-B98E-AEC0C68E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46C08-FCB3-4020-8AEF-C6FBF7A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35C0A-3534-447C-87AD-007C26DE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023D-9169-4983-AD05-AB886E97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573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01D7F-502B-41B9-A08D-00380CE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A0E9B-8B69-44A1-B317-2794EF22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Recent rating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C9741-66CD-4C6D-8FF2-A6ABEC08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071DA-6670-4BC9-9419-56BD1A0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38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12494-60A2-48DD-AAD9-F4B5D88B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4F3A8-6584-4BB8-8FF4-685CF971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8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CA866-F570-4851-8439-6E03AADA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576EE-8801-40A5-ACC9-EF38420F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n=14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E949D-C900-4F9E-92FB-2D268C99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0D746-A53B-482E-B12F-7573DFF8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Recent review volume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B1940-786A-4EB1-A12F-95A4535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62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A47DA-C410-4941-BD74-435045ED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9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19E21-ACDC-413B-9BD2-8B349D2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FB881-89FD-47CC-8878-95C51CF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9250F-1560-40EA-9EDB-6D401DE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62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F2064-0537-4734-926A-11DC4E0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90-day reviews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A55E0-0961-410F-9508-55DD9AEE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BD014B-E2BF-44D0-B2EC-CEA82D54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Lowest low-score share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8CE88-5023-4555-944E-A6B9645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7D121-EB17-4362-B384-3EAB0242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81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998AC-5BF6-4A4E-91E6-A60BFF6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76F349-4217-4C66-BB94-83602CF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75794-AE8F-447A-BB2D-B74DA0F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F66FAD-112A-4B2F-8B59-1FC1A85F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n=14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0BCCE9-E299-4F13-B066-AD5FB05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CA343-311C-4C3D-B8EE-501871C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 positive sentiment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47B8A-3B9B-4B24-9419-2B53D757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9871E2-62D9-4043-9F52-6B4A043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2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9EF559-4244-4DB9-80C8-BFCD941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2401E9-E959-462A-A520-EF649A4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52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87.0%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86808E-2510-43A1-91BC-56B0036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CE3F00-ADD4-492F-9FC5-1C2F5BAF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mentions=23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06E31-1E2E-40A4-9823-DCF792AD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13ED52-AA90-487F-8F96-3CD1EEA1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 positive sentiment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A2FC2A-048D-4F3C-8FF9-623D3A5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16229B-406D-4C2D-BD7C-36A5A77E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243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D44692-0DB1-491C-9F45-9D335D9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5EB3F0-02BB-428A-97A7-3331E58E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243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78.6%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B9C51-198A-4ED4-91E7-ED08D99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FDC1CE-B0B1-4BE1-BDA6-44C8282D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243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mentions=28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D2A812-5043-4280-8E8A-DC380B32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D00076-96F8-4957-B1E1-CE0D879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31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Owner response 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4574D1-C5A3-4A34-B680-3EBF572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482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1BBDCA-C66C-43D1-8DA9-7938452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958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4FD704-3AD5-4F0F-A0F1-25BB9CF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482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CB3E53-396C-4AC4-A06A-E84E55E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1981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unique leader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844799-99EB-4C13-BE67-79F0D992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3DB60A-BFF1-4DB4-B319-E0F2962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95875"/>
            <a:ext cx="274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0% for all four in recent 90d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DB8FD5-850B-4D26-9D1D-ED715F2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601821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02A59-8F0E-46D7-9BEF-90F03CB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2 — RECENT 90-DAY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49C48-89ED-46C4-AAD8-BCD5C30F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90-day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8A7F5-5EFA-4F6C-9EFF-35375D50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06 Jun–03 Sep 2026 · common boundaries for every restaurant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A2A41-A386-47A4-8B0C-724C05C5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2460-EC28-4CF8-825D-7B4851ED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65E25-2D1D-438A-8064-B90CF0BA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42FDB-764A-4870-A8F1-61B5763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07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6A47-3BCF-4F22-AAE5-000E93E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240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9535A-30FD-46B8-9E08-9436C101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90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F664D-63B3-4AE1-8ECA-605DD1EA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24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1006B-C714-4B8C-9190-46BDDC9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907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 week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F6414-3A55-4F7E-A7D0-7EBBDEB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24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034FB-1A2D-4A6E-8FEC-11B6BE9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907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EDC36-C546-4A8C-B5ED-F7EEBAB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3871E-99A7-4817-8AE8-1D60C11B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5-star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E1A35-C22B-40CF-B974-299C1B6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8F7A5-156C-4851-AA58-E61B5E1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 star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20F78-848A-495A-B18A-9706C49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240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C4058-5F52-4B57-B1E9-6F95F44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907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Written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65C5E-36A7-4C58-B316-E83CDCD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C0B19-DF0A-45A1-95D4-F6B7E9D0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907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72226-A24E-42E1-9B92-EF197098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6ADF3-2190-4F43-8529-5B2C5C6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20E2F-13BB-4FF1-9855-D44D043A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124C5-5E2D-439E-87F2-EE1033EA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2F6BB-7BFD-4430-BCF1-14B7FB37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241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7ABDD-0B92-428A-81C6-8D7E2B78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717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3E077-35E3-4591-A84C-575C3D9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241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9AAB0-C888-458D-AB89-3349693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717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9FE22-1EFB-42CC-91B1-9777CDAA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C8D4D-E52C-4C1D-A0BB-56CDAA3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B2D69-222C-4B98-B3E5-634E041C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241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DFF41-8356-4EB4-A1AA-AEC97A9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717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57.1%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64E920-05C9-4E54-BE97-BA7E555B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167182-338D-4FA0-9923-80F360AC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717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02630-2A5C-4AEA-8295-2818CC5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241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3394E6-0316-4477-9B3F-DCBD01A1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717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44161-20B9-4A66-B21B-53833F94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36683-0BBC-4B4B-9EA7-22DB813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717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C7AB09-BBFC-456A-A533-1B12FF2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241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295001-A155-43EE-A870-83BF236A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717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60A0FE-3499-432A-9062-0A305ED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57CE86-BC0F-491E-8385-88883D0D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9F9B02-90E1-4709-94DE-6B8A8DE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B3837B-6983-43CE-97E1-865A5B6C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813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6DE0FD-C0DF-42E3-BA9F-3708B8D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337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F437F2-4C9F-4CE8-9579-B2964573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813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16F022-3DE0-486E-AA57-37DAA5A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337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5481B9-33AA-4C22-B763-2FB35B0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813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75D0E1-1C83-43FB-BF50-04E0847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337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740FDE-5FAE-4904-A730-0BF8BCD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813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75.0%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9A8D74-08D0-4CE6-ACD9-7443718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905DFC-25CF-48D4-9134-B771B6B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AB44CA-6CB0-49AB-96D3-6AF18C6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337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EB900E-A20E-447D-800E-3A7E0B9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813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26D9EF-BE0E-4640-BB18-5534C2AC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4FBCAB-D101-43C0-B359-039CEC75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38E26F-FED5-4510-AB90-88AAEF9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337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5A2497-ACE1-479C-8997-17A938E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F1ED1F-820A-4F29-84C5-55E85DD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5311B9-F033-4381-936A-DE8EADE3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9FCA94-A528-42BF-90DA-E48ABB56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433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9703E5-27CC-42CB-BAEE-30D1EAC2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909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84DF57-7F92-484E-BFCA-39D04D54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433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9A2AA3-4455-4209-9F89-39EA5937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09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6.1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BAD7D7-5FB6-4EE0-AC94-3964EA0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433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3923F6-580B-491F-B9FA-DF7869F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909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DAC064-9F4C-4B68-8EAF-092C164E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AD3B06-BE7D-4E90-83A8-375A512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909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69.2%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9344F5-8809-41A9-BB57-888E289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32CB40-C472-43D9-A313-3C0DBDB3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12.8%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81EC56-FB39-4EF9-9E04-BF7DC06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433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893465-1F0D-4AA5-B2FC-42C29603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909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591A43-454E-44E4-9027-32E05F85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2C67E1-D026-49E7-9B48-2287548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09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DED23D-C962-4F7B-BB60-9439333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433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C55CEC-43F2-4342-B0A9-C99641C5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909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FCAFE1-CE3E-419E-B913-331E01D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56E5B4-D04A-479C-A286-855A4D0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1838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844D825-142B-45AA-B594-2540436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5290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8A4EAB-8938-4DC1-B4DD-73F24F2D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00525"/>
            <a:ext cx="647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963654-35B7-4B06-ABF3-D9C36CF0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529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398918-D935-42A6-A291-824765F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005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A309E5-3A68-4E94-BA5C-AFC3833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529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FC83B0-A674-4BFA-9971-74F53561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00525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31C8E0-B89F-4C63-8C0F-B806F3BA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529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97E622-D5E0-405F-A0D0-A58634CB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005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92.9%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7F08E7-DA6E-48DB-8110-D9F959C7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DE7F4E-CD02-4EC3-AF29-260BB0A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00525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23D85F-BA53-43DE-948C-91653CA8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52900"/>
            <a:ext cx="100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299554-BFC7-416C-A4AD-CB069805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00525"/>
            <a:ext cx="88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80E608-F0BF-487B-8A63-911A1230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C8B863-8CAA-433A-AFFE-08675D9E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00525"/>
            <a:ext cx="117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79DE8F-9102-48C3-A256-B917DBF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529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558BA9-5FD7-46A7-A721-0CA9B03E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00525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C6256F-F436-4F11-AD26-787F59F0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E68806-4FE9-4795-A824-6BD4B729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B18C6D-75B9-45AD-9006-E222EC2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 the rating together with n and the low-score share. Beit Fayrouz: n=14 (medium); the other three recent samples are high evidence.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30DF53-CF8A-4FC6-808E-7ADD4A7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724091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FC7DD-03B7-46A6-BB22-AA67B06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2 — RECENT 90-DAY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63DE-7B5F-47E3-842B-A586750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Observed rating: Al Assiel trails the recent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0A39F-D40E-45E5-87C9-8497845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Average Google review rating · 06 Jun–03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E6925-31B6-4345-8D8E-4167EEF5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05674-C501-40B8-8937-FA6948C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0A068-1106-4BA1-A0FE-182219B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A3BE9-4E7E-4BF4-B8AA-741F84B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AD800-72BB-477B-AA12-ACBB90D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AA8B4-1B80-47BC-B9E9-BD8290E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E91FC-3AD4-4E17-87A0-1613FCB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A6056-EA77-40BF-995D-01FEB29C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9556D-BC84-43D7-A115-D03763C0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76EE5-D6C5-475B-9F73-21233982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047750" y="2038350"/>
          <a:ext xmlns:a="http://schemas.openxmlformats.org/drawingml/2006/main" cx="962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5fde373234c7a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48400-E321-4AAC-B34E-B34CFA4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42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F0B6D-6B0B-4C16-97F3-6542B6E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1308-1ADA-48A9-8806-BF5EE813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912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3.68 from 28 reviews. Beit Fayrouz’s 4.86 is based on only 14 reviews and needs caution.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7CCF-D1FB-481D-B49C-FECD866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448683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F3B45-AFD2-472C-982B-20671D7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2 — RECENT 90-DAY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9E4BB-4DE3-43D1-B7A6-15D0228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has the strongest recent review cadence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F3648-45E1-4FB6-9508-0384D93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Review volume and reviews per week · 06 Jun–03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15DA8-DA3C-4D01-B96D-97E74A2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6C30-6B2A-4617-90FF-489A39E3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" y="186690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6fe736a491481b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705600" y="1866900"/>
          <a:ext xmlns:a="http://schemas.openxmlformats.org/drawingml/2006/main" cx="4857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232df460e14a6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163DE-C151-4EC1-98A2-7B3579D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78 reviews · 6.1/week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E4F72-DEFB-4F83-B0E6-B19A96F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140297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9A854-1314-4B77-95A6-FD2159CA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2 — RECENT 90-DAY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A5473-56BF-4E0A-93DA-D201E028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risk is concentrated in Al Assiel’s low-score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8DB74-34C7-4276-94B9-06D983A3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5-star and 1–2-star shares · counts are shown in the labels below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A79FF-F7B2-496B-AFE3-C51C52EB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CC49-B898-44EB-934F-C19253D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95350" y="1924050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651d150d73420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28367-E388-4035-85D5-89EF2531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Assiel: 16 five-star / 9 low-score   •   Olivenzweig: 39 five-star / 7 low-score   •   Al Safa: 54 five-star / 10 low-score   •   Beit Fayrouz: 13 five-star / 0 low-score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396E3-1123-4830-8EE8-8411980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883330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75C00-39CE-4346-A72A-3A1090A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2 — RECENT 90-DAY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7DA13-F1FC-4A9F-BCF1-B0388658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ratings diverge from prior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899BA-BBD4-4EF5-B89A-5400BFA4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90-day rating compared with previous 90 days and historical reviews through 07 Mar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2179D-198E-423E-8A24-9262E3FA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E7CC-8A59-45B5-9076-952BE05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8859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24b22060144ac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06C1-2F05-43BF-ADCE-79DBCE7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47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6EF26-BD12-4E26-AB24-077BD90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D994A-D525-40C4-88C3-51FF2DC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3.91 → 3.68. Al Safa: 4.79 → 4.30. Olivenzweig improved to 4.35. Beit Fayrouz has no historical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206D9-FAA3-43ED-B1A6-289C3302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051976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0B44A-79F0-4DB8-A672-D81BF69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3 — LATEST 30-DAY 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B1C5E-8AEE-496E-9E46-08F2806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Latest 30 days: Al Assiel improves slightly, but remains exposed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A37A-673D-40C3-A0E8-F0BD365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05 Aug–03 Sep 2026 compared with 06 Jul–04 Aug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AD28C-2897-4970-8AC9-018C4FFD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F8102-9436-47E1-B2D1-D39C354E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8B357-18B5-49E3-A695-F73EB34D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7EE1B-132D-4F91-BB81-DCF3C0D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04397-7FE9-4C74-ABF5-A96F09CA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240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37CB1-D3E7-4347-8B51-58CBCBA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90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A02C6-7480-48D1-868A-DF7CC309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F1094-CCA8-4978-B887-681D312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FD874-37FA-497C-AE95-0B15412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EB09B-4C1D-4A24-8C6D-807C7A0A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907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 prior 30d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93591-9F6C-4903-982F-7937EBD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08841-95FC-4338-9D77-8DA008A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5-star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D3C41-6927-49AE-BE1B-201A7C92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58F3F-0D6A-4726-9354-CE993E3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907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 star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76DF2-68AF-4DAE-87F6-5B6BE9B8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5BC92-9EF7-4F56-814E-4754A6A1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48F40-11DF-4F26-8E0E-DA3A8DDF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240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A237E-A695-48BF-9D1D-C576262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9072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619F8-4DB9-44E7-84E1-4F3FBC64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7C333-EAE3-407D-8626-96E8709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6E980-8FD5-4BE4-A16B-A61AE72D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241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D6483-6825-43CD-BA22-36D8091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7172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EFD77-56E3-447A-8BE2-912D035F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17472-A350-4F8A-857C-62C78BC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717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3.93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90314-54A5-4E0E-9B89-5F84940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0042F-8DD7-4144-9CFF-D18FBF0D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7172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D30E4-4879-4ED9-AD83-727CA85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241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BCD13-E01F-43D3-AC96-12F6F4CA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717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57.1%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5B8B6-B1D9-4D2D-96ED-B115C433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241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02ABAD-A75D-4197-A138-C2B78A8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717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28.6% (4)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A71DE-5ED8-430F-AEC3-CC9E76C8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C9D24-2560-4889-A003-D75F1F50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192397-DD72-439E-B092-E665CF5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2410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E2CF34-9711-4F14-A888-1CE0ACCF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37172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61B65F-2F39-4E38-933D-00F7D4C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10D4E5-B4EF-4F5C-8FFB-B00837F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D82E33-FAC8-43BC-8ACB-014D17E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A1A02D-42F3-479B-B194-930BCA9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6227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B28530-66EB-4339-AB0B-535C5DD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146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EB561E-42D3-43AE-83CE-B3DE5A4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622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2F4953-8CFF-4461-BB6D-6F0CDC55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D9EFAF-F70A-4486-9331-346A8EC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6227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+0.69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CAC8AB-790D-4CEF-8414-2C3573A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D4AAE3-EBDD-4761-9B81-B00346A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622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93.3%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4FF241-A1BC-47C6-80D1-82BC1258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146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B396EF-79F4-450A-8EF0-B8797974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622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 (0)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08EF18-250A-4202-8C5A-6C016C06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146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BD0EE-2EC4-4822-BE03-637C48C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E8D9B2-B6DB-4E2D-8622-33D2C243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1465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360260-5683-4B61-B793-6A2E2809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6227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E8444F-BE10-40E8-AFF4-9BA4ED0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EED207-71B4-4C67-925C-4EAF51F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068A40-8791-41CE-A182-90ABB061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052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078640-24DA-46F2-85EC-F52448D6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5282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0B3EA-475E-40A9-AA56-390DD7D6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052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052836-D6D5-4C25-BF23-2918E6A0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528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D107A0-7374-443D-8636-AF4D9AF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56101B-75E7-45CF-AFE0-29D4142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5282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67611C-D0F2-4167-BE28-E903244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052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B9D4F5-5497-4F53-988B-CE8B951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5528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70.4%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745605-386A-4E48-B260-9582BB8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9A6859-77CC-4541-9FC8-1302C57E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528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14.8% (4)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BE18A7-9D14-4D8A-B37E-D4460FCA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052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3722FD-ABF3-4A4E-85D2-A1E1DA67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5EFED6-9B0B-46EC-A9C9-F502725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50520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D5E86A-9701-491C-A240-BE7262B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5282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22DAC0-4857-4466-AD95-BACBC0E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C5997A-C8BB-45BC-B141-5D23FAA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124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A17133-9440-4DE9-9216-0C00292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957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276C20-E7DD-4616-BC5C-A7EE9C8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43375"/>
            <a:ext cx="647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B47BF0-FC22-4513-ADD8-FA45633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755C9E-B6F5-49C5-9553-119A99E9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433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EF6856-FF8E-422A-B788-0C5C15C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7604E4-6FE6-4DA4-882C-ADD2559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5BACC6-522C-439A-B6AC-96BAF8F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B3A3E0-DF6A-4048-ACA2-2405B6F2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D543D2-B28E-4004-AD90-936C640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7F8412-FB4C-4362-AB2E-3076DBC8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433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 (0)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E2C848-F2B5-42A1-BE98-B4BD9428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957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5FEEE5-E2AF-4E2B-85CB-091007C9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AD51F6-5DD1-4261-A1D9-C2E9E03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09575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24CF63-A9FA-4904-B930-AF13E7B7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143375"/>
            <a:ext cx="1076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8CAC374-9387-463E-89E4-6DD29667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0A5488-6DE2-4EDD-911D-2ECBF31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F6716D5-BA13-41A9-940A-58F2F20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 latest 30d: n=4, low evidence. Do not treat 5.00 as a strong comparative conclusion.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84B137-B9F9-4D81-9D01-2E8B9006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74521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04EC7-BC02-4029-9BC2-978D274F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3 — LATEST 30-DAY 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FCA8E-565C-4A6F-9A59-4E7F8A3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Latest 30-day topics: the written sample is thin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71B35-7D5A-476D-AF76-1EEC992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Positive / negative counts for Food, Service, Taste and Price &amp; Value; interpret counts before percentages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2CD5-B7C6-489E-8FA1-EBB7425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36C18-BDE8-438F-A57F-F2D4504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2F19-C0F5-41E9-A3CF-AB1B7A5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F8D97-7641-45CA-BCF8-D4BF3EE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62705-F4B4-45F1-9238-B0F0AC1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4560E-EEF0-4272-96DB-49E7D32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764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20514-F9FF-45A7-B2AE-25AE0F8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127D6-35C0-44C8-A95C-A4EEBFE2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D3C35-5C19-475E-BF51-48950061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99A39-C03E-4AD3-90BE-A541EAC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A7A84-8988-4144-90C0-11D8EE6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8BE56-DE96-4D8A-95C4-2B2EE644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A8430-B17C-42FE-93F0-0E266220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6A956-145C-4318-8661-0C823050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D6483-5E37-4D14-BD78-9F1FF62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29E60-AC5B-4883-AA4B-7717901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10E87-AA9C-4A02-8935-8F1A08DB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82444-79CE-4D9D-A5FF-820E3ACB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574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9E819-5865-45D7-AE46-36D1BA39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C42B3-F529-4A9F-B70F-18F7DDA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2747D-7280-4A64-AC34-0404DAF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DFC08-9D3D-48F7-897F-F12C29DD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2E7A6-F890-48ED-BC1E-B9EFD47E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78635-6581-4EB1-9676-1CBC955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574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312E8-B5BB-4052-9D88-4C33B0D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09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18294-EACF-452A-A2E1-2C1DDAC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57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973D0-6336-4363-913A-8AC1F6A6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01548-F4BB-49A2-AE11-F5E1E5F4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7E22C-51A4-4E6C-94FC-5306E2D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CCE96-006A-4AF3-BEFB-D817C58F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765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065F22-4CE7-4EFA-916B-24309586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3A5E84-3677-457F-99B1-607261E5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9EF1E8-E49E-4534-9150-F6DC495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13ABDB-A19B-4EF0-BB95-92B77E62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AB36DD-29C8-4661-98E6-014F0F3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289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88CC5-1667-427F-99F3-3ACA3FB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76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7802E-19DE-4DBD-BA33-A4553FD8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28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97775C-337D-4D7A-B3A1-618F354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76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DF2C5B-7DC2-4F71-BBE6-F5680E54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DE84F3-D39D-49D0-B7AB-3C9A983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BB5E37-35BA-4D29-B164-57277B9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70C2EB-69B9-4E6A-9178-E061B52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37824-2D42-45ED-A40F-14B24B2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DF0A78-7CC1-483C-B8E1-334AD01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1CAABA-D094-4221-A375-7D433BE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E8157C-FBE3-4221-8DEA-6F446DE9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D8FD13-D090-427C-95D8-66A3FAC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F0D1B3-75EE-4871-8B70-A26432E8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B6B2B3-FFE4-4ACE-A5AC-A1B538F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B056E2-776A-4B1E-8C94-875B9E8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956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4C216D-E310-4469-8C66-74122DB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2F90A7-67FA-4064-A17C-65EDC93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4F9BE3-3435-477E-B004-40167ACA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4FB220-7AB6-4D4B-A353-E0AE50F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147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30B445-344A-49EE-804E-D1F3D51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AE6A42-51D1-40FB-AD2A-D6EA1C6B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D36EBD-8C00-4E0D-9E6B-D883DD0B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F6CE9F-D7F6-4186-A64B-876C017A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5373BC-B95B-4C77-8CF8-4B64873E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67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4E2C7A-9EAB-4552-B029-C2F433F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147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04C307-79F9-43B4-95BD-65B83EFE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67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C3EE0A-6580-4A5F-9D59-8EEBD0DC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5147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753AEA-32A7-4D56-842A-DD68E32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DB0A7E-D730-4020-9AAD-AD8711AC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02F164-F897-496C-8CDD-4951C84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303098-111B-49D2-9C02-36AA94D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BF45DC-A348-4B17-B94E-1C319CC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16B756-A178-49B9-9892-DE881CC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E9373E-451F-4367-A9AD-96D6FDC2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59B4AA-A3F9-42B1-A053-5FDC47C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B3B491-830A-4BCD-9606-D0E4B7D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86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7CFF0D-069A-4D4A-84F0-9E36735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338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D8E9F3-6035-4EDD-90A3-03749FA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86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984572-5A6C-4E50-A2B8-30126B9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338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F87B44-D2AD-4551-8362-D11A556C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B9A0CD-3E77-47C7-AEA1-2A1E673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B60F58-872C-4738-A3CB-E2605D77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CBC073-D56C-47D9-ADD8-0B59314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529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83EF62-7A80-40BE-B598-D8385AE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4A5A0F-35D8-4CFC-B9F9-50F18BF7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D1445C-CFF0-47F0-B3A7-48E89891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FD95D5-5D01-4EAA-A621-C43FA79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89F9EE-1246-4072-B34B-0A1355D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053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E79951-CD51-4EFA-AC64-3A136A94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529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A59583-8053-4F64-AD32-8B2DA93E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05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F395C9-17E6-418B-A4FC-F07A3586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52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14EFB7-381E-42DD-8771-78A540F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99E73A8-952B-4C7A-A75B-9E82E956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85A101-A756-43C5-B8BD-761E352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E75B7BF-89BB-4ED7-9FEC-1985DBE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720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5AF060-9678-4125-9C21-63C65FC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5CD7729-0571-4B17-8940-02A38C5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606A4B-C384-44CA-8380-2E5D29C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282653-E5E7-4A23-AC9E-5F31441E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A24038-673A-4993-86FD-85580A54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24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BB80A3-B507-4B83-8ADA-1CC39CC0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720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3F61A3-6D42-4A62-AB6C-ECD723B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24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F7EFE2-440C-429B-967B-01637869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772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6F590A-A51D-48DC-9D5F-74D684F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DF0DDB-4EA5-4BE8-8349-9FC1FD6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198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B278C2-9766-4C7D-B631-C4999D98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D10796-34A0-49B3-B074-27B0654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60FD247-171C-4A32-B4CB-B832E101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E1F67B-D43C-40EA-93E1-8BD67B81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48DCCD-BD21-4A7F-B3EB-CE5A41AF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066EB6-4C47-4179-907D-8CC6CAB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45943AC-5D4F-413C-965A-C00D3B4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C487CF4-DB3F-4BB3-9B34-DC2964C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1911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D97036-E3C3-40F6-9F8E-BFC894F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43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5AE9564-7BEC-415D-AE4D-7D8A6B78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91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00751B7-18B3-4CFA-BC7D-600381E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EBCEF4-91A4-4034-AFD9-D4B92013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38BC1F-3EDE-49A0-A3FE-7DC1028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Fayrouz: 4 reviews / 2 written reviews in the common 30-day window; topic evidence is too small for this table.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B865CBE-5F88-4C27-84E9-2A18DD1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24847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0303B-A4D0-473E-9BFD-484E97D6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4 — RATING &amp; REVIEW-VOLUME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9810C-B309-45C6-BFF8-9E2ECC5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rating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4450A-248E-4B82-975F-6AB8CB63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Apr–Aug 2026 complete months; the partial September rating is excluded because one restaurant has no pre-cutoff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C0B48-444A-47EB-8F2E-366AF97D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C7044-C9A6-4636-BE17-9F2EC6B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498f186e42420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DCF10-FB3E-4887-AABF-A7794B3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September partial-month evidence remains in Appendix E; no missing rating is plotted as 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E93AC-2ECA-4B36-A62C-B92FB51C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719088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2B96A-1146-4E15-B664-42E42BF8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4 — RATING &amp; REVIEW-VOLUME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A09A-6336-4A52-95FA-768FEDB7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review volume shows very different market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D67A4-5DE7-456B-9A45-85D760F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Apr–03 Sep 2026 · September partial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C8F37-11B8-4C6A-8E6E-2A05611F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B178A-B710-4CBC-B42F-8003A373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6ab2059d37425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99B9F-5B07-4942-A3EB-076EFCE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* September through 03 Sep. Volume is attention, not customer satisfaction.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EF14-718B-4147-97ED-5C9EDC4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642130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F50275-44D8-47F3-AE21-837C4FDE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4 — RATING &amp; REVIEW-VOLUME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563EF-CC51-411C-A6CA-5C4D406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low-score share isolates recent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CEFB9-22B0-42DD-8FFB-FFA59E6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1–2-star share by month · Apr–03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153F0-C6C0-446B-BF01-5B253FC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D2FF7-CE99-481A-86AA-2BC0C1D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d6173e56584e7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2C0D-B93F-493C-A49F-57BE1E56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F33F0-3AE6-493D-8B57-567B322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5DB80-171F-46B2-B0A9-47EACC24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686425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September is partial; use the 90-day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EFECA-B1CB-45D8-A9A2-8C9B351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9173871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1DBB4E-7607-420C-9738-FC2D828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5 — OWNER RESPONSE &amp; REPUTATION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807D0-3F18-47AB-8AA1-BCFCD216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Owner-response activity disappears in the recent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B7E26-3AA6-432C-9965-C41A663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Monthly owner-response rate · Apr–03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2FFCA-BE48-4D4B-A9FD-ACFA700B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5E743-03A1-4FCF-AFEC-B6595F5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1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2531355ce44b9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2CE73-0D13-4569-ABE0-B03185A9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86A64-9F6B-4227-9218-756F62DB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46B1E-FB9D-47FD-8175-30D5F5E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All four: 0 owner responses in the common recent 90-day period. The weakness is market-wide in this dataset; it still leaves Al Assiel’s 9 recent low-score reviews unanswered.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BD47C-7919-4324-964D-9A75570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2233062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F8E6F8-337A-4922-94A2-3002608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5 — OWNER RESPONSE &amp; REPUTATION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AE6EB-2FE7-4290-934F-97C316A6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Is Al Assiel uniquely weak at response management?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93A61-FDA3-41DC-B7D8-8241BFEF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No—the recent weakness is shared, but historical behavior differs.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FDAAC-2EE2-4766-96BF-C6BE12B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AE58-3FE6-4A5F-896B-7858A515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89C08-CBB5-4761-82B8-2A98841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49C8-C1C3-4FBC-B5D8-728372F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321A2-D3DA-4331-931D-526023F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621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A2EC8-D0CB-4417-A27E-B92E2B55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28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90d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B7685-A287-45D0-9988-C2023F6F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621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91D01-F7FB-42A1-99CA-66FDF1E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low-score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9BA95-B2C7-4FC7-8FB1-C4F1524C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E27BA-811A-4D4C-966A-F4497907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Unanswered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D5156-24A8-4666-B195-D8ADB34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60C3E-B27B-4660-BD97-6515E41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28825"/>
            <a:ext cx="145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Overall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46922-43D1-4EBF-BC4F-9897FD45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621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2648-F6DC-447E-9366-80123D3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288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Median delay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C4A72-2F93-4020-9945-827F1F0B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20B99-E1BC-42BA-9DAD-A0E2866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A5BD6-4F4A-4A4C-9F70-D42C666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C9A0E-292D-4016-8529-DE40ED0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98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0/28 · 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E1B40-72C2-4DAE-9213-C5EDBDFB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622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22A31-EFDA-4325-92E9-E05770F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098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1/30 · 3.3%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5B952-34DC-4FC5-875C-5EB587B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DAD07-AD90-4A7E-A9DE-EC138382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98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DECEC-3F57-4634-8BD8-362F550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F47BC-1C25-4459-BCAF-6FED548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98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D01AF-266F-4DB7-9E93-A2C0212F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622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3ED64-E3B6-4CF7-8297-5859DA51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98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5.3d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6BC5F-5DB3-4DEA-9E94-7AE90ED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264D0-781A-4042-A4E5-C21FB3F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F305D-3656-4092-9D53-B2138518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954E87-23B8-469D-9A48-C2BC93A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194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0/52 · 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2ADA3-3664-4739-BEFD-B5A6905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718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531C76-ECF2-4DE4-ADDA-B4FAFA4E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194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3/39 · 7.7%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10ABB-4EE9-4735-8034-638B16E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656F9-D10A-435A-B1C9-88299F5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66CA09-34E7-41A4-B28D-B760336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680E77-ADAF-4D88-9112-6EB70FC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194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18.3%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82ECE6-E45F-47E0-A390-9DA86851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926D00-6B9F-4287-9A35-7CCF2DF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194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11.0d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3317B-A78C-44FE-A08C-58D4A58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5B3AFB-1CE7-4285-816F-BBC30F30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5ECDA-2775-4E7A-9AFC-C95F3DB5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15D015-DF25-4E1B-AB0D-94E3935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29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0/78 · 0.0%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8F8EA5-7C31-4D16-BECB-C51B5F7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814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D37467-D278-4EF5-92AB-8950E85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290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4/35 · 11.4%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6BAC9B-B5AF-4C24-8081-DA9E2A30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2161EF-5BFD-47F3-BFA9-15D02076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290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B05650-20DD-4165-83AA-23B4D93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EBB4D1-5B69-4981-8BF0-B97196EF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290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1BBDCB-ED3E-4AED-8226-742889AF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814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176D0A-B66B-4D66-A353-71301B4F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290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4.5d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3E8B7A-11F1-45CD-96E0-5C4F996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8EA1D5-CD5A-4D4D-AFA4-40AA261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BC6B7E-520C-4BA5-93ED-0ABF2A3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642DA2-A574-4EE9-BCAF-0B06D21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386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0/14 · 0.0%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BECF1D-DC3A-4629-AC59-10E0540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DCD1A0-0039-43B5-89EF-5291429A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0/0 · 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CBABE5-F572-4FD7-B7E9-B877F4E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EA5029-510E-47B8-9EF9-69E23702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386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96D745-7571-4331-8C86-C4B9831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00915C-58AB-4630-974D-359DEF9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86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4A0B3C-51A5-49CE-AD07-DC29A301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91000"/>
            <a:ext cx="1476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432C35-2FF8-4B40-A7B1-8503CD2B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38625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0.1d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8CA945-C449-4465-98CD-12106E85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B6B52D-2D4F-4A04-98C2-C9EEE1F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121235-4934-4D52-9F46-919A9F21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Actionable gap: respond to low-score reviews consistently. This is reputation hygiene, not a claim that replies change ratings.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30EC66-C86B-4AB9-98D9-C4237974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2447758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169591-89DC-4C3A-BEBF-4AEDDAE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BC5EC-1667-43EE-AE05-2F4FA0BD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What causes bad reviews?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70C43-5AC3-4D13-8EC5-D7D16765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Negative-topic counts across all written 1–2-star reviews through 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55D6E-24A7-4167-9959-3C89E04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4A10-4868-45FC-94B1-62B257A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a6167293f0470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136E-CBE4-4E59-91DE-B6A028A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Counts—not percentages—are plotted. Denominators: Al Assiel 24, Olivenzweig 27, Al Safa 26, Beit Fayrouz 0 written low-score reviews.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D2E57-F8CB-45B7-B0A0-9544853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3719839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83E79-9423-439B-8CAB-58F7A1B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7C5CE-F8FF-4B1B-9A51-0AB51828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Assiel: bad-review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39AD9-1D68-4777-A28D-52A21169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 one-star · 10 two-star · 24 written · response 3.3%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B0EF3-4AC4-4BF0-834D-99AD751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FC230-EC5C-4A62-80A5-7348B3C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F3AA-4482-4953-BA0D-0EE51F4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EBB2B-2515-4127-BCF7-74A7795E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 topic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FBB8A-3EC6-4359-9D10-B6BAF2B6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9A6F6-8B8F-4133-B5AD-EBA152C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C8C6D-816C-4532-BC45-7C5D5C3A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39F86-FD30-47CE-89BD-C353308A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 of written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BFAF9-19D9-42C8-8AD4-2C5B92C5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50DD3-102F-4E9B-9C4E-74E46472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2A23F-8968-4648-987D-B26BAC63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68BB4-B4B3-4A18-8F74-ACD600C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C0981-F11C-4021-9B9D-2D17E9AE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2F322-F7B2-4FA6-9714-A855CCC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2D2B5-0446-4ACA-AD6D-31D1668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4130B-7C2B-48A0-8884-19575DD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41.7%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AD589-1E76-44B8-BB4E-0D344FC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B4C6B-2149-49E2-83EA-4FAF422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2A722-2E4A-4DBC-B963-BF247B3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AD046-E281-4287-BCA8-52F88C8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B9766-A6D2-465F-B2C2-25B3B943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3768A-AA03-4D78-9C71-C376BA5F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C6265-2FCB-49A2-A0DE-6D23C5FC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B4E03-D19D-48C1-B525-0A0908B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37.5%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57D81-AE7D-4AF9-8CA4-62191D6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62486-C1EF-40EF-B2D1-D00B1FC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286C8F-5A90-4671-AEB8-412B8AC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7C3F06-97A8-4BF4-ACE0-3F407A3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 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9016F-315B-4DA5-AAC1-6811A87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E3BDA-9068-4955-BEA0-92F91AD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6EB571-7FCB-4C67-AE7C-E4895E7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5E9CE4-B879-4CB5-AEFB-BA54BBE6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352E5A-5BDB-48C2-9EC0-FDAB3B05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4E5E2C-5BC4-4B64-8F3B-4062FB3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C5AE3F-1DF2-4AC7-9F09-8842A5CC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BF3B8-1AFD-4451-85F3-CB320BD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9670F-AE28-4906-9252-10E7AD4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290F43-5A87-4E35-A816-0884FC47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DEBF72-4635-418B-8894-7F6F93B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4DEB5F-A1F5-4855-A01A-F64033C4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08739E-47F5-4398-B2D6-0F293CE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17F351-D587-46D1-A762-2DAAAAB0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DE56C2-EE64-43DE-828A-FCCB172A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449933-C229-4462-A3D9-4A7334D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Price &amp; Value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6250D5-1A79-430A-98E6-022E8BE3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CC2609-3DBE-4A28-B066-44A2EAA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35DE6E-4C22-4C64-AC33-BE99E03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B5C902-5E5D-44A5-ABB2-5F0543A4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20.8%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059A2A-6AC7-4DE3-965E-696D271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1C8CA3-20BC-445D-8A01-C269A92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BC7CED-F7E2-4F55-B4D8-DE685450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EC2A69-9682-47B4-B938-BE71DAB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934D5C-BB06-47FE-AD97-079E317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BE5AB8-AE11-4701-B29A-ECB93396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E6FCD2-2B67-44F4-9D79-D33F340F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788686-6A6A-43A3-9BB1-0E533F5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C8CFF6-F385-40BD-98A1-D10A172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0A0E20-7A44-4528-81CC-8DF9A79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9C6B28-9829-4BE6-B8C2-5D8B350C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108DF6-5152-497F-9918-EB07D20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51357D-DF68-4F06-83FA-CC70B51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Repeated concentrations: Food 10/24, Service 9/24, Food Quality 6/24 and Taste 6/24. Eight written low-score cases mention a detected dish; 1 of 30 low-score reviews received an owner response.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24A40A-33D5-4472-BC30-63E2C2D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Review cases →</a:t>
            </a:r>
          </a:p>
        </p:txBody>
      </p:sp>
    </p:spTree>
    <p:extLst>
      <p:ext uri="{BB962C8B-B14F-4D97-AF65-F5344CB8AC3E}">
        <p14:creationId xmlns:p14="http://schemas.microsoft.com/office/powerpoint/2010/main" val="17323777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6C766-AF98-4A0D-95FB-C6AC65F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82A4-6AF8-4248-939C-3327888C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Olivenzweig: bad-review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BBDB-F54C-453B-B88D-B7CA9C3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26 one-star · 13 two-star · 27 written · response 7.7%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88935-A913-4339-B044-79D4989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4E93F-372E-4A89-9A51-BB44271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5D030-D80B-4B4B-8A18-3087212A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32C0E-C59C-4A9C-922E-5F35B1C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 topic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CABD8-D241-45A8-B56C-7C99E9B1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50264-AD19-441D-9FEA-E53B94B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D2155-EF33-4978-AFFD-C1FC460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9E312-975E-4E13-888B-59FCF81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 of written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F44FC-A627-46D4-96A7-7203CA9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12CCD-BEA3-418F-8911-13BA5C4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45C5C-C117-4691-8E12-FB6738E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CF178-42F7-4325-BCA3-E45547B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19D1E-8C4A-4D92-9FF4-961AEACB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86DC7-7989-4FC7-AA3D-F8E4FA20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72E33-0F76-4447-9B24-47B3478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EDEA4-C31D-4D65-989B-B9B36D3C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48.1%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D042C-EA0E-48A4-82E5-6F343ABD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82380-F360-49C0-B269-377A642C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B41A8-8FE3-4786-96BA-4526E3F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D34D0-3DD8-417D-890E-5757F0F9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F707A-4EF3-420D-B891-B6869A4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7D2EC-DD4B-4C56-B2B1-4E3204A1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CB803-5839-4A0D-91E5-376DFF5E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7C550-6A4A-4AEC-8093-C0D8C08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44.4%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882D2-E6CF-497E-9977-08B83AC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3EFF5-D132-4E8F-B0D2-5B7B1E71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584BBA-D63E-4BDB-A912-68EBF51C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83728-D48D-4A8E-ACC1-2F265145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F1031-6C4E-46C9-AF0A-F79A468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88CBD-841F-4B8F-8822-FA30FD38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BE0BD-44B7-4AF8-AE58-57E1F6C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CDB26-A273-46B1-93E6-E21FD8B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958FB-43E9-49A2-B9C5-C1B7FF2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D3AD97-E2FD-4C72-85B1-ACC8200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581DE8-446F-4B08-AE2F-66006FB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E2E716-71AA-4BC3-B4C0-0AF48CC0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Price &amp; Value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422512-345C-420E-BC06-902F08AC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164E8-B4D5-43CB-A138-E76F671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0C4114-7628-434B-A314-515E454D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FF766-C24F-45DD-9184-6967E799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25.9%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68F6DA-7EB7-4217-8958-0C585DE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DD7E6E-C81C-4B4F-909F-DF9F7F1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C003DF-A985-46D4-B581-AF985F5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2DF343-78F7-4A0A-BE35-A41ED014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DE054B-9FFA-445F-B662-56B3674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4EE3C2-AA42-4532-BBF0-A8B295D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9CC6A8-4332-451B-81DE-084CF392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39A855-049B-48F1-9BAA-8CC10C4E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18.5%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42F71B-6280-4E0B-86CC-DFCD740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308B3C-4870-4524-8C50-6DD2CD13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05EFC5-E684-416F-A87A-A914486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8BBA61-8645-46ED-BAE7-076B924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Attentiveness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6B6AEE-ED80-4131-83EB-5802CA03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F0DF1F-4331-44A0-A571-579DE3B6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DD580D-0C45-4F8E-889E-55ED59E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488D38-C424-4DBF-93CB-CA59D46F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05B2CF-78A7-4DD2-862E-EDBCD62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2F9C14-73C4-44C3-9687-F0E3A3D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D02977-EEC1-49E0-94FD-94B98149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3AB771-1304-40DE-ACB3-A277134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B9F77E-D992-4786-86BC-37659B2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clearest concentration is Waiting Time: 13/27 written low-score reviews, alongside Service 12/27. Food appears in 9/27; dish involvement is lower at 3/27.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3DB709-7DBC-4169-9ECA-7A06D4DE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Review cases →</a:t>
            </a:r>
          </a:p>
        </p:txBody>
      </p:sp>
    </p:spTree>
    <p:extLst>
      <p:ext uri="{BB962C8B-B14F-4D97-AF65-F5344CB8AC3E}">
        <p14:creationId xmlns:p14="http://schemas.microsoft.com/office/powerpoint/2010/main" val="12944222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80FD3-B2F5-4036-8A7A-BA734294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9BC2D-DEB8-401B-BB27-91C7528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Safa: bad-review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04323-48D6-4F4A-83FD-D6670089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28 one-star · 7 two-star · 26 written · response 11.4%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B55FD-1311-4745-AF47-B9B6A26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6B7DC-4BD1-4D5B-B442-2154838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EA63C-EE1C-4D4A-BDC0-1FB3A8AD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93E7-001E-4C13-B7B2-2F1EEA3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 topic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15D7A-9D96-4E73-890D-5AEB07A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B12C-F585-4B62-8E19-DA1EDE1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B7C3D-35FC-4485-8477-815394C7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55AF6-7C6A-4316-BE4F-26AEB6E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 of written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EE967-0276-4FAB-BFB1-17336E2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0626E-D0B8-4E18-BC65-B1ACF9F0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76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A4A53-9367-4036-A77E-8D823DED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83520-AA0D-4D3F-AC52-FF96671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7F5AF-E058-428D-AC4F-D8B00384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BC66E-C659-42DD-A3FC-794FC00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C0E5F-4F13-4A49-96B0-B9328AF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255AB-7B2D-4AF9-AA30-6F41DF36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B6413-9445-404E-9D6F-3EB2F1F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08DE3-0817-46EB-B631-11E5743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DB6C8-B031-4ECA-A987-0528DE3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8AE3D-4333-41B7-889B-A78E9195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4AC2B-ED47-4823-9486-50B8A3D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C919E-C8D4-42AA-B89A-463CC76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8AC73-2E1A-4AC8-897E-453B804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426E2-46BF-42A0-888A-3E231FC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146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C1548-07D2-4B86-8144-D5588E0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70A1E-E2C2-481D-862C-E9F4063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1625D-36A5-4533-8002-924D1E1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6F0D1-643F-4614-AD0C-CFECD47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 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CB83A-9749-4843-811D-7D5E218D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D7D27-000A-4B04-B286-1E0C00A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98F50-D775-4689-B3F8-789249B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558EA9-C6FC-4B2C-A115-A8D1E4C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F3862B-9B57-4CD9-8D6E-3C7579EF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1AB06-6F93-4724-B025-EA19898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F2D21-0DBD-4B89-9201-EF8FD29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67838-DD88-401C-BB61-D233DF4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Price &amp; Value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0BBF2F-47CA-4A37-80C5-B43A4FE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A19AA-71C7-4C02-860B-1108A24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04FB77-F89F-42FD-B697-0582629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845A59-DFD3-427D-89D1-A6513092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290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2DD828-BC08-43E9-85EC-C0ECFD2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25DC7A-9AC4-4D94-9F0D-EB28373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290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219ADE-5E97-49A6-BB63-68EC8DA4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F15D35-9DBC-4A88-9653-A403DA6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Friendliness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36BCD4-22FB-491D-9697-45DFE5C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532AA5-1E9C-43D4-8F06-0B59FF93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5066A5-4E4F-4C81-B6D5-EB3530E8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7B5CF1-3C5F-4623-AEB7-EA94A39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862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F1F67E-08E2-492A-8B02-8E5FC1B7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B36468-F4C7-448E-8169-B82521C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5D0654-23D7-42F9-A3DA-E92B938F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A0E9A7-9A2E-4819-9D95-D9B7102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Meat Quality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C66264-821F-4985-8CAC-643452F1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52166E-91B8-4D6C-8097-2D5FF3D9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3C8DEB-D6C2-420D-8F0C-2449A74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020652-CECC-4893-BB76-DF246EE7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236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8DF5E5-3A71-4610-A247-1D91831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0CC32E-9947-4EB4-9AB1-6B8A77D1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198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ACEC31-E656-4498-9B39-E1352CAD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62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51A225-C9D0-4959-9686-E9CFE86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C05EFA-B558-4347-A547-24C272A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31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 leads at 9/26; Food, Food Quality, Price &amp; Value and Staff Friendliness each appear negatively in 6/26. Card-payment complaints are captured in 3 cases.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EBED9B-9A15-49CC-A899-A1A47808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Review cases →</a:t>
            </a:r>
          </a:p>
        </p:txBody>
      </p:sp>
    </p:spTree>
    <p:extLst>
      <p:ext uri="{BB962C8B-B14F-4D97-AF65-F5344CB8AC3E}">
        <p14:creationId xmlns:p14="http://schemas.microsoft.com/office/powerpoint/2010/main" val="13296818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77B91-7752-4A02-BE3F-2D1C00F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F22A6-8D0E-4493-AD0A-2F8554E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Beit Fayrouz has no written 1–2-star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A043E-EF0C-4610-BE29-478E484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Zero observed low-score reviews through the common cutoff is favorable—but not proof of zero operational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2669-C823-443A-87B4-70E30C7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8F677-CC54-4E79-A08F-0F0928F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1484-FF0B-43E9-BB0B-6FFB914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A009A-70CE-4E3D-BEE4-F8713C7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8CE9C-394B-40ED-AA2B-E72B7BBF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1–2-star reviews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B5FEF-ABFA-4F31-8D78-C2B15F31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CA576-9C7D-4AF6-97F4-2D1AF2FF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through 03 Sep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749D2-2034-4CD3-9BDC-BF6C701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16434-B439-4D88-A9F7-1271AF82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5D556-E0CB-464B-9F7B-84EB3C1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90d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EA7D-F23F-4F8C-9025-737F2A68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153A-0285-428F-A530-833968A1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medium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DC9D3-C4BE-47FC-B886-F6840263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61043-9EEE-4549-A9F5-76391F8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1F9E6-6269-4370-A4A5-E649593D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Written recent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3C2B8-3C61-41D6-A16C-AEF08B19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66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5D1FF-A36B-4235-8080-7E7499C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 evidence remains limited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6BADC-23D2-47E5-80D4-A97C221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75D06-E680-4537-8C59-91C62A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EA633-183D-4344-AFF8-B3EC651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9791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Management reading: retain the favorable observed signal, but validate through structured visits and a larger future sample before treating it as a stable benchmark.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A68F4-3DF6-4CF2-AAB9-95F556F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9442411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82247-45B6-489F-8312-6D91CCC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6 — BAD REVIEWS / LOW-SCORE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D0EE7-02E7-4616-BDC2-6676177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Common market problems vs restaurant-specific concentrations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BFE5C-3BF2-4941-9D24-BB69D347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 presence inside a written low-score review is not automatically negative sentiment.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A3B4D-D59B-4614-A973-6E87077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ECC64-0E1A-4922-ACA7-ACCCF79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BA6BC-86A7-45C7-AEB7-8508CC8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CC77C-D771-4B8F-AA55-F3BBE5C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COMMON MARKET ISSUES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355C9-6684-47B2-A578-FD52732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29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Food: recurs across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Service: recurs across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Taste: recurs across restaurants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Price &amp; Value: recurs across restaurants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FD45C-D82C-44FD-A232-E9FCAE40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47687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8DE6D-0003-4B5C-8708-D510384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TOPIC PRESENCE | NEGATIVE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F9243-0013-49EC-A890-9C71D97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46672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Assiel — Taste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 mentions | 6 negative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— Waiting Time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mentions | 13 negative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— Meat Quality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mentions | 5 negative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— Staff Friendliness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mentions | 6 negative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09C59-186F-4461-BA4D-672F870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0297540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23FDB-4308-4D1D-813C-573C1D6D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7 — SERVICE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32DEE-87CF-4EC8-BA71-ED44AF1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Service sentiment: Al Safa has the strongest observed positive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FF866-35E4-488C-82B5-1CA6EFE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 days · Service topic only; counts and evidence remain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42472-0BCE-48A7-9137-490E6F7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2C71E-F60B-4BA5-8093-7840E93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30B70-EFAF-49A3-9656-5354AEC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65B8F-99C2-4357-AB2C-78CE1BB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812FB-B4C2-47A4-899C-0B29CD2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F7F98-A8AD-4FF9-A611-17E6676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2B1E9-3B4E-462D-9CA1-12B4CF86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38EA0-2251-42A9-B3C9-CB7C54A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B06C7-8231-47C3-A215-965CAA40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77FDB-E040-4F1D-909E-A3873EDE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63A43-1867-4E8C-BDB5-AB9E2DA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CA0C2-F303-4796-9FC5-2437626B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049E0-1C91-40FB-B603-4749EF93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F80F8-BC24-44D5-A750-E664FFA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33145-55F8-4EEA-AD2C-5FB9339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503AC-0870-4867-B718-0FD0C99E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97DFD-BEDC-458D-A155-5C76331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526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5D90B-58E8-4580-A9EB-2A992048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0CE8A-C178-40C0-93B5-E710CEF4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50B36-20DC-4366-8CE0-07A56C6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 · 70.6%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19BC7-FB1B-4CBC-A416-78B7AE20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ED07B-2DD4-4516-8635-BE8A365F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17.6%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62771-1AD5-410A-B05B-FDF7FDC8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BE774-8B33-4F24-9B40-DFF13AD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88495F-B0E9-4E08-9FFF-C325747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0260E-36E3-49CC-ACE9-E4197FD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E4F79-E03C-40A2-9777-F9D18FBA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417CE-CBD0-4E24-B1A7-DF4F7F26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226AF-237B-452B-BA27-B17F1C2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4CDC4-52D7-4D79-92BF-4DAC99C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CF5E2-7B17-49E3-A9FB-1069F2D1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343692-B531-451F-B7EC-D1E7F2D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· 72.2%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609DF-4F3E-48AB-9090-382A4D5F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9738B3-4473-48CF-BC88-FE69C3D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· 11.1%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0C2237-D539-4CCE-A9D3-76542EB8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622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74A91-67FF-4BFC-AAEB-2D92211C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7E43B0-8333-4840-AAA1-7129746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495C0-D8D5-4205-A81E-3159F79F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F15BC3-4643-41D4-8711-6BDC5A42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BBEB4C-8FBA-470C-84D4-4E342943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477BA8-9966-4ACE-A859-0930AA3E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387547-12FC-4A84-93E2-A18A264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C2F279-80DE-48C0-9292-C5A460C5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D5B626-7940-4B4A-BABE-34C56C2A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 · 78.6%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B3E24D-E4AD-463E-AEFD-6D4F4450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3274E2-6A4C-4758-8F08-9159FE3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3.6%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2487C3-410C-4F12-B5AD-4A2EF893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EBB267-1E12-45A9-8758-72979A72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FB86F0-5CB5-4566-89EA-8AB37C4E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C04BC1-F2FE-403C-A318-08CDCB97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4DF5C3-4F80-44BE-9C35-BDA7365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478852-0B69-44FC-87A0-F4ED081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D8A29F-6C68-48C9-AB5C-93F30B18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3E4819-DE5F-4197-96E8-94E02E64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6B9ED8-3788-419A-9274-1977962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9ABB30-8CD3-4223-BCFF-E27A96F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100.0%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8A8AD6-800A-4DE8-8F64-55554251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BE0CF1-F9EB-4242-A19D-2954ACD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AB8DE0-6327-4B29-8D34-7FB76972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814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B6DB7A-C93D-4321-9EE9-6DFF870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29100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BB19A1-021F-42D0-BB9A-01906C3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DD36EF-E20E-4D3D-B149-A9FB92A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15524E-01CA-403C-A4E5-DF39E96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2038D7-046D-4EE3-9A72-FA3E918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82A523-0C95-49B8-A328-17826EF1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Observed service-positive leader: Al Safa, 22/28 positive (78.6%, high topic evidence). Al Assiel: 12/17 positive and 3/17 negative.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CE1070-9994-4650-B19F-E41DFD92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5770061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F850B-0AEE-480A-8552-6138619A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8 — FOOD &amp; TASTE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5353A-D929-4023-8EDC-7E5274E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Food &amp; Taste: Al Assiel carries the largest negative counts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504E0-26F7-43E5-95B7-011C62EB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 days · topic-local sentiment; rating is not used as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DC820-C2B6-49A2-A0C8-9403F4D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0FB04-9BC4-401B-8C50-587DDB4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b25ee5642d448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C3E90-4329-49B1-BFCF-17D738C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D626D-6346-4660-BBDC-E4C7DC10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E7116-9F0E-41B8-9D3F-05007D2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Assiel: Food 10 positive / 5 negative; Taste 13 positive / 4 negative, each from 17 mentions. Negative evidence is medium for Food and low for Taste.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DF407-4FD4-447E-BBAB-42FD1172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21123057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40DA5-D886-4288-9FF2-8F362B5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8 — FOOD &amp; TASTE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B9D07-FA30-4BD2-811A-44E74A91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Food and Service sentiment over complete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3138B-42F3-402B-B523-7F2D422E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Positive share · Apr–Aug 2026 · gaps mean no topic evidence; September is partial and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003B-3EB5-4CE2-BE63-C16968D6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71201-3351-4342-9CAA-61366A8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886EE-AE8B-41E6-B6F2-25BCBC6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A5979-8B8A-4BFB-8D16-A7909D5A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10C0-4057-4075-8534-E81389F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FD56B-A40F-4FFA-A01C-CFD5C08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7846B-1BBE-41CA-9262-059C4DB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15A2-D4E2-4012-9EA7-832F9920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FA36F-7C69-4578-BD10-7AB3C49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41DF0-3C77-48BB-B016-377192CC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9486B-32CF-43A6-BC1D-AF11F33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2A77B-5173-46C9-8BCA-AB51A73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87DBA-13F3-4B36-AEE8-F6126F0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EB031-61A4-49A5-9120-D4BC22BC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4040A-F2AA-4A0A-8A9E-AA9B0A95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3BD67-E67A-4094-A090-911547B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C3B00-248F-4357-B3E6-F48C1217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10630-DCCC-4066-BF43-6913E11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9CC72-CE3F-4758-B900-B348462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FECCB-9626-4A10-BE8D-24CAC24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2005"/>
            <a:ext cx="1250156" cy="118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E01C0-55FC-4AC8-810C-8276FAE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950369"/>
            <a:ext cx="1250156" cy="70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AEC9E-2576-417F-8745-020C2471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21330"/>
            <a:ext cx="1250156" cy="993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FECE9-8E85-4543-BB9B-480A17F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832005"/>
            <a:ext cx="1250156" cy="1182782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0F64C-CE19-4DA8-A103-DEBB88C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134EE-30D7-4ECF-9764-D3B4964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92179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ACF3B-F617-493E-809B-AA7A0878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99275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FDA0C4-DD24-47CD-A6C3-BDA58D9B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3986213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65445-F990-4CCF-94A2-534E8D1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5B3F6-BE4A-44DE-8622-5AA9B21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4315"/>
            <a:ext cx="1250156" cy="5086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CAF5E-6493-4E7E-8F20-EF4CF72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37836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5AB3C-3A61-4264-AFE5-3C69FE0A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1064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D2B67E-6379-4BBD-ABA0-CA22EE5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106441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C9962A-5170-42B7-9160-6B3AC563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439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5FF29-D481-4188-B04D-6DC32177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23574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8E0D8-78D5-4FD6-8D2C-6DD035C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6939B-2B7D-4029-8F08-B4E558F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92179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A8E955-4D74-444E-A2B9-66B4E72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AD519A-9FB8-44F8-9508-AEB6BAC2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1565"/>
            <a:ext cx="1250156" cy="1013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1EB7BC-6979-4C87-A463-E622AA1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02B0D2-E8B6-4DF4-B356-19E715BC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4731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37D7C-4254-4B51-AF89-CD1B262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359120"/>
            <a:ext cx="1250156" cy="7096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C51A3C-54CB-4B18-8CB2-65FD955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FA2814-27A9-4388-A446-4751B017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5971AB-6F2A-45FA-85F3-18917AE4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487AE2-F2C6-4746-BBD7-0A32FE33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3305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4A3DAC-1BD8-4EAA-9D44-133F82FD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015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F47599-DFE1-475F-8F59-5AC798C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0756"/>
            <a:ext cx="1250156" cy="275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B728EF-508C-44D0-B772-1707837A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516654"/>
            <a:ext cx="1250156" cy="22077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D7B618-0092-43C5-AAA0-BC50C85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28384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17FD13-C9FD-4BB6-9555-E605DBF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7C26A9-923F-4EC0-8E63-3DADBC2A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1218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C8AF7C-8910-491C-93D6-AC84559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488079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CF5798-1CDE-4BC9-80AD-4B2601C9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72F411-9DA7-4BC0-9E0D-B5454C13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39A24E-5F0E-4DAE-B1DC-6C439391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A00FBE-9C40-4FB4-8321-C5BBEFC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0EA56B-228D-49A4-9EDA-51BF1E8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6E608E-E331-4E2A-B78C-6E5DBF9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118A08-2D43-4CE9-847E-87EA124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B1066B-060C-4131-A4D8-0AD9F26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CD24C8-D980-4C9F-BB90-60F3678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DF7BE0-0E6D-4DC2-BD54-6D83FDB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0A8854-61FF-44BB-8242-347E90A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A39F36-2979-492C-BF63-4A11E39B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Food positive share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1E4E9C-6D05-48AB-AFF8-F20AFC1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1E64FE-AC43-4F39-8AF7-C1E30ACB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3129FF-651A-4FFD-8E19-E94F1A68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593AB4-0605-4BC3-AA27-0B3B619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0972A1-BC2F-46F8-9EB9-AEBB29B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A58368-1FAB-4442-91FD-2C55B22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137895-75DD-4BDE-B37B-37624BC1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BE0250-0D87-4F0B-ACE9-CEE2AC8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7A33B3-68BF-426C-ADDC-13E5D8D2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FF37A0-A8B1-4A42-ACBE-7944D31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7D8C56-A6A5-41C1-BAB8-8E968925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31B808-09D7-45C7-ACBA-2D32594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9FC05EF-0596-421D-A249-0CEBD77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B44D98-4E33-407A-8100-06716AAD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E97243-CD31-4DF6-BB81-D1DA9DD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F7310D-2CC6-4AF2-8CC0-EDA3CAC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B4E933-E15D-44CC-8C41-4B81824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3F02A2-89A4-4C2A-9882-2B1A69F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1250156" cy="1216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D7E54B-B7CC-46E3-AB01-2BF85AA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1885950"/>
            <a:ext cx="1250156" cy="121656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B91D225-6CAD-43F2-BA1A-EEC6715A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85950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FA9CA2-364F-4A06-A9C6-5A127CA1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737485"/>
            <a:ext cx="1250156" cy="56769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A3AA04-C177-4912-A84C-C544119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DE1ABA-D579-4DA6-880E-1F873C8E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07393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71D0A6-53BA-452B-9A35-360F4A8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4EDD76-657D-41F8-8F61-06E03DA8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99FCC4-0E48-4FCD-8FBF-22673BF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70891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681F76-594F-4EAE-947F-6BA9C4EA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1250156" cy="8118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3AA515-8150-4801-8DF4-CE958E7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2291565"/>
            <a:ext cx="1250156" cy="72976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1B7C36-017A-4A66-BDBE-A20CDC14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291565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77C6BC-B984-4F21-854A-B4342526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291565"/>
            <a:ext cx="1250156" cy="129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0FBC60-9007-496E-876F-0E52897C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7393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FD3C6FB-A58B-4A4A-AB29-E3F205E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99275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2D3BA4-199C-4372-AE3E-A4D94AA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BB0573-6F2D-4E79-B222-F0FA315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75FE109-5AB3-4116-A655-2CF3081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927F04-3A2D-4E37-A93E-1C256AA5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5563"/>
            <a:ext cx="1250156" cy="101333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9D98C8-C563-4C76-AE18-C6C9B80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2516654"/>
            <a:ext cx="1250156" cy="7890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153EE3-1365-485A-84B6-1A44E672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143965"/>
            <a:ext cx="1250156" cy="372688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FBC1EDB-2352-4A37-8E2C-8FB5680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143965"/>
            <a:ext cx="1250156" cy="516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9BDD21-9BC3-4950-83ED-9733188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6832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501800-6EB7-4DE2-A84B-307DE057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56698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E0666BE-4EC8-44F9-9092-9FBE064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488079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94EFBAC-8B28-404F-8755-342E09D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21153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2E4A6F-04AA-4826-9D8E-57282E0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63142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781B46-98E8-4729-A155-4416741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5252"/>
            <a:ext cx="1250156" cy="1844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EF748E4-3411-49E3-9658-7BE08469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45861A9-34D3-4790-96DF-A5B19C4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667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A4A6A3-E528-4677-8C0F-BD4A42B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19117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79AD4FA-EBE1-4565-A8F1-1EC6068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C8784B-2324-4CBB-A027-442B9D9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362AC7-C31E-4FCE-8A53-5731FD5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4774223-AEA2-4F97-8DF1-910F32EE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529230F-106B-4535-9C22-FF3E90A2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A36192-E0C4-4502-852E-EED08AF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40D52E-E956-453C-8659-4F994C0C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23B202-962E-4CD9-BE04-23760E0C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757CE83-59A4-4896-8B00-3E23CB1B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C4E954-8237-4BE9-9E4C-0122C5D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3D38CBD-85E1-443F-9F50-2A8EA378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Service positive share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898E50-C804-4D72-BECE-92AC716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8644613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FAF67-CDA3-4796-A17A-78A698B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9 — PRICE &amp;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5BDF4-F7BC-436B-8A7D-DA025DAB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Taste and Value trends require count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7AB93-81EB-4D1C-9810-3A8DEACF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Positive share · Apr–Aug 2026 complete months; gaps mean no topic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A62B5-1343-40F4-A04D-BA70CAD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9270A-8CF0-4893-B2AA-5F8D4356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53370-0997-4D43-9258-BD62241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F7686-7D22-4D59-A91B-A08D2D6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B691B-79F8-4B40-B22C-655E290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7C425-60DD-4E88-9507-5528B73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FA15C-964E-4F6F-97D1-4532A82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A39D9-96ED-490A-B775-D6385AA2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9276C-DB22-48D8-9635-EC75364C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48737-1E9A-4303-9FDB-C7A0F643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5D0B9-348B-40BF-82E6-C8411587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4C466-5605-43D5-86EB-10CAC3E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A0916-BABC-49C1-BF4D-16D8984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DEB86-10C2-45C6-BF6B-B552851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B2BAD-65F6-4504-8DA8-14A5266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5DB7D-1830-46DA-A84F-4B8CFCF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6AFCF-F0AC-42FE-82DE-D6154B6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3824B-FDB1-4E71-8CAE-54CAA580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5D7A9-DB1F-4B35-972B-C2B38DE0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14F1A-C634-49B8-AF6B-3FE1AE8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946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0B588-7E99-49E2-A2BE-28FF17D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832005"/>
            <a:ext cx="1250156" cy="7570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83DCC-B712-4306-983D-58A6D947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595563"/>
            <a:ext cx="1250156" cy="993458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DABBC-4D19-46F9-A63A-5CD1E43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240756"/>
            <a:ext cx="1250156" cy="354806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F31F3-1C7F-4705-B29E-06D71135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EAF5B-FDAF-4474-81C3-6C50EA4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72D88-A370-4FED-9F29-5F225219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B45AB5-2480-451B-AE4A-A993DA53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56698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59CE69-F051-44E5-BE6F-E9B4FC84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12181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B4339-C0CC-4768-A418-33CBC974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2393"/>
            <a:ext cx="1250156" cy="7890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FEF6CF-06A4-4323-B6B2-95D8F47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2122393"/>
            <a:ext cx="1250156" cy="169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3A340-EE14-4B4B-A7D4-78F26A9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291565"/>
            <a:ext cx="1250156" cy="540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C3644C-5E79-4007-94EE-2E74C154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2359120"/>
            <a:ext cx="1250156" cy="472886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427EA0-66C4-4BFB-A3D9-CBAA5552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7272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DC9474-327E-4BA4-AE6A-51E06DD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2093818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037402-C524-4DB4-AFB7-31152D6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26299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ECE099-9E54-4312-BB54-A8091FD0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A08F50-0B6D-4749-829D-68DA3AD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05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1F3CF-6EC5-4EA6-9C73-9EC5BCB5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3D18A2-9048-437F-AA70-6221C08A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5789B9-90A1-4A61-8D84-B0AA293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112DE3-83CB-41C9-97C9-7AE3110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315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8159B1-D165-4785-BF79-435A3E5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53583A-A700-4EEE-B57A-1485C03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74065-5EC3-4049-959A-53E06AA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0368F8-7798-4DA1-A21F-2B2FEA6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490DFD-267B-42EC-9223-7B4C9E5E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2727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48BB73-AD08-4C88-9678-E36C6CDA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250156" cy="129149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FF328C-11EB-4570-9CCB-6B6325D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188595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A525A8-3174-472A-B2C0-11B50044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86524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8631B1-D04F-4C76-9571-B254519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205994-8FBB-498E-9253-5625C2B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44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891C26-3BE8-4C2C-9B51-E46B8872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BA08E2-01AB-4DD8-BFD2-854B9B32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59EBAA-B2E7-4F3E-B8B0-1B8233B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3AA302-9757-43A8-81DE-AB27A03E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13ACD-9212-4DFD-A27C-45100039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9AF563-4B0A-40E8-BFD9-5535751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3451DC-A781-47FA-89C9-38E777CD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D83FA0-E69B-4143-B092-4621DA54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34E1A8-9588-4BB6-A1A8-3297CA6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160CEE-4F85-405C-A2C7-5EC07B11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Taste positive share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F74B45-4B8C-43F0-9AE6-8115ECB4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3AC551-7F60-4854-9433-A6055E12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E005DF-7379-4B49-8A50-1019269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671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07365F-24EB-4125-97A2-39686890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14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135E95-A81F-4378-93A4-8A48C092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16BA0F-3F0E-4585-975F-7CB0D75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377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0EC678-E993-4695-A9A1-D9C894E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133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416652-0971-4D42-AF4A-709E8C48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608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C1E1DD-128C-44FA-BECE-6464FE22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364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4845E5-5D3A-4E33-A37B-4CAFF979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83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457900-A0CE-4DA8-B15E-D52E21D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774872-DA5C-4C58-BB91-EC5C3F9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56C70F-8857-4870-9C28-3B6089F5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C788526-87D9-4B74-BAA6-436BA46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06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8AD0FE-D27C-4BBB-9201-94DD101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32B669-37AF-42E6-8078-325A4E54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19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9E3D7C-EDEB-4E72-8231-FC3E75A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006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D531E7D-3803-4AB3-9E81-3E2BF4C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9020"/>
            <a:ext cx="1250156" cy="113538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D1610B-A112-4B5E-83C4-4048168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1885950"/>
            <a:ext cx="1250156" cy="17030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41F2E0-20FB-4648-A765-17C5E76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85950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7C6D07-DAB1-4FCB-8CDE-320F698A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1885950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7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3B6286-6176-435C-890D-CCCC57CF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CE9A33-E0EC-40F0-A358-7DBD8D0D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56044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089E95-717E-4FBA-97D6-AD8AFB3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A38F44-4DCF-4B63-8049-1BCAEECB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BBEC8D-3E43-4580-87A0-9E2763C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CE40B1-609F-4111-A66F-821FBC24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8345"/>
            <a:ext cx="1250156" cy="94605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E12F3D2-EF2F-42AA-B9A5-582B8A8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3305175"/>
            <a:ext cx="1250156" cy="4731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E8D2DC-A05F-490A-8DBC-49C9CEE4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305175"/>
            <a:ext cx="1250156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4592C8-DA2B-42EE-B257-B2325AF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3305175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9D8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870962-DC53-486A-98D1-3DE976F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68AD7C-11AD-4DEE-9EB3-8D41621D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74977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6695C5-FC2B-4057-B62F-5A2FFB0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25E87A8-7AC7-4574-B5F3-58141D1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B8FC36-BE28-4F43-B8E3-D8F5FDA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F4DD22-B4D6-4425-B49C-0A69F647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2005"/>
            <a:ext cx="1250156" cy="1892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D162FD-EC7E-400D-833C-C611D66D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4724400"/>
            <a:ext cx="12501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6657DB-19C0-4E46-ABD8-6BC2019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305175"/>
            <a:ext cx="1250156" cy="141922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2CC9EE-89EB-4D92-A662-A8CA7B60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2832005"/>
            <a:ext cx="1250156" cy="47317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5C59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BB271A-9C1D-4D83-ABD5-0D7835F9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34353E3-18DE-4A78-962A-2A4EDC84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D22E1F-D727-40F5-BD7C-1B12136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4695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4B941B-6F4D-482A-81C4-236EBD5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C629B45-7B42-4969-A3A8-4D93CA8B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5BD8BC-11C0-412D-AD13-A7C19C21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1250156" cy="94605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8FF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ADE12A3-A27C-4D5D-B88E-208F6ABA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343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34BEDB-A6DB-426A-B85F-6AD9529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B3308DB-6DB9-47EA-AB8A-B17DC01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8573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71F74F1-E71B-4EDF-9E66-49B1565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CCCA5D-7313-480F-B7A8-5A842A3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B55D2D4-C52E-4CD1-840C-D386795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06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C4DDF3C-A3D0-44AB-B2C0-6254E1CC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331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AD4F31-90FF-4222-86A2-011AD56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313B230-058D-41E9-B7C9-4C0D3CE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84AC91-8899-476F-8200-0FD7954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19" y="51911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934EA9F-A6F3-4A33-B1F5-423C7DE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644" y="5105400"/>
            <a:ext cx="10787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939236-4B94-414D-A10B-2E4A0A0E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Price &amp; Value positive share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510FF68-65CE-4A24-9736-3C7E2475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4996973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7875A-4E5C-460E-BA54-C37E14C1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9 — PRICE &amp;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A48E-D43B-4B9F-93D6-37CCEDEC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Value sentiment and menu price are different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6A48E-9284-45D4-8DB0-0B2AA1DF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90-day review sentiment on the left; selected comparable prices on the right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05DD-9338-4266-AAF0-C196E119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042DA-CA11-42AE-BCF2-4662D1DF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33F2B-7421-4615-A64C-FF5015C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968C-D3F1-439F-A024-6D82731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82CDF-C9BA-44CB-B768-49EDFE2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9A485-DA5E-4E17-9665-12AB171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669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4D210-6FFD-48A0-9515-5ED407F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1584B-E7A3-4D81-BE47-484CE41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669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0FB83-F62C-440A-A2EF-65B82741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614F3-C5CF-4974-88A9-869D240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669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23500-9FD3-4983-900C-1BBE171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E90C3-1632-4EFF-8CD7-07DB5643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669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6C8C3-1C47-4DCF-8802-A005208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AB339-9054-40FB-AE65-C0622B64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DFB1A-2A61-43AC-ADD5-A6A0C3AD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3F24B-D755-4506-B758-16FE6A43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479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ACF42-DE8C-4E5C-8053-090D761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6BFDE-860A-4D7D-AC12-D0CD7D1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E2234-1B69-48AB-BA39-5DE9A40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4E7C-6C67-4F7E-BE2C-9961C72D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479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4E2EE-C14E-4E1A-B831-0DF3C49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0A528-6607-44AB-B6EF-3CEE61B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7B998-DB31-4B11-95DD-8915AF98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B967B-2637-40E7-BEC5-2DA8D64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01EFF7-3805-4602-95C0-F1EB4D1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11EE6-483B-4B50-B6B2-CC39445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B1E27-0A02-490C-B7BA-23E5C828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40C00-4530-45C4-9043-071C610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813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E6F18-B9A4-4C22-852E-EB3DF09A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337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53900-7EEE-46E7-BC08-668B8EAC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813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F2568A-91D0-465E-B957-365C179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48096-2682-4B70-9164-69E8569C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813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E5562E-8A0E-4A16-9FC1-E67F97DE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55A3C-753B-47D5-8E78-1DC622F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50D5BD-4603-4D5E-BBD4-4A5F1475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F71369-3C86-416B-A3C7-F9FC847D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147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C3623-F51B-4328-B036-E19D13D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EA371-12DA-4C08-87CB-9A92CBBF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147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7A6DA8-CEAB-4F47-9454-8904E9A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702B37-770E-4DBE-B4D5-FCC292C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147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627691-1CAF-49FD-A9AC-A895D28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BAA984-50FB-446B-B6EA-3345789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147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054498-3291-4DED-8910-B0946B80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7A71E0-DE70-452D-ADE6-FABFB26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6087D-8ADE-4CAE-851D-8EA3508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E2F553-572E-45AA-A7C5-E91624A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D5A3C7-F08E-4F6B-9694-339D22A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5485F1-B143-4FCD-851A-F8B640A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481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685FD1-E7B5-4DB2-9DEE-71FE70AB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66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D12C6A-2B6D-4FC2-91C3-C1EF49A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4812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5EA222-A4CB-4BDD-A1D3-527C65C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AF0FB-BD03-4EE6-871C-F7513322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481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D8355B-8DA3-444E-9888-5BAB9FA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ABA2C3-CDA3-46B3-B204-55958D9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66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CF033C-3B4E-442A-95A0-88E852B9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737BDF-BE6D-4358-8797-D655137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66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BECCDD-000B-4946-8044-E28FF6C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507C4C-99E1-4809-BA14-F508C41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669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CC6BCC-CA7E-4189-B981-1492CC0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00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538D31-4A17-46C0-87CD-95EBD5CC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0669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B7FF8B-8B97-44A1-89CA-5D75BB9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0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496BA1-DE89-4A07-A2FF-4F625311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47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2F2BD2-B9A4-4B80-96E7-082EAC6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0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17AEC1-FBD8-4749-9DD9-6801089D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4479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C5CDF4-67B7-42D5-8872-166EF19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003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948A2B-4FFF-44D5-BE14-70A9FFCA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479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35F6B3-CD2F-4F82-BB03-6F12413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03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938911A-C5EE-4FE6-A599-32D7909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4479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B9F201-7F38-475C-B45E-4D842FD8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19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46A392-448E-4C8C-8A2F-3D703606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67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E980CB-84CA-4184-B61B-A2A059B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194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DD6A1B-4B84-40AD-A961-FE6333D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670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04CA8D-E5B8-41F2-AF62-C04CCC4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194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EE9E40-E0B3-4280-BF9E-D63966B8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670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2FCFCC-AAC8-440E-AF15-66E48FC7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194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3A27AA-E540-4E63-AFBB-4DBB871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670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9DC8C9-CF1B-4D15-BAB6-5B5B3985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B427FF3-80A1-4FEC-BDD4-367EFA04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86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8C180F-8261-43AA-BB4F-D72AAEF9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B84DF2-3185-4875-99F4-330DD379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861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CB073E-C7C0-4BA1-BF53-CF8EE229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2F5D87-9CDA-4AD9-AB84-222DA1D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861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D3545E-FB83-4BE6-994D-B4CA75C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385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6B1859-0603-40DE-A225-DAAF8B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2861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D4AC6F-44FB-497E-9501-53339C25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57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386A78-2B56-4C36-8513-FD38623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052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0B5720-19CA-4E54-A5A6-82E3F404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D48B785-A387-4100-A98C-D3853D4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052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573F244-3B45-4685-B18F-68AA703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576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EE5FAC-D3BB-41B4-BBD1-A5C4F5B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052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B250625-576C-4367-971B-6958BB8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576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1255D0-F0A2-4C2B-98A8-AFB608F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7052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3CB6FB-9DEC-4538-A614-AA37C78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76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CDD332-0610-4317-8431-E9CC212F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243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C62172-5FFC-4C59-9AB7-E9A0EDB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76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EF353C8-B200-45E4-B12F-25B5191E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243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F42D0D-59F4-40C0-ACCD-3BCE0AC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767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42519E-BD0D-417A-991E-2D8D389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243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834FE8-6F26-472B-BFF4-5ABD1A17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767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29539B-AE78-4B0A-AB91-6A00ECDC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1243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AAE79DB-8F09-4959-99B6-2BADBB6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95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15AA5BE-63F2-4AE3-9CD8-ADF971DC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43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895E37-DAB2-4264-BF48-9F59969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958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E8207EF-CBCB-4470-BEC3-AA381A53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434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C1ADDCA-A5A8-49C9-87DC-1E349CBF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95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BB9DB9-6B65-4E77-A618-CB33A45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5434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04B1A1D-E2B5-4927-81B8-822B10C3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958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A015033-D12D-44C8-83E1-02A68C5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5434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E7A6ED4-D3E3-4443-A0DA-0D51FB6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14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F58FA35-5A9A-4014-BCA2-B693580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962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BFE8940-2466-4A8A-83AF-F61D2D0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14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7E960C-36E5-49A8-9C04-54F6A14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6252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4D78886-0B30-45D6-893E-83156884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149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FDB93-0C8A-4948-A36F-286E2CC4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96252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08F80F1-A973-43FA-88AF-33D2317B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149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655C397-80C7-4569-B94C-838C576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96252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00B2D43-B567-401E-B7D4-035430E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5429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A5F7B5-C2EF-4758-B4FA-AA60BDAC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42EE1C3-0EE2-4F1C-8B37-A9637AE5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Lower price is not automatically better value.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DE7BE9-5139-4B67-8067-E8532B8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Price details →</a:t>
            </a:r>
          </a:p>
        </p:txBody>
      </p:sp>
    </p:spTree>
    <p:extLst>
      <p:ext uri="{BB962C8B-B14F-4D97-AF65-F5344CB8AC3E}">
        <p14:creationId xmlns:p14="http://schemas.microsoft.com/office/powerpoint/2010/main" val="13059581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422E0-3BE7-4FBB-B528-56479B1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11 — KITCHEN VS BAR / DRINKS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98B24-577E-43E5-AD1C-6829133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Kitchen vs bar: Olivenzweig has the broadest observed drink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93135-FED4-43AA-A1A5-FAF085A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Menu size and review attention are separate; neither implies sales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9C34-1526-4AB4-AC35-75898C3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13618-D93D-45D4-B809-DD1922ED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2A3D5-9A45-429C-A8B4-4D3982A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17F68-CBA0-4FB8-8BEC-80C724B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F8715-F3E4-4AF3-B78A-A5B148D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F4CC-D6C3-4E70-8EB7-D2B0580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Food 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FD927-8AAB-4BC4-918E-82D8CE98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FD87-FA4B-4691-B8F8-1677F9C5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145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Drinks menu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74BB1-BDA7-4459-BF27-1BD32CB0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24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10E4C-F78D-4354-B079-913C51DC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907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Food 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090AB-15A6-4116-B30D-06BA9F2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24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C9AA8-A82C-41C0-B9E3-0AF17A07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907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Drink attention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AB3CF-F780-4138-84ED-A70311C0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80FB5-6AFD-49B0-AB82-F455766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9907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3FE5F-AEDE-4CCA-9579-9F9887B7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29523-07D3-4024-83F6-D1B7D8F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1B9F9-1789-4867-A692-879E6CA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326D1-F661-4153-8DC4-10CB2A7A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717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5E00B-88AB-4E86-94C4-5584EEF9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07C8F-39A2-4E52-97DE-A04F9A2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717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D0B8B-FCB6-4384-9C4B-0A06BFB4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24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0C53C-8698-4431-96FE-EEA27647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371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 · 81.0%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80B36-969C-4F8E-A4A9-056F4A9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FBECD-4E76-496D-97E9-58D9284B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71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14.3%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04D13-BFD7-4858-AF37-55F9F792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241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FAF75-54C7-42E1-8BB5-8B9719E7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717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E922D-047F-4132-870C-81B4760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A6BD5-3E8D-4476-919B-8874BB6C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4F9130-0724-41A5-819A-E4AFDEC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101DF-F2BD-41E2-A2CB-20CDDC8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813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155877-EA6E-413B-BF99-CEC118E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FEDD75-A595-467A-BC99-425CA0D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813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34509-B086-4710-A74D-B3B84EE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337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8C1FF5-DCCD-461F-B761-ED792BB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 · 69.7%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7C06B-D9D4-4594-902E-EC5AFD5F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71F5C-5E55-4B80-A2D7-9076D03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3.0%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99B418-30B0-4218-BFF5-8DB119CD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9337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EE65C-797D-4D41-AA92-A6BA706A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9813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F99B4-6882-4AC7-997D-13FD9099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105475-C0FC-4296-BF28-D49C73C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50D9F2-7A9D-4591-A816-C2CA078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DC7FA9-C10D-496E-B124-24938F5E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909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70A7B-543A-44E1-97FA-56A469B9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3809E3-95D4-496D-934D-9235BDC1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909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6898C5-1B64-4733-A330-FECF5CB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43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5566F8-9B8B-4F3A-8CC7-65B0192F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90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 · 68.9%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8CB1D-B332-49BC-A017-ADFE083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43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9D1BAC-7B65-4C9E-8EBA-DB53DAF9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90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B089FE-F06F-4536-8A82-EAC43FE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433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CCA88D-975F-49D7-9779-91074087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909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30DA4-3C3D-42ED-B735-A7378CE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529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B2BBFD-2A16-4C27-B3C7-CAAFBBB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5651D8-C324-4C56-B065-7FB0AA6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BA1152-FDF2-4092-A4D5-B7BE62B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00525"/>
            <a:ext cx="1314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642C56-1ED7-48CC-9D17-7F668A2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5290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921CFF-5FDB-41F4-B45A-7CF09EB7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00525"/>
            <a:ext cx="1457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0DBB22-1899-4934-909A-95ED4F99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52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A11275-4823-48EB-BF6D-E7147B8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00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· 100.0%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A29FD9-8365-4FD5-B160-2BB024C5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9EF340-3723-469D-859E-CDAB7CA9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00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FEC035-3BC5-424E-AEB7-1D18390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529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38DFAA-A405-4FED-8795-BAE18EF5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005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BBE11E-ADDE-44B5-84DA-21BCF4B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858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B24DA5-8647-4656-8908-B3DDF27A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1631E1-34F5-4BB2-90FD-85328D28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055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Corrected Al Assiel Drinks / Bar count: 34 items. Olivenzweig: 48 observed drink items. Review attention must not be read as demand or sales.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C54141-83D9-4CCE-BBF2-45EB91B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7086484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2E982-48C2-4EF2-975F-F98A516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12 — BUFFET / BRUNCH / SPECIAL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3F2E-95A9-4F97-BB9A-EE7ACBC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Concept comparison: buffet is not the same as brunch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1D3E1-0C54-4412-8FFE-33F5A71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Different concepts are kept distinct; unknown remains unknown.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2E09B-A202-4B68-916E-0F7FB8B2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4F684-09AF-4E33-9A16-085E851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A9264-2CA7-4378-88B8-CC2CB50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A1D71-005D-43D1-8BE3-274DC35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335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92817-F4D6-474F-A13D-4E1EF68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669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9336C-9E35-41E5-BDD1-EFD6AFF8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335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8FFC6-FA59-4800-BEA1-A3A58E3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B4754-14BD-4538-B5E5-56377616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335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2CE6C-910C-47DB-8533-B255424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3476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4D9E8-A198-4095-923F-9BB1193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33575"/>
            <a:ext cx="3362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reading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25000-78BB-4095-8FAD-A5CF130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669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FD151-5812-4B3C-BC78-8A2E0BB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335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8CAD-9432-4529-A5EA-5A137982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669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EE75B-2BD3-4DC8-A13B-8D19688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145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A4D53-BB8F-4FDC-B82F-DB73325C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F0CD5-0EE8-4C53-83B4-E26FBB57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145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Buffet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00BB6-43B3-4B1E-BCE6-FEFE52F3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A17CE-3206-4BFE-9AEF-2D80C0B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145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Observed concept; not a menu group total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C5A53-A054-45D1-9065-38FEE75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229FF-102E-4584-96BD-962763A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145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Broadly positive overall; subtopic evidence sparse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C1B53-B840-4FCF-AEA7-940DD6A2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669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51885-537C-4704-9171-DD4F71A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145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by subtopic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E08D5-198D-4B3C-8BCC-1777C685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46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E45768-5734-4941-B240-0550C0A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622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D0F34-2D4A-40B0-B38D-78F722A8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146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E4C10-EBB0-449B-8BAD-A73BEA1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622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Weekend Brunch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FF106-A712-484E-B9DD-F178369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2BFCDD-CCED-4D58-B830-C6B8D65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622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 observed menu items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60AE9-4FC8-4E68-BC55-1E81E5EC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AD5B2-9268-4297-89C4-AC4747E9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622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Separate brunch offer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AC4A5E-7B7C-497E-BFBE-7F461ED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146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BA2493-2996-455A-8807-92390D73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622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 high; review signal limited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DD92BC-AA8D-4FB7-8A81-D7DCA1B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623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C46B1B-EBBF-44DC-8F21-0DB72C5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8F914A-3EC7-48D6-BB55-9A67C701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623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648722-EF48-4A9C-9F8E-AC95A244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099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confirmed equivalent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B3040F-CC90-4238-B5F4-E1E56C98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442170-335D-4C44-A96F-1024730D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5C85D-7CA5-4DD1-87C4-8BFEF81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F23337-52F2-4C1B-8E26-16293DA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99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forced into comparison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87276D-85E0-4053-BF64-EB49F75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623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4AFB9E-2EF3-4684-9F1F-F6C0251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099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04A426-FAE7-4DF3-81D2-2C74818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52F7EF-80AA-4280-92CF-8BDB738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57675"/>
            <a:ext cx="1600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B6E27B-3781-40B8-9EC6-ED3B3E5F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A86857-BC37-4C69-B555-C4BF321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57675"/>
            <a:ext cx="1790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Breakfast / sharing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41F20-BE98-4492-BAEB-32C92320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7A2BD6-331E-4C39-9DF9-A6DE43F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57675"/>
            <a:ext cx="2266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breakfast; 3 overlapping sharing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8ADC70-41CC-4413-9891-005F2A16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8A06F1-3523-4347-BBD1-838524B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3362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labelled brunch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5C8AD0-E512-4F3E-9217-ADD77AD5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10050"/>
            <a:ext cx="1666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0F608E-132B-49D0-AE6B-47F688F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57675"/>
            <a:ext cx="1552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 observed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1D1154-2213-4582-A1D9-F83478F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09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494A01-83BA-4BF9-93F7-18CD1481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1921E4-26E7-4575-9B4B-E2C45EF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 buffet wording: “Broadly positive overall, but subtopic evidence is sparse.”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E92653-DDCD-45A1-AE6D-B07970E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9067456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F0271-C85A-45B7-95A1-0BEF6C2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13 — MENU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F4F8-185C-4F33-89AB-643F8E6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Menu structures differ materially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B0AED-642D-4D02-8F1B-071BF28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Observed menu snapshots; overlapping attribute groups are marked and must not be summed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E39A6-7176-4BA6-BB70-722CCBF9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4D61D-CBDD-4294-81FE-7A94E25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65D80-290B-43D7-8432-F18FEC90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3707F-77D2-41A0-A680-4413704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Normalized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40475-0391-41FE-A0FF-0F9BC532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5AD74-48A5-4DA4-B4D2-31A081D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A5F69-FFC4-4F05-ACAC-BA15D98A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E2536-9E6B-4B2A-87D1-6F670066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79716-3386-40F9-AB8E-6550C7B1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CDA38-A3F3-4FF9-883B-390A34E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842AE-BE05-4880-B7E4-3F75752C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B1065-B5C3-476F-A1C7-EA24B5B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192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B0653-11F4-4BE4-9CFF-B7E63986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60537-9D43-44CF-B829-14BDA88B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Starters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A4CC5-A4E4-44BE-84D2-656937D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5CBCE-0CCC-4888-B80C-021F0E87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A3E4F-0B1B-414C-83A3-A3DC921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48E19-272D-433A-8A93-396ADC73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AD072-3135-445C-92CD-EB2CB9A1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E8C9E-E53D-4268-9719-BC60015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01976-4BDE-4CC7-A7BA-8729993E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963C7-145A-44E4-9112-DD024E9E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02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DF43A-3301-4C29-BD49-CAE323F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3B58B-0F06-413E-8712-02AACB29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9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/ Meat Mains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20EA2-E299-4992-BCF2-E7B2960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5EE72-4172-4979-90F7-1DAC0AF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0FB7D-78EB-478B-ADDB-57FA796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470B9-1FB1-4D0F-A4CC-DE71166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9B20A-A955-4824-9939-70FC399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8CC48-8EDE-4FC2-900F-F4167A52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4BEF5-8257-41CA-8A5B-E6C1CF9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8B121-13B5-42B3-80F2-5CE8092A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4FB29-C90E-4CE2-AD44-163A7D93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577072-0672-44B5-9DB1-C9158921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194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Other Main Dishes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2C396D-BF2D-4959-B33B-00911C5E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5748E5-27E2-4E81-A1DB-6D94CFE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ACCEA7-561F-4465-90C8-1744FBA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77E6A0-3B03-442C-9E28-93733DE8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69AEA5-0D4C-4258-94CD-ECDA7E4A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50C99B-32C4-4468-B21C-7DC66EFC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3F95BA-42F4-4A07-9DC3-2E2DBCE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456A28-7F25-4CA0-9012-4331E1B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194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5153FE-F126-43FF-B8C0-5AC029E2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E4AFDB-0CB8-4A75-800C-702E6C0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29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Breakfast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B5F17B-4620-4485-BA6B-0A5B6917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B9CB15-A4D6-47A8-B3C2-0C4D78C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87C21E-8B3A-4F60-BBBC-EFB406D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D5600D-43A5-4DEB-8E81-9F748CA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E26AC9-F150-4DFD-B156-504ED448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1FEBB2-5D4E-4EAD-A4AA-4B35A05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54D4C7-A64F-48D0-8DB4-B796DFF1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FD9B3-D53F-4468-A40F-D8C64832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404273-121F-4030-99F5-5EFE546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0547D3-C298-45E2-8558-EBB378A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38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Brunch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538E42-483B-4516-8142-5DB7CF1F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8630C6-8984-46EC-891B-B6B7D1C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D98FFD-8A59-49FF-9947-61198711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8A8F5C-A180-4B7C-8924-084E7E3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964237-44CF-4EEB-BFA9-45B8257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02E6EF-94BF-43B1-AA90-A8B082C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69A079-F73A-4554-B316-81C4362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3C0776-560E-4AA1-AABE-6C035E86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DAC028-5984-41AB-BC35-7578C24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A901D4-378A-4224-99B6-674EB57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48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Desserts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003F45-C83D-4547-8277-B6901448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D9B436-798C-4C8C-A4AC-CBC1FC77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96C84C-1D82-4243-A8BF-25D71E0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D6772C-C372-4CEA-98EC-44F9F4D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2EB8A3-D000-4AA6-8F68-6D81FA4F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B53218-4BDC-42AA-8AB8-C97A668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44B174-0F18-4943-A597-B6F54FE5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32E276-8E74-4BA7-AC61-543411CB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481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C829A0-AD05-4977-8E5D-EAF68D1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FB23A7-666B-42E8-9B00-386C435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577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Drinks / Bar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A70BDD-7896-4F0B-B65F-7796EBB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4B7E3B-1D91-45C6-BC6C-630BD10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717330-B1F4-48A5-A1BA-0AA574E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73693C-2ED6-4536-B8F4-C10D24C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ED76D9-418D-43E8-AEC0-4BFA70A3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6C6F4A-9FB2-49DA-8950-EC1EB49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58AD96-2322-459B-8446-A1D1CC8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4C62AA-1753-4FFE-9DCB-DB476D7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577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3F5EF9-F245-402D-9F53-CDEB0226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95A324-EA6E-45A2-AA03-81416424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67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Sides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4E1CB5-C92C-4FAA-9F88-E24BB8F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C7F9539-A7EA-46BC-98BC-8D4C463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7AA642-A927-4C05-A904-5161A06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C69518-5E50-4B7A-BB33-0BAA53B4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EC85A8-5E04-43ED-8E16-2718FDA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FD625C0-1D49-45DE-8B3F-B47D1D3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13F0A3-FC31-41CC-8CD8-6016C47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C267DE-CC92-4C77-8DCF-BC35C39D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9B8693-26E7-445E-B71E-6E63BFD1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FAB218-B30F-4459-B96B-1191FE3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768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Kids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320303-14FB-401C-83E8-E32F2763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999870-2BCE-4830-B92D-F0841E17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9B9627-10A7-443A-A278-4C5EA93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B9CB8B-E700-4297-8A3A-F8C2F3B7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50754DE-DB94-4D86-B028-D36A640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D91AB5-0403-447A-B585-1317BEA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18CC98-C348-49B5-8E36-0E478C5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29250"/>
            <a:ext cx="2047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FE672E-E366-4730-9994-D8B1453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7687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665DBC-24CA-4391-8922-083DFD0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Olivenzweig: Sides 5, Kids 1—not Other Main Dishes. Beit Fayrouz’s 8 source “Grill &amp; Main Dishes” items are counted once under Grill / Meat Mains.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B4583E-C9BB-4F8A-87FE-68586BB4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5331756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DEF80-DF24-4E75-B15E-6E1671A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15 — DISH / FAVOURITE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BC20-C474-444C-A74D-665EB758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Dish signals are customer attention—not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098B1-2996-4CC3-A866-DA9A4C9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Mentions, positive share and negative count remain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E4AB4-8CAD-4A5C-A2B8-1B47A8C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8F3B7-C6B9-4CA8-BF3E-532A59E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F2C5F-8FB8-41AE-858A-1E7CB83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29090-BBB3-4A36-80D1-F609FAD6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4F392-342B-4EA2-9C77-1355954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907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56A4D-FC73-4E85-BA16-8ABDF0D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573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375FD-5600-4A82-B428-9702D50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90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98A6A-9502-480F-8BB9-BB45EA90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573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F1005-01A2-451D-8525-AEDD860D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90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87C72-A8C5-4158-8FD3-8D0B3241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573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587CA-4F28-4C2A-85FE-1360D0E4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6B88A-F8D4-4555-A370-7178736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573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A7293-FCEC-4B61-BA31-9EFCF19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90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CF76C-03B5-4303-9570-455A47F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8573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4F937-6C7B-40A3-8993-1DEE963B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6FDF2-A148-4EBA-AD7E-36FA930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124E1-9532-4CC0-95D3-6EE5E0C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8AED1-51B7-45D2-9D59-811DA58C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2D93C-2A24-4168-9D64-235C931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4F38A-9120-4B0B-806C-A4B48A9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383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8AC43-E168-4251-B26F-EFF53E9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FCFDD-3108-4284-94E2-B155DB7B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· 33.3%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EDC63-10F8-49C8-B10C-4D2F6268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71F87-3FEA-42B5-BDCB-DA8A7FC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383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AA930-0423-4B46-9A32-E9A6817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67C5C-A7C9-4B82-8DA7-C3680B7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38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ED8B0-6C08-46BD-95BA-7D435E7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AE202-6FA2-45D9-ACBA-A5E214F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574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D37189-8234-489E-8779-16F5361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09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1CB25-8747-45E4-B7F2-51B68B8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574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F3E2C4-1B72-46EC-9819-0868971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098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F40947-5F46-4C97-A88C-57ED905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574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F3BC4-466F-4E3A-950F-38A40E1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098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59B53-FA71-4FB7-853A-D126019A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574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· 60.0%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2FB3F-5E47-410F-9A65-3300F443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130B1C-E77D-475F-817C-E27F029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574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4A8A25-4E97-490E-99E6-4A6DCFFD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09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98B305-64BC-499A-953A-24A3135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57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4FE7D2-3A80-4D6F-B358-CC26D53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088050-5E9D-4517-9669-64D25D47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76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145F1A-D000-4B84-8476-79386316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289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4BAF04-B892-4442-B289-044E5232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765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2EC93A-5AF7-4CB1-BCBD-AD2E9CE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289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1FEB05-06B9-4A3B-B88E-5FCACEC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33F44-1F3F-47A5-9C63-5D4A64D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289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B67740-E971-4445-BA93-D458EB4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765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 · 60.0%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6DD1B0-6BEB-47F0-B462-806A650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28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66541D-764F-4213-9ECF-0F095623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765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71DE25-C002-45B2-B334-D1FE933C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28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AFD57A-39CC-4E05-915D-B6E2F68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76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951168-0F42-4637-B224-78833C7C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66AF3E-B1FC-4B08-94FB-96DD5955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956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C28507-6817-49E2-A166-C19DC044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F70050-15A6-4BEC-9725-DB2468E8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956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EBB31A-5FA3-4ECD-A974-3ACDAA7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480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40A464-91BB-4030-9FF7-498ECCDB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956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25B735-A773-4AE5-A461-1173435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D564BD-B489-48BE-83D2-5F5F31F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956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40.0%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00ACF8-31D7-4F43-9256-61D00FB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7865EA-B0AB-4C45-8544-2D78B98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714016-BD26-47A3-93DB-A13FBDD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48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6442ED-5208-4BDD-9799-D963F79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95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67C8C6-77D5-4336-9812-1EBCD24F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7BD0E3-E1CE-4F79-954D-DD952226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147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64729D-87C3-485C-954E-3B27E53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671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F7261B-80F9-4514-A66C-0EC25C7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147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DCFB6E-E679-4CA7-B335-7B6AC336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671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F8E8A4-F291-4275-9DF9-D35614B7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147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5453AA-FDFC-405B-ABE7-97F9C8E5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64075D-BB53-4001-A0C7-5876150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147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 · 31.4%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A6C479-1F65-40F9-BD61-AC1E76E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671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CE7DB4-54C2-4975-AC89-D41CEF3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147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0D300F-64D8-409F-94D6-5024686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67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36B05C-F656-4E8F-9BF2-35F09B4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0353AD-897E-447F-9E62-695803AF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28923D-616E-4278-B9EE-64A04A2C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338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260A72-4B42-4FDC-ABB9-F64DBD2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6DEA59-18D0-48DE-8958-F6C0418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338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CA2A8C-3306-437E-97C6-BAAB6AE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862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18AD04-11F1-4B14-A0C4-4CEF3C2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338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4BD976-0BD4-4FFE-99CB-5EABC844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D865F3-63D6-4D27-BAB5-93A1305F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338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· 50.0%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917DB02-2FD1-468E-85C6-A1FD29F5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86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4126A0-0AB6-444A-976F-2AA6028F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338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C78B61D-6882-492F-AF09-DBAC82D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86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B12336-7A18-45A9-B21F-E780231F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33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D92513-22D1-4F47-86C4-ABC9299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61434C-9DD3-41FD-B76B-E073C9C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529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C54F3D-6F0A-4415-9345-E196C241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053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D9968D1-9C35-4B96-83DA-224C6FB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529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7430A6-301E-4E8B-960D-64996F4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053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4CFF7-953B-4C55-8E85-B38B2C2A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529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5A0303A-8B95-40C9-BC1B-3AF2F22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480F10-0572-41C4-94EB-A557A6C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529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· 100.0%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1ACC563-1EED-41AF-A788-5EAD191E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05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0203CB-C8B1-4984-BB18-6C99A3E9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FAB05EF-E553-4F7E-A885-1536985E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05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D2527B-0E68-444C-8B0A-7BC32C3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752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213705-B6B9-4C1F-B59B-E10EF642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B1DBF4-27CD-4A61-BD65-E70C85C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72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508375-2BFC-4387-B624-58618B1B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D356BB-7A58-4AEE-B91F-CF0D8A0E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7207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Kebab Teller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FAF3B6B-7D71-4656-8507-6F9770D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244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FC2198-134F-4DE8-96D1-5A78BBF3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17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488414-C23D-40D1-82CA-A62FA94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24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0127248-1903-42BF-9C72-ABCFEA76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72075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54F18EC-8EC2-4A2F-8CD0-ED800A6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244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2D62298-FDAA-4FF7-BF39-4A82610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7207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1F3EFB7-78F9-47D7-9B51-24AF3E72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24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D7E6436-1585-441A-BE71-D9B3E8D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1720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BC8C7C-CC9F-488F-8FD2-F50AB09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A77C21F-8191-4AE6-8151-D5889E0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058AC27-91F6-43F3-AA4B-71BB8A6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9120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Example guardrail: Al Safa Baklava has high mention volume, but its positive share—not mention count alone—must shape the interpretation.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284BACE-3D08-4793-ADEA-513001E9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Dish details →</a:t>
            </a:r>
          </a:p>
        </p:txBody>
      </p:sp>
    </p:spTree>
    <p:extLst>
      <p:ext uri="{BB962C8B-B14F-4D97-AF65-F5344CB8AC3E}">
        <p14:creationId xmlns:p14="http://schemas.microsoft.com/office/powerpoint/2010/main" val="16737436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87828-B635-4906-B829-C990729F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16 — COMPETITOR TASTING SHORTLIST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56CF2-83F7-47F2-B314-B4AC3D21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 data-led tasting shortlist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C1252-8B38-42B6-ABF0-47C70B0A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Candidates combine review attention, sentiment, recency, menu position and separate platform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E7576-8428-4139-8BAE-1DD021D2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879BC-69D0-44B7-9CBB-3EE7AE3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8B881-3BE0-45B6-BC81-3CB2CC2E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CFC45-6CDF-400A-AE19-7CBAD09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EC9A-DD04-4E7A-867F-A0AECEDE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526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1688C-BDB2-4CC4-BA2B-5BB7B4E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192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41563-A6A8-4D23-859A-37F6C991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52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9A8E4-D13F-4989-B293-ACE1FD79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819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3CA88-66A5-4D85-8B83-1F21631A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526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AA958-A6AE-4321-9E1C-028AF9C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192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share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2C6BC-7E0B-4845-97B3-8800127D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15D5D-675B-4CE6-B1EA-CD6A7DBE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192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C7565-94B3-4D36-9022-021BF90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3401D-CC77-402D-88D7-BC0715E9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19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EFAE9-8EBE-475A-97ED-D9DDBF6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52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F2CCE-B9EB-4D29-9F78-013F5FC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1927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CC4E0-14BE-472A-92D2-851234B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B8247-F4BC-443B-B1B8-A06D810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0F908-E89A-4BCB-AF34-EF94CDC0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52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57F5B-B483-445F-A0DC-E9D7409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002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0DABB-DCEF-40B2-9B94-F1B9D00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52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17361-E7CF-40EF-BCE0-B11E7EB7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002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F1F6A-42C4-4BF8-B594-BA479728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526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AF3F0-39C1-4936-9D48-BAD8601C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002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EBB0E-A882-4EA0-81D9-6C8EC97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6649B-D8C0-406E-B047-34495602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002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3378C-C3D0-455A-9794-0A6D5B1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52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949E2-BCAE-43CF-85D1-C514236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002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88ADE-0C8A-40EF-AA17-FD57FBC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526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3C8774-4458-4F2A-9A2B-A297A641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002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2C4C29-12AD-4166-BCCD-9B609E5B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14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23D65-C58E-4E5C-9C28-4E7AAA83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622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8258B7-DD1D-4EF7-A35F-B33256C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14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2518-5DA1-4259-A885-D30EF95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622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A8FB08-27F0-4725-8B71-01703BC1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69903C-4E2E-4181-B7EE-30C4FB79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622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D4B4A7-4C2C-4379-9F09-78ABD105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099C40-01AE-4071-BB1B-AB60B6AF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622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E65BF0-FABD-4453-8448-4D0F2712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146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EABE93-DFDB-4987-BC94-DAAFC7DB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622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B6064D-6614-4D17-8A05-1D0B834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146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3DC54C-D054-46CC-B5B9-5427CB4F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622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€21.90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2DC071-AA00-4C6B-A847-615AAA9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14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AC9EDE-5CA2-4337-A927-77AB0C98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622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D0C779-7DBA-4C6C-BC9D-62875AAE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FB58FC-BED4-4516-BCCF-3784606D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241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29783C-ECDE-44B2-91A6-DBDE2D8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A555C-CC13-4237-898F-92D8872B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241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B71D52-B60D-444F-8CC9-05027D8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65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F2D92D-A1BE-4336-BEE7-648143B9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241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CABCA-3B5B-41A3-AF5E-8B9FAE4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D6B33F-9053-45C8-A5DF-64C8F42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241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B7ADAE-FC7D-4DB9-B828-B5D6AB4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CDD118-9A94-47B3-97B4-EA21782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241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9A4BE2-9C6E-4D9D-8BD6-E619232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765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741A4A-1E52-418E-B263-335DF776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241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B3E147-C805-4213-9416-3DF92870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76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1E8E51-9290-4D74-96A6-5D1A7A9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241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F98020-E2DC-4803-87D8-5FFAADA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83749A-61CD-4F56-82ED-9117E89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861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DBDDE0-D45F-4026-97E4-2CB6946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6A848C-5410-4AA5-89ED-0DDBCA6D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861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623758-5749-4AF2-9D86-70E043E2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5CC311-852C-4FA4-BECA-AEAA9D4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86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4208B2-DB58-4D2A-828F-8FF30C0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85283C-4809-4A8A-B991-C6C5441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861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462A25-A195-4D10-85C6-4B5D20AC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1EB7C4-1AEB-47FE-9925-F0D08C68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861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A01332-6131-42DB-9A08-E221B5B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BBD12B-7816-439A-9F40-10C44FC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861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5E8E4A-B4BF-4AB8-9D1D-4F5718BB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B363A7-3B40-4FE1-BE34-F0CBFD7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861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AFC64E-16AE-4BD0-8103-10371B8A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549F0E-AE8A-49F2-A236-08359D4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480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6EF60F-A9BD-4723-B506-17F9BF94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F75720-B68F-42C5-87B0-FC577E05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480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E66C5B-5F18-4EB2-9A5A-80650D62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0EAF5E-45FD-47E5-AFF2-4073ACFF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480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2A7644-B823-413D-B20C-06BA9BD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00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8171ED-ADB2-4472-8E67-5B9EDE0B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480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518783-08DD-422D-83A5-91C35DA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8C4EE1-C031-42BF-95B1-C5AF571B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480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D89839-65E1-4CD3-94F9-D69286C9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4EE42A-C706-4BF8-A3A7-8493936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C05FD4-0393-4A3D-AD06-E21B403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4ACD4A-35A7-4F2F-9068-B2178BB4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480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BDB57F-AC8E-4BAB-856C-BF7A0F04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624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A22CA1-C101-40A1-B80B-2B47E71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100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2F607C-AD3E-49B0-983B-6DAF6F9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0549765-8B9F-404A-8D72-171C9583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100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 1 Person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AB76B5-398A-4BF4-A010-96FA6A7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624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2F3671-1A15-469A-B37D-CA489FBF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100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476F26-16C3-4E8F-A8F7-BC77611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624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ABBDB4-81C4-413A-B3EB-9CE2BB4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00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1ACD39-7805-4F33-B37A-4087E081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5AF30E-EB7B-405D-8D69-C99FA1E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100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4E3EC9-9DFE-4D00-BA19-F6B3716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624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21A87A-5C6D-4363-A5C1-4C92AEF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€28.50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B7CF12-0517-48C7-895D-02A9EBBE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62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9F62A0-5ED9-4A4A-9A65-76C98D3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100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D8D2CEA-2BC6-4215-A9EC-B8FE238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5D70FE-114E-4234-90BB-9194ED5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19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031EF1E-9B71-47CF-8719-2907A04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E63024-56D5-458E-A24E-A14C38E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719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6D664C-2CCF-4FA7-B9F5-78643368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24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1609DB-AAA3-49AD-9BCF-FE80875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719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409FBB-5DE9-48CF-9D8A-ABDB3A91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243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50034E3-9415-46E3-8AFE-D5D74B08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719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8472CD-65F2-4D01-9C0B-A3150227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243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A6B67A-03E7-46D6-9254-A49E036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719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597425-90B9-47B7-90E9-BC5851BC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CD12853-FD93-402E-9AC4-F10762A1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719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€1.00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A46587F-BD99-4DE6-8F31-98B7F290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243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0605665-B036-4B1D-B61B-C4542A2D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3719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2E8B77D-763B-46F9-8671-C96A99A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1805F28-55B9-488D-A822-0B9B669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339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F2B37C-498D-4739-AAEC-8DC84C9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863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09AA021-0F7A-4EFA-83F1-5508079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339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Ayran 0.25l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1838808-4C59-44D5-8BD6-BF6C9E8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A11728-8176-475A-8108-FBDCBDF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339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069A038-D109-4C23-B843-9B91F720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E788B0-FC7A-4996-9BB3-1E975E26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339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61.5%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64AAEAC-E538-484B-8882-FFD2D503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1E8CD56-ABBB-4688-AD5B-9B6F8012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339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7DBA68-8A72-4073-96FF-537F73B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863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2FF5A90-07E5-49A2-B592-61FF249D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339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65D0DE2-CC6A-4A6A-9AE7-F86931C1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86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7F92C2-872D-46FD-9518-E0094BB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339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554CFE-F620-42C7-87DB-6B62C1C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603CD69-63CB-4BE8-9DAC-5C75C0E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958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294C10F-20C7-4DD3-93F2-FA717CD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A524862-B148-4586-9532-CB830483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09587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Grillteller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7B2160-729A-4D53-A620-A81ECB8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8CE54C0-B4BE-45A4-8EEB-1E9DE1C9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958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60636B9-4194-416D-AE72-12A8BE28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048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1B4D0AD-5803-4AF0-BE2D-C4097C55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AF3E487-BFC3-4E65-AC9D-C6A0748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482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14F7A0F-09A7-41BC-8CE6-B690C88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00AF4A3-6CCE-46FF-B836-1592290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A2AF429-07E8-465E-8C3B-4F961D6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9587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€12.00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3D00D44-7930-4AA7-83FD-2C6C2079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E6ECA9C-553A-4F5E-AE6D-1398DA3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958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6D494BC-6E74-4B8B-BBB3-67748F9A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02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06002D8-9D9A-4D9F-9CB8-C6BAF041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578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9BE8D53-80C4-4D01-9868-D4FDCF16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102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861E67D-CDE1-4785-8779-0A2AE29F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457825"/>
            <a:ext cx="255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9AE0689-19B4-4B3A-AFBB-50AC0BF8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102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A7A612F-AC47-4B06-897E-0A6A1321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578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FDEF7E0-6C5E-4201-90A7-993EADB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10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A6EABEB-F5F6-415B-9C6A-A7840F0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57825"/>
            <a:ext cx="102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74D807F-F2E2-4DF3-8582-95D4FB59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AF25906-EBCD-48ED-83A2-C8406E7E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578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F8E6AF2-5417-4789-9C80-9A7BF9A0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02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CA06567-8AD3-4E57-BDFA-15ECD8B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578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E0037B6-0744-4956-9A0C-076FCFE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102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048E5AF-A19B-4C6E-90B8-BB73869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4578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FE2AD50-9FB4-4266-AFAA-A58915AD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666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A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C89AC5D-BA9B-4346-9B86-6647F9B7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Field-research candidates—not best-seller or most-ordered claims.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F5BA27E-EED8-456D-B0F7-09E469FA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3866040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DABA0-999D-4F11-A35B-B80E925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17 — DIGITAL / SERVICE FOOTPRINT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11775-B2EF-49D9-959C-26059C15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Digital and service footprints shape discoverability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2BE93-AF9F-4B16-860B-C7AED7E0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Confirmed, observed and unknown are kept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81949-66A0-4F03-A07F-70AB31B2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F8861-E16E-4CBA-B02E-ACB48CA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87D50-4D56-453A-9D2A-D18951FB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6E74F-ABFF-4D78-A162-AED321E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192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5D79A-2188-4D43-9C72-D72948FE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894FF-D2B8-47FD-A6D6-ECD99858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83D73-F821-41D0-AC9B-C4D3FBE5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D5F01-F795-4A33-8CEE-C765F21A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BE8F0-EC5B-4B5A-9728-59F7331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956D2-7169-4D1B-8F35-FCF7141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1190A-458F-4FB3-9706-B7B89C6E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26366-F511-4347-9C57-37EB49E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192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BC805-0A04-4987-8999-207AAD7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EB25D-63FD-473F-B429-3B16102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02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Official Website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776DB-2A56-49E2-A66F-260AF1D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925C4-487D-4085-86D5-049A03C3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https://www.alass…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B7C7A-C728-4B67-B12E-195861A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13E58-A7FA-4F46-A583-2887969F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https://www.olive…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FB426-68A7-4CD2-854B-913CD66A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978D1-2252-4C6E-8565-B71E636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https://alsafares…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4311C-C787-4FD6-AAFC-CF450A61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52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928B7-A53C-42BF-8C8F-AD99633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00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4E364-2C2F-46B4-8326-995300D7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2CDA5-E852-4B70-B19B-B6CA421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9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 Completeness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0E37B-1B36-42D4-AFA4-DBC40DB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A6138-AE53-4E54-BF4F-09BBEC7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365B1-FA2A-46E5-BA2B-C1E411C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6B31F3-E156-4353-BE15-500AD49D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B8A9E-F822-4629-AD8C-8BFA927E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9E4DF-3F7C-4A84-BD33-80818CF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F52CC-3C95-4968-B9BB-80E9A6E7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62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7CE22D-7C7E-49A0-A36E-4CB34FB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09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stored_snapshot_w…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3F5E95-D07C-426C-B0B7-CC83599E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CCFC4C-9ED9-47F5-921D-7F8C279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194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45BE5-53AF-4BFE-91B1-EAC4EFD3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2BAE79-ECEB-473E-A492-A506B27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40ADB-5BAA-498E-BAB9-47DEA4D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30D453-4FB0-4B45-9262-CEEF3E6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C6C854-976A-4E95-BCC9-12A3133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B3697D-E6EC-412E-9AE9-B66A3C23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228550-7D7F-4B29-9A01-2C524F1F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7E4514-566F-460B-96EA-DD923AC4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0194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D23022-7492-4264-91D9-19F7B3D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F17B74-B643-4E3D-96CE-9AC88AD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29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B0536D-2A48-4914-B4C0-19990F1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D68DAE-7DA2-4DB6-AAB4-FE38709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92BE3F-78EE-4BE5-ABE6-A6B53B7B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1B107D-B6AB-4652-BC94-0E16467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ABDA4D-092D-471F-B9C3-7B04DB79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A4794-FB13-4CC2-9E81-CB2F7D8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A32355-3176-414D-A465-A85F951A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E557DF-CD5D-40DF-80CD-3CF98CA4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A0878B-8C20-4C6B-AD7A-A7AD7535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6EC741-3036-46C8-86E8-F27C2E50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385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Online Reservation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2934E8-C865-472A-8AC4-9B88C8F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E4E08D-F6D4-4F16-86F4-4856F05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C12ADC-96AA-4DD4-BCB9-85C67AF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AB3FB2-6A8B-456F-AF19-D44E9C6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D35B59-D17A-457C-A356-3D2DC3FE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43CBF4-09B3-43A4-95D4-2C14E2E0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D599CC-BC55-45A8-8ED9-5D25C26E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909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416DB2-BC09-4493-A62F-43FB967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385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8A5137-9EA7-408A-80FA-862AB286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A6E666-ACC4-4201-BE23-2856A3BB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48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16408F-4D0F-428E-8658-0F133C3C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32169A-8C63-469C-A585-500FE35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B82D895-6FF2-4E37-9A68-D91188D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431698-A63D-4F46-99FC-C9398A6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F2C81A-61AA-4C9E-BA95-BBC5F186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571612-24B6-4039-9308-0D58E5B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608803-BBFF-45CF-826C-B5AEE15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005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0BD3EB-E7E7-4FA7-BC0C-602CC615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48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CD0D31-857E-4C65-B951-512B4BDE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7034AC-5B10-4908-8595-5DDAB44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577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Outdoor Seating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F58688-32AE-45FD-925F-ACE84C9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1EFF19-1636-42A5-AC3D-D7E6F276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808CB6-75A3-4CCD-AA3C-0AA7D431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D511E5-C128-4EC1-B7B6-D01C9F3F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E8B66CC-7CD9-4A71-A345-57FBA68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C4CD76-79A0-4C89-A371-AD22D007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4C074B-A12D-4DFF-8148-0FC67DEA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01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083356-C235-466D-93A9-00E9FE8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577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4C4FD3-BF78-4D47-B0DA-F43F719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A59A4FB-FA25-402C-8611-651E38D3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67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Catering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37EF3E-4FAF-4579-B38A-CFDDCCC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42177C-715F-4396-BB96-60D86FD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2B9143-EF60-4CC2-8C5D-8A4F460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B4FDCB-C074-4E09-A4DE-BD04D73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3934A5-1A7E-43B2-9491-68592B9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DDD995-B81A-463F-8514-15C6FDB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755213-B7B5-424D-B0E4-A41C183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96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C02BC94-3714-4141-BCC5-CF4C32F4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67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D59412-06CE-4C4A-9D0F-F68B1A96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151500-20D9-4892-86E9-A0245527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7687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8E9636-0284-4B41-BD77-27A38A6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EBFB87-B57B-4D69-B5AB-22761F4F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1B2779-E906-4650-B12B-1F1AD9AC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57CA6F-F07B-4612-9A76-CED6386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CB3511-BF4E-4BF9-BE14-11387E2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B57A56-3532-427A-9A53-8B5A866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F4D6550-D08E-4156-95A0-C7C7315C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292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4A7F5F5-954B-495F-B639-2D17F53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768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5A12DAB-01D6-40D4-836E-194E8435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Unknown is not converted into false. Platform availability and official confirmation remain distinct.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FBA4508-BBEA-4944-A5E5-C84D61A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View evidence →</a:t>
            </a:r>
          </a:p>
        </p:txBody>
      </p:sp>
    </p:spTree>
    <p:extLst>
      <p:ext uri="{BB962C8B-B14F-4D97-AF65-F5344CB8AC3E}">
        <p14:creationId xmlns:p14="http://schemas.microsoft.com/office/powerpoint/2010/main" val="1881294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ECB38-5F65-43B4-8672-95E1E78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CHAPTER 19 — COMPETITOR VISIT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824F2-61F3-4F3C-B3E4-63D624E1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Turn competitor visits into controlled field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FF6B8-7C62-406F-BEA4-C223DFA7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Do not visit randomly: pre-select dishes, record evidence, then convert findings into one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579E-3423-49B3-B70D-815FF9A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93249-2ACA-465E-9B5B-80F80BA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C88F6-1B7D-4643-A4B0-24C1F863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76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 Select 3–5 dishes from the validated shortlist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  Include a starter, a main/signature dish and one drink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  Test brunch / buffet only where the concept is 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 Score arrival, menu, food, drinks, service, environment and commercial cues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  Record price, timing, taste, presentation and appropriate visual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 Discuss in the weekly review and select one controlled Al Assiel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0164F-095F-4579-93D4-7AE7E44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8BDA4-7657-4D29-AA2C-A695B33C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VISIT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8559-EE23-4D5E-9B3D-B0BA0B98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What to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What not to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One Al Assiel experiment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Owner · metric · deadline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36807-E4AC-400C-96A5-A9DF1BB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scorecard →</a:t>
            </a:r>
          </a:p>
        </p:txBody>
      </p:sp>
    </p:spTree>
    <p:extLst>
      <p:ext uri="{BB962C8B-B14F-4D97-AF65-F5344CB8AC3E}">
        <p14:creationId xmlns:p14="http://schemas.microsoft.com/office/powerpoint/2010/main" val="5067239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BE1AE-CC47-489E-AA2F-C0AA333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4A7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A72C"/>
                </a:solidFill>
                <a:latin typeface="Aptos"/>
                <a:ea typeface="Aptos"/>
                <a:cs typeface="Aptos"/>
              </a:rPr>
              <a:t>CHAPTER 18 — WHAT AL ASSIEL SHOULD INVESTIGATE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1A859-356C-4A35-88E7-D0B28C4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should Al Assiel do next?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35625-8B70-444A-92B3-E8EFC34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BD7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7E4"/>
                </a:solidFill>
                <a:latin typeface="Aptos"/>
                <a:ea typeface="Aptos"/>
                <a:cs typeface="Aptos"/>
              </a:rPr>
              <a:t>Five evidence-led moves; review the results at 30 and 90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F3D4-A22A-4748-92B0-AEC9B1D1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3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99FF-CCAE-4FD2-9F30-8455C91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91A4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88014-EC49-40B7-9D9D-968B2E1B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B086B-24F6-4079-A524-9A89274F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9609-16D7-42F6-937D-54D6660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192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Taste and service positives still outnumber negatives in recent topic mentions.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F78E6-9D61-408C-9DCE-48170773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68686-35A9-4A10-9C5F-A91DCF24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5E8E3-666A-4D6B-A9B8-F1D606F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Food quality, taste and service: 10, 6 and 9 negative written low-score cases through cutoff.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55A31-6D6F-4EEF-A970-09F146D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2ACD9-CB3F-424B-ACE5-A1F99317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A92F0-6B4F-4AC4-B23D-99F0DC0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194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service-recovery protocol and one food-quality consistency check—each with a named owner.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B690A-C9E9-4CB8-BB0A-5275842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19301-8384-49FC-989F-A04A4F8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F673D-372A-423A-980A-C97A1786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95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 brunch/drinks; Al Safa value/grill signals; Beit Fayrouz only as a cautious, small-sample reference.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7DBEB-ABB2-4168-9A00-77A9F04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87072-5535-467D-B84F-34BFE7F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CF5F6-0C2D-4567-BF3B-0F1EB27C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96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rating, low-score share, Food/Taste negative counts, response rate and reviews/week at 30/90 days.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1E403-76D4-4215-9619-896E797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 &amp; thresholds →</a:t>
            </a:r>
          </a:p>
        </p:txBody>
      </p:sp>
    </p:spTree>
    <p:extLst>
      <p:ext uri="{BB962C8B-B14F-4D97-AF65-F5344CB8AC3E}">
        <p14:creationId xmlns:p14="http://schemas.microsoft.com/office/powerpoint/2010/main" val="2001098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A49A1-59F2-49CB-902B-06980D7B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A — PERIOD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1C1C3-80C0-42E7-8143-DC123224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Period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D01A-B7AB-44F0-B36A-3C23CBD3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Identical boundaries across all four formal restaurants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EAA46-90AE-434E-A7D8-1A4A291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92446-B6CD-4BCF-B703-C8BB827D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F5EBA-1CB3-42E5-9016-6B44515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59DB5-DB25-4DA2-9E19-569D8E75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117F8-25E7-4A28-A3F5-D8DE4D9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E256F-0871-45A7-BC49-30450DA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05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34B67-5753-47EE-89DD-913675A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716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43BEC-E47D-4F6E-8889-294F3F2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994E-2A09-4ABC-A302-BEC796B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716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8034D-57F8-4363-9573-A4BCC949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F8BE2-9D8A-469D-A961-A16C0201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716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Calendar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37D5E-0D78-4144-8C81-64C8818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3DA1B-D6DE-484C-B071-6E8337D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52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latest 30d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C0ECC-CFD0-42F7-B883-83C28E59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05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179E2-FFE9-4945-965F-99A9684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52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2026-08-05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DAD32-7EF2-4E4C-999A-125ABE7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05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E5DFB-EA74-49E8-9401-7012EE28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52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B7BA7-04D5-4F6F-AF47-A9D9C72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8780E-28C6-45B6-9864-83C8E9F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52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CE17C-623F-4493-8869-FC7D8CDD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9DF7D-4C96-4D07-9FFC-8057D54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previous 30d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069F3-E31B-47DE-925C-CFF1EA3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76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E90A8-3806-4C62-85EB-9B5F090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24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2026-07-06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4D382-3452-46B9-AE9F-575B5DD8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5B188-68F3-4B1A-A14A-12B3384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24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2026-08-04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15B59-6AB9-4D92-BA41-E7283CED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B8531-7E99-478E-8487-5B29F68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241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1BE836-DDC7-404C-A57D-611A4E1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8B2122-6200-4B99-B7E1-7E868C20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95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recent 90d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50AE7-4D14-4F79-AED5-28BCCD1F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48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09A2F4-8571-4722-ADA0-4F6FDCDB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95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2026-06-06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DCFE9-1A35-41DA-AF6C-071485C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48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10543-845B-4FAB-BD91-F48AF6B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95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04C3B-1599-4522-9ED3-73BA2214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48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55D893-E608-49F5-9ACA-3B0D2FB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95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8ED17C-9DE5-4EDA-8E75-B4232245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0BEDB6-84C4-416A-81C5-4E2D7B3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671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previous 90d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D85D58-A71F-4BBD-A0C1-BFA0E31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19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B432CC-C691-42DA-8234-C3C62A4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067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BB482B-DDAC-4F32-BD2D-7CD132E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A2FC41-BC8A-4A2C-8DE7-2ECFF28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671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2026-06-05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0E59F2-CB46-476E-9BA3-3A0218A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195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1AF2D8-37A3-42B8-AB56-7A7EB939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671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7B3FCB-A294-4609-B91E-BF8ED9CA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925935-4865-4CBC-8A0B-28F4E67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38675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historical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BC3D49-8B20-4C4B-A1C9-61B346E8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91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8C164C-EA33-4822-AA07-DF30117F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638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Dataset start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54A1BC-2117-4B37-8AFB-593E64A5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910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F78D2A-2DCB-4B30-8B9D-770E385E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38675"/>
            <a:ext cx="245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2026-03-07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D128B9-FCF7-48ED-83A5-43920542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910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AE89B9-A5A6-4A67-A36B-502A203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38675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BBECF-0BDB-4C81-A3EA-075BBE2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4BB497-0181-4CA9-B3E4-3E6968A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C9815B-434A-4276-9179-AFCB9E4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Formal cutoff: 03 Sep 2026. Reviews after the cutoff remain in source databases but are excluded from formal competitive metrics.</a:t>
            </a:r>
          </a:p>
        </p:txBody>
      </p:sp>
    </p:spTree>
    <p:extLst>
      <p:ext uri="{BB962C8B-B14F-4D97-AF65-F5344CB8AC3E}">
        <p14:creationId xmlns:p14="http://schemas.microsoft.com/office/powerpoint/2010/main" val="13977919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37708-170F-412A-9F52-14584036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B — 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4881D-B463-433F-AF35-8C21A76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Data quality and source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C2706-083A-4FED-B0F5-CA5E164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Review, translation and menu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A8E0-088C-456E-A908-D41EFF3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6FFCE-58F8-4EA6-A97E-ECEAC6F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295E9-C87C-444A-94D4-9CB42CC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8A43C-4D1E-4FD2-87E6-1CF44E3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3D6F-6DF2-4E31-9CAE-B3B58F7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8D537-664B-4E57-AD16-408833E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846D4-72E2-4D62-945D-52FFE22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669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850B1-3B52-4AF6-8095-F677B93D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86862-9EEF-48D3-ADB5-48B6817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669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Written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E19D9-9831-458D-B27C-0DDDB34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8155A-131B-4F56-B194-23D8816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Non-English translated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0AEB6-A24A-40C5-8542-EF20F63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74D51-D462-4DFB-9BEE-8873F64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669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Usable text / 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75665-39E3-4215-9B41-B9833A23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F966B-3126-46CE-AEFB-C3E862F3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20D57-E398-4813-BF51-F339C1E0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BD496-BAC5-4519-B96E-EBC42AFA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669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7BAD3-CAF9-4A5E-AC58-C1445C3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0C9B1-A9C3-4636-8E4D-4E697BB9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F147F-6E58-4391-929A-0DD80EFB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003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42C88-0BE6-4619-B3EA-E0B9AFA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479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27D18-CC1C-4D29-8E21-192AFDD1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FD51D-E2B5-49A3-A737-88EC6500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4BE01-87C0-4EAF-8CEC-AF574C72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06C4E-22F1-4456-918E-3F62F93E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479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99.5%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6B0B1-E802-4CC3-8031-AF50040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8893D-2087-4420-874C-0BE9FCF7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479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73.8%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CC501-CF36-4AD9-8ACF-6E36752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F49ABB-6D04-476D-AA60-9699DD4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118 (118 priced)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E1E9E-3AA8-4644-804B-7EF20A5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003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825D8-CC48-461D-A515-292E3342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479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840F06-DD9C-4397-AA65-C19CEC5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478C01-2CE2-44F9-8604-589992D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A2E8A-F075-420D-8A4E-C4AA0B4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908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C16A74-B84A-455E-9B92-53B8C949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384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6CAB9-2E7A-40D4-85A3-90B5E4CA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9C5F63-BD39-49FF-8D88-4D6BA0C5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468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504F1-8861-4C29-B7EF-DD85BEDD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99E66F-7BDA-4DED-94F7-3E434E0C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99.5%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4BF0DE-4F47-4B47-A0DE-230963A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7E1E43-8D0F-478D-9734-3E8D2025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384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65.2%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B69186-0886-417E-A298-06038D1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5CC366-6707-49C2-8A5F-DD286BE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384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128 (127 priced)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EC2875-A8EE-4CB2-AA49-2457CA4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908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D9CFF8-44C5-4831-8295-3B96920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384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399F05-8A06-4D89-8F69-98CFEEFC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C8C1B3-0157-40DF-A977-3F1B50A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FAE8D9-43F8-4157-A602-2390221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575FB2-AD3C-43C2-A5D2-6F84CA5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290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2696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F57D2-F6EC-47E8-BD79-158589F7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CFF243-5102-4C9E-95E3-F5E1555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2902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1630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779F09-E61E-4AEE-B9ED-78FD54A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5A5D23-FF6A-4DF9-B43F-A820F65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290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98.4%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BB9C13-2D70-40F7-8537-9A86E56B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5EFB13-8866-4BF2-AFCD-40EDBBD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60.5%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A93D85-E287-4D78-B090-A6CDC5A2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E69AAC-A741-4F0D-B0D1-DB9A3DD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46 (40 priced)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84D77A-8F7F-445E-8C4E-6894B40A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814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7844E0-4CC7-4E42-808A-C5382C0B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2902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7B39E9-DDDB-4A8A-9F40-66101618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E8D722-27D2-4D91-B5F0-0E3831AA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5BD225-8996-41D9-8AAE-3D0FF81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775E7E-5DE9-47F7-BDD3-94CF41E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95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03CB5C-6BF9-484C-90CE-2EA9649B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AD6045-8495-44C8-9654-0F98B73C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9575"/>
            <a:ext cx="1028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C4A3CE-E749-4AA9-B1E0-8CE39012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B7F08C-F016-4B8F-A9EB-16EF907B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95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98.3%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0A8447-A5D1-4DC4-B086-011831F2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97032E-5F76-412F-A3BE-E3C6AB8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95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74.4%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CE99B3-F567-4240-9BE9-760A95A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1595C3-8A4D-4F8B-B265-3F9A845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9575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 (34 priced)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32DF6C-9A20-417E-8C19-43A6E9B4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719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6020E2-1CF6-49E0-A98F-1176DC9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19575"/>
            <a:ext cx="121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8A8B7D-9BFE-42A7-9CF2-946ABBD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B9D500-55D0-466A-B023-11126DE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84CA98-4C95-472E-A19A-048FC90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8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Translation coverage is calculated only across non-English written reviews. English reviews do not require translation.</a:t>
            </a:r>
          </a:p>
        </p:txBody>
      </p:sp>
    </p:spTree>
    <p:extLst>
      <p:ext uri="{BB962C8B-B14F-4D97-AF65-F5344CB8AC3E}">
        <p14:creationId xmlns:p14="http://schemas.microsoft.com/office/powerpoint/2010/main" val="1374396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596BC-F9BE-41E4-A664-FA54832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C — RECENT 90D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4CEB2-8509-4201-B28D-3DAE90D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90-day detailed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EAF58-539C-4F55-B710-A6C5BA6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06 Jun–03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05D6E-3D4C-4B43-9EFF-8973C76F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CFE14-AEAA-4296-9AE9-CAD485A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C348E-5C0B-42BC-A69B-ADB7424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945E6-2F1A-48D1-92CE-9C54BA0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526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81C33-BA91-4EF0-921E-41035F2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B91E6-2173-4ACF-90FB-5D54CA1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BD013-75F3-4491-93D4-DA2021A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19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90C48-63EF-45AA-9B06-9198B60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90B8C-8B92-4F5C-8147-E2886133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193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C2AF4-4FC0-4637-B467-B2D4B04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52625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994FD-40D7-479D-87E7-1E26789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193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 week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7006E-8DB8-4B70-A420-125CD396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BC722-020E-4BAC-9436-E2F611BA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193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5-star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F733B-CEE1-4DE6-AAEC-6A731176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F90DD-0055-40E6-8784-81C305A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1–2-star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21E8E-79E1-45F3-8F7D-0BA4C628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1240A-61B8-4131-9AD6-F3CC7480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Written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81728-3CC8-48DA-8E60-5847E12A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978E8-57B0-460F-8CA0-292B4D1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193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BF97B-457B-4F76-88D9-C0597D9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526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821F5-C78D-4C1A-BFF2-60B24F81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019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74E9E-4FBD-45CC-847D-86C3AC4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526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6D9B-A662-47DE-B4D9-8C5E169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6E71A-1757-4949-92C7-5975341F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526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3BBA8-E064-4CA2-A850-5996A00A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003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9268A-133C-42ED-9438-5BE3AE35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526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C00DF-8CA4-4F7A-BFFE-ECCD689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003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F99CE-821C-461D-9AC1-068EC0C6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526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A540C-2E1C-4141-AF61-FBFBAFA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003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2.178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63A0D-79AF-4039-B754-EE0FF5D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526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2E6424-E63E-4507-9E46-A21B71A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003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 · 57.1%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23AEA2-12F3-4987-B006-F1E1915A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98DC01-8E06-431D-BE51-EF07AAC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 · 32.1%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871982-0CB0-422D-97AC-028DB51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63ED5-214A-4394-9BBD-87BDA219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21 · 75.0%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C4CF4-ED27-4887-8543-7476EAE9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526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73EEE5-946B-4551-9C7F-6F1479A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03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AA8A1B-E863-49C3-B6A9-BB3B39C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526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1C503E-1385-44E9-97D9-9C7B3544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4003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3C1657-7A90-4419-A956-310304C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622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7C18D7-74F4-4787-9907-92F4D5AD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416C67-7B35-401A-8087-4085F695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622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5801C8-864D-4840-BA65-1DF74E4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099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7B3787-C6F1-48BB-8601-0E8D2C4A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622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F69064-2F49-4A9A-8909-406BE70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099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4.346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5C51F6-1916-4BF4-A3B5-EDAD7D6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622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0156A8-D08D-415D-8205-2BEEE96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099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4.044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9F81AC-6A1C-413A-AD36-671B4A4C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62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EF03D7-0C94-48B3-8261-5AD3553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99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39 · 75.0%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10E766-8BEE-4621-938D-B4A10AF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62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BFA5D1-107E-4DB4-BDBD-D7B3B68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 · 13.5%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320D48-7E4B-46D0-B9DA-B25616BA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2355AE-C57D-4256-800B-535E03E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 · 63.5%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7C0DFE-65DF-4F71-A0BB-9C3D10EE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622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B399BB-D995-46F5-AFCA-6EC6F1E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099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2DF72E-761D-4463-A3C8-237F4461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622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0E48D9-F461-4C1B-92A6-60DFC38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099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918CD1-D649-4434-880E-7DDAB6C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5718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803B66-5D05-438B-9C60-481A32C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66E726-CA94-4E71-ADED-C6FC116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718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CA09B3-8192-4D05-BE27-842A759B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195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EE305E-D366-4E7A-BF45-7A0D641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718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F81345-041C-4A94-A01F-EC7666F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195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D50F2B-276D-4C40-918B-4825E65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718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C31646-B56C-4888-916C-377CFA5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195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6.067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B19B27-7A93-4FC3-974C-08657E59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718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596628-1337-4EC4-A221-BF6C5395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195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54 · 69.2%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C2B583-BE0F-4640-ADC8-A222F711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162214-DD5E-42F8-B1FE-5889BF4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 · 12.8%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005216-447A-494A-B68D-6EF3AFA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F8D98C-B60E-481F-9F1A-8A2A42F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45 · 57.7%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B0FE8B-796A-4E1C-93F1-7F23B89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EF213D-38E1-466D-B2C6-02F2D2E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195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36AB02-AD84-4555-AE60-B525AEE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5718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D09B4A-2C31-4697-BDF4-112DA30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6195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ACA3BCA-95C9-40CB-B7FB-0A84135E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814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98B6F8-E237-45E8-B315-C998313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5C2918-B88F-4FC0-BF94-74118E7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81475"/>
            <a:ext cx="66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A77F3C-D513-4022-BC41-7A5A672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291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6EC3A9-2C0B-44C4-8BB6-06C77D05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814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C082793-5167-4EA3-8B35-8410E3A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4.857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A842BA1-37E8-4453-8978-BBC37B6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81475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0D2280-84B4-42B1-9FBB-EEFB6869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29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1.089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96A08D-B9DF-4987-9540-492C5AF6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814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83344F-7EE0-494A-A31E-C6343AE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291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 · 92.9%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CBF98C-0C02-4DF9-84C0-2C27E387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125A0E-4BAD-4930-A72B-A9CFEDA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1266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0738E9-735E-457E-8BE5-B98E353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46E175C-2700-42B5-8D48-CC2FC620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 · 42.9%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1B475B-20F7-4B0C-AF43-26492165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814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CCF7F7-2C62-47D5-A8D3-A4235343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29100"/>
            <a:ext cx="1409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ED707E-F31B-406A-AE9E-6326204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814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805BE2-C869-4AEB-93D3-9010DFE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2291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4A40C3-B4E8-42D1-9423-33F79D5E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F4A17F0-6AC7-4024-8328-E8BED47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842BFB-5FE3-4B4A-97C2-8D15AD7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1026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Observed leaders apply only where the defined minimum sample thresholds are satisfied; Beit Fayrouz remains medium evidence in recent 90d.</a:t>
            </a:r>
          </a:p>
        </p:txBody>
      </p:sp>
    </p:spTree>
    <p:extLst>
      <p:ext uri="{BB962C8B-B14F-4D97-AF65-F5344CB8AC3E}">
        <p14:creationId xmlns:p14="http://schemas.microsoft.com/office/powerpoint/2010/main" val="3019643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C0D9C-991E-4193-B3E1-012A247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D — LATEST 30D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752F7-9916-4B62-9300-978ECCC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Latest 30-day detailed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BFA61-B851-45D4-9F0D-D1786356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05 Aug–03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8B852-55F2-4B16-ADAB-C092941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91857-C258-41FD-A112-344A5E7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B9EAA-06F7-45C7-8B39-C2E10A5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5153-A990-4578-BFC5-0CFDD086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8531B-654C-4B8B-86F0-FD0F04C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193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87689-7687-48CA-85FC-2D1BD0B1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52625"/>
            <a:ext cx="714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9B457-2103-42C7-9BC5-10FACCB5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B4DBD-0A74-486E-A865-374538B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0C7E3-021E-4526-BC59-E32B93F2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193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FF053-DDF1-43A2-B84B-92469E6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6136D-2ABD-4D65-9433-3AF9C38E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193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 30d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FC95D-34E6-4A5D-BAFF-2380498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52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599AE-28F8-4913-8853-56CB32A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193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F3320-2939-40EF-AC50-83A63B9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ADC1D-5656-441C-8939-2F9FB79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5-star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58736-5E3F-42DD-9604-DC6332A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526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3EE8E-F598-422A-930B-255A4C17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1–2-star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21CC6-2D4A-4DC8-989E-E597183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388F-FB4C-4FD0-ABFA-9309D9A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193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Written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D37D7-08D5-40F6-9F50-E5A1A777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89558-407F-4B2C-A712-13FEA2F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193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F8C0-9AE3-48D7-8AA2-D27451AE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526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C998C-EF73-4743-B221-66DC4727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3437C-8503-4CE0-B09A-218F03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36DF0-6CC2-4FA5-A0D0-4EB3C57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3B447-5FB1-40B6-8CF3-628A24E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526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D7A10-A669-4409-80D5-CE3DF65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003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3.929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1C5CCE-FC39-4151-8D30-0F1B5AF0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526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F5C6E-BC0E-4037-A22F-342F169E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3.667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3FA15F-5442-437D-9EE6-D5B300A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526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91C27-0A53-43F7-8A91-F2FBCCC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0.262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4A7BF8-6DA0-46DA-A458-D926120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ACE61A-9302-4041-A0D2-4EB12D4C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 · 57.1%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21DF2-2BBB-4E77-A204-DF0FDC0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526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16845-7925-40FB-9B98-395FAFA0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28.6%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0F62C0-FF39-41DB-9EA3-173A1794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526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2CAC09-CA8D-444B-89F3-D8E0B482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D6E45-C018-4155-8070-718CECDD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526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86B2BE-962B-4D62-ACC2-54D3C198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003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E58E3-2F90-461C-93CD-7F0E332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622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1F0D64-E058-4C07-8766-0835CD5C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168295-83CD-4255-8D1F-BDE7D76D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622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CA06FE-D032-46AF-B5BA-FE2A179F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6AF65F-FA17-40F8-8493-5ECB92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622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663000-71FD-4B75-B8B6-6C10322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99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E8CFF7-CAE2-438A-9314-372F94C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622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48D7E6-61C3-46EF-9F2A-C6A64AC9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99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4.238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43F139-9634-4E82-8641-F23C0FA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622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0293F7-62A2-459F-B873-837C8872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0.695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EC9140-7D26-43C5-BF68-84D8293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9FB682-D871-43DE-B88A-D363372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 · 93.3%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F07200-145D-434E-808D-0411BE5E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62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0D4527-1CB0-404C-A62B-A4DCE49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509CC2-D6B1-4C03-885E-FAB76807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622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66135E-F1EA-45CA-B302-39585BEA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699BF1-5AC1-45B6-8D5D-87996C9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622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7CE434-675F-41F3-8307-28AAAE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099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A870C9-E5B7-4965-82D6-A1EF8AE1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E085D0-5EE3-4005-9461-D0E69A7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2C0B8C-587B-468F-A550-86D2057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718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E96CEC-CA3F-4DCD-85BB-A36EFC17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5CE197-0E99-4337-950A-AE17E1CB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718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128BA3-F978-4CFC-9BFC-F3254C6E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4.222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39A1F9-283D-42B1-AAA6-84A2EC21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71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FC6C37-53C8-44B4-B663-3DF0F826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195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4.182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B64675-4218-443B-B753-5767652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718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A677FF-B61A-4B20-A672-5C9BE488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0.040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E9C25E-9A67-47C3-866A-3AD1B6F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E95B81-AD29-469E-8F13-CD0B62C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 · 70.4%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4A26FF-C624-4AC0-BC2F-1CDC0893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718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BC6680-EFEF-40F7-97EE-EFB9AD8F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14.8%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B450F4-0823-4473-9D16-7A97700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635975-1D8D-442B-ABF5-324C22A4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3B1ADE-C3C2-46BB-B259-58A9011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718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A13F80-1E68-46D7-931F-4E0616A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195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8FD50E-C7CF-47F7-99EE-DD31C5EF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81475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E914AE-4AB7-44E8-821B-581463D0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DA1E48-1B53-4576-AAB0-7897F9DF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81475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B9B6393-7A1D-44C5-ABE0-C025CB1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2910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130B22-05A2-4035-A569-D1E17DD2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81475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FF2B74D-9C83-4D9F-90A6-52A62721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29100"/>
            <a:ext cx="93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AE4DAE-0CD9-42EF-BE1F-E68023C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1814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67E37C-D81C-4983-B518-3C241B8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29100"/>
            <a:ext cx="107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E0AC289-C700-4CE6-995E-B803947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81475"/>
            <a:ext cx="85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76B8A9-3AE1-435E-9BDE-5208188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0.250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074E45-3CEE-460B-B17A-0D90090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F6AAD9-0330-4C14-AA18-53E6DC9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· 100.0%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2BFDB0D-21D7-418E-ABFB-6AE96ED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814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055E7A-A8DD-4D40-A210-C98AADED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· 0.0%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6AB35E-6D8C-4D5F-9F9E-FA52E88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814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0ADD8F-815C-4D7B-9C02-5D551F46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102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3FAA33-8DAA-4C91-855D-BDE8C786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81475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8E7BEE-32DA-4641-A544-9A8F726F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291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ABB2F3-A2A6-4FD0-B2CD-477DDF6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048190-31F3-4BDC-AAD5-CB3EC4F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2EEEF8-AE95-4AB0-A8D2-D93AE24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1026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Latest-30-day topic comparisons can be low volume. The deck reports counts first and labels evidence; it does not turn a two-review signal into a strong conclusion.</a:t>
            </a:r>
          </a:p>
        </p:txBody>
      </p:sp>
    </p:spTree>
    <p:extLst>
      <p:ext uri="{BB962C8B-B14F-4D97-AF65-F5344CB8AC3E}">
        <p14:creationId xmlns:p14="http://schemas.microsoft.com/office/powerpoint/2010/main" val="20376035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8442C-EAA9-41E8-B62C-7BC7D7F0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E1 — RATING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0EF92-CA7D-4A1D-976D-9202AC2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rating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2FE5D-62D6-4AE2-8F59-FE3AB389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Apr–03 Sep 2026; Sep is partial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532B3-E04C-4482-928A-CB6F9E2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EF243-923C-4103-A786-416BBC9D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AD2D8-CC7F-4C4C-B82A-D01677A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92B15-A10A-4349-90C1-9C49276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1ACE1-C625-4A3C-B6E6-0BC3A29F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C5722-701F-418E-9CDE-A248CB50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09B5F-D973-4600-88CF-D784E39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89334-6765-4573-8067-DD6D0C9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16F81-0E77-432F-8C39-685F38E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2B683-1362-49D0-9674-8628787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3492D-6980-49D8-BFBD-383F89B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01888-5944-46B8-9B55-EB40ECE9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CEDC9-DBF3-4410-BD72-25E3F776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B27AA-B93D-4558-B86B-3691CCB9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B0194-54B8-4EB8-865D-FDE345CC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6F2BA-A250-45F6-AA79-F609F3F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DEC9B-1395-45DD-B64D-7750006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58143-BA24-477F-859E-55D0EFA0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CD4F6-5BAA-4F21-B182-7ED2DA8D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03744-417D-4028-945B-F76F78F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4BAD3-7853-49B6-92BE-DEB74E0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D35DE-98E5-4F48-BDCB-A3E015F4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A0D39-47DB-4E8C-8951-1C1F3B98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92BBBC-6D66-4237-A22E-B5675C8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7D25F-6F50-401F-B418-602B4F8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C594B-35B8-4471-AEDA-80BBF9A5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C3E9F-8D2B-4E2E-B3ED-4828DAA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C350A4-9049-48EF-B033-D70D9E5F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390AD-A60C-4CC4-870D-9568C80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8F2CC-0C48-4A4D-81D1-32B4E4CB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D63B1-8C17-44EF-8884-13F073A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06DA04-EDA9-40AD-AF81-F7C78A6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97417-8D8A-46C7-8DB4-CC940D8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4.96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81D395-8DAE-4623-8CC3-E0BBE35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2A9936-D3AE-483F-ABC5-C5DC526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DE5E0-1783-46E6-97E2-DA89941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7ECDD-0AA6-4C9E-96C7-8E66E12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E8D310-4096-4C91-9F85-6FE1E02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3E9A1C-1F13-4C2A-A0C6-C43219C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3.77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FA6AC-E723-4363-9E22-3CD14F6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1FD99B-735E-4010-8BF4-C7EFF480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2F60DD-13DA-4C18-9BEF-5DC8C961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DA13A5-F06E-421C-9AE9-F73D4C3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21FF37-D863-402E-9E5F-217B5E71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7B06FD-10BD-402E-99CB-8C0ACC36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4773FD-4BA3-4020-9908-CDBD1C5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0E2A86-54BE-4D73-9FF1-60FE166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2.67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E9ED6F-0C4D-4C9C-AE9C-BD8C324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D5544F-12DA-444B-BB91-C01C891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BE1E6F-3520-40CC-AA1D-F9730BB7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F2DC84-3E3B-4D64-8E71-714ADEB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F10661-1FDA-41B1-AC55-B651B41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2D6242-C32A-45EE-8C8E-4B2ECBCA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A30F2A-7C89-4471-B0D6-3E573BEF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FC4B21-1F0A-436A-B75F-AC92AD18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592148-48C5-4C8D-9F2B-06B50DEE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FC0115-0D54-4868-A2A4-F7A8A90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E5420E-6822-4D6D-8D85-4F8E611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4F2593-FD61-4DB6-9458-034E62E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4.88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2575B9-1D07-422E-AE5F-1CFF8B0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71DDCD-58FF-4BB3-B738-ADEFD25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4.07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7F8AA2-97BF-4157-A6E6-A28D26C4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9D0892-4670-4EBF-A621-8F87351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05437A-32E3-4BF3-B348-DC01EE36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668207-132E-4613-843A-F920BA6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7681CD-E36D-4609-A822-30CBF0D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168D45-0AF0-4BBC-80A1-822A8FC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4D4720-3F05-4A00-8C3E-0910AF4B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5EAA4C-DAFC-4153-BEEB-89E825D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A22382-52EA-4EEA-8B75-6C70C9C0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7F1E90-919A-4FDB-BBBE-6678C3D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533DD6-9C5B-42F7-AEB7-8B02B35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EF2133-4088-48B0-938B-3C588B38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D19088-9261-4697-AA9A-678AED8C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FAF0BD-E243-48FA-ADCC-12CDCB7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5F495F-080B-4522-9185-6EEACCEB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Partial month through 03 Sep. First dataset months are also partial in each restaurant’s full Layer 03 history.</a:t>
            </a:r>
          </a:p>
        </p:txBody>
      </p:sp>
    </p:spTree>
    <p:extLst>
      <p:ext uri="{BB962C8B-B14F-4D97-AF65-F5344CB8AC3E}">
        <p14:creationId xmlns:p14="http://schemas.microsoft.com/office/powerpoint/2010/main" val="4638831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851DA-5FD8-4457-920E-72D9925C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E2 — RATING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8EA67-0034-4A4F-B5A2-B479176E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review-volume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2DB0E-AB3B-4EF1-8C90-EE2C5EBE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Apr–03 Sep 2026; Sep is partial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1BD2C-CB2E-44C0-AE57-0EFBD65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62B93-BE4B-4B82-9368-D359898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774EB-E30C-4483-B784-53325F45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3032-AB9D-4CC6-8CB2-9DFF9F9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570E0-463E-4135-8007-ED21823D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BDDE5-B9C9-45B0-AD24-05BC1BBF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7AEFC-9097-41DC-A7E9-469DF801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87A6C-8559-46AF-ABEF-333D5A97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08586-92CC-4A48-AEE0-AD200B71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65885-F07A-4F4C-BA7F-0D68C34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E1E4D-93EE-467E-BE16-1C45218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39604-702B-4BA8-A1AE-853F528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B4053-8AD4-4A4A-AFD2-D7474C2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9DEAF-F202-4D4C-893C-F1CB8FEB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FD58E-ECFD-4584-95D1-E13784D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3F464-94AE-44F3-959E-647F9B55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E5354-0F84-4B19-AE79-992DFEDA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2CA6D-0DE2-4BC4-AF06-3E05DA1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94895-F887-4667-9F67-9E686335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C5CE7-1EA2-4556-AF8D-C3402B3C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3F055-1DA8-4586-9BB9-3BAEF6F2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D83D2-D9FC-4A7B-AB16-3ADD684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35EAE-DAF5-46C0-99D6-D3607575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86D64-EC3F-4061-BCA6-F7A8C7F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758E7-EAF7-45E1-B29C-58E4F01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3EA03-61A2-462F-888C-9DF2A9C0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59F9B-7C6C-4559-8825-9106F0F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ECE45-6E02-4279-9E7A-1FAD46AD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58F679-B00D-471E-B65D-251240E7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730DE-7167-444F-857E-1675F9F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A8E321-4EF0-4BFA-823F-D89E9F4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72EB4-78E8-4E2D-8D89-7337AE7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25575E-4E2D-4BFD-B9A2-2550E90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C0B48-F0C2-4304-8C3F-10EE2C7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AEFBC-6A29-4E8C-9254-C6307338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DF44A-FD5F-404D-96B7-67CA7B0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56337-7610-429A-AFF5-AEF7ADD5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2FFF58-E75F-4249-A61D-D02EE81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14F153-7502-4084-8E84-A7704BC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DB34E-592B-4EC2-BC98-2DBAD1AF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FFAD9B-EF21-465D-AFDD-85EFCB96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66FE01-EC3D-4145-93E2-3A8AD796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C2E25-4D35-4C26-B2D7-1F8837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0E7821-CB9A-4C8F-A25C-2B55E4D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53B796-5249-4193-AD9D-83D5E02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06CBE2-3078-4811-9A71-5F698FE9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A17DBF-5DD4-4730-BDDC-D4285219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A0C49C-6C75-4B9C-B925-6A4CA39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27BBB8-B713-4B89-9E49-EA852AD7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955090-D4F6-4C17-8134-A78307B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6EEF24-D9AB-4966-B1D8-3B4999A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00A41-BEB4-488B-84F9-CAA0321C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448A98-0FA0-4A73-BB8F-5EC13EBD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E3C7A3-F49F-4B51-90BD-BCB3040C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9ACF1E-0372-4BAC-AD2E-119D73E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C012A1-95B4-452C-B2F7-405E5911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FA69D6-D927-4605-B047-DB0F9B5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6A29C9-7374-4CC3-B39F-CCE1EFB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829749-FBD6-4E78-B8FB-32EDD876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5BF009-B5CE-439F-8F57-89E43B5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4C3EBC-2848-48B1-8C11-F7BE0B9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119CAF-885F-43FF-9D33-ACF4E82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1D665A-1241-4ADA-B6FF-11AC637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7F112C-1E21-4D31-9483-104C564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5F7E8E-A94F-4412-9BA8-4C5049C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6E6D8F-038D-4C85-88E6-30DA2A26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352BD4-EC78-461B-A926-9D70255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552DD3-94AC-4302-BE89-26506B0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ADFAC4-BBF0-4F9A-A3E1-07D48DD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574EE6-B0BA-4D9D-8F42-EAB9E0CD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385568-67A2-43B7-84A8-F2503FD0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EE4551-CA2D-433B-8FBA-EF4E600E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E45B77-3A15-455A-9752-3866D61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A0CFCE-B487-4388-BFB7-4AD3C110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203548-06D1-420B-8935-8F42D81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B4F26E-11EE-4BA5-8A0B-B6A15533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Partial month through 03 Sep. First dataset months are also partial in each restaurant’s full Layer 03 history.</a:t>
            </a:r>
          </a:p>
        </p:txBody>
      </p:sp>
    </p:spTree>
    <p:extLst>
      <p:ext uri="{BB962C8B-B14F-4D97-AF65-F5344CB8AC3E}">
        <p14:creationId xmlns:p14="http://schemas.microsoft.com/office/powerpoint/2010/main" val="17527291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2B4A6-5BCA-45EF-8919-1BF0EA71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E3 — RATING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0D028-73C8-4C4A-A1C0-703D159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Monthly low-score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1AD6B-0A88-4991-B6D9-2D6F7F0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Apr–03 Sep 2026; Sep is partial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6D9F-FF13-41D7-962C-733AE2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55AB-04B5-4541-9E1A-6B08C7C4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1ECC8-2F14-4701-934B-555377E9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5CD96-3CDC-4B1C-8F36-A1510B5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8DB86-594C-4DC9-921D-3B162617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54ED2-8857-4BD6-9A38-B9DCC99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50ED2-81FB-440F-9DA9-95D6644C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A25B8-AD46-4E4E-8257-DB0B00A5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A71A-45CB-4F36-BE01-40DAF661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6945A-D525-4FFB-9CD4-0C9199B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D3621-F817-4E7E-93CD-00603C66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B4773-82ED-4DB5-9872-2EF912B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F02A9-7DE9-4433-917F-A483014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669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DC1D1-BD90-44E2-BD62-91ED7E8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8AB74-7BD0-4FF0-8CA8-907F9F78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58962-9A8B-48E4-8C04-7A2471C1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03BBB-937F-49EB-8A8C-62641EBC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C034C-7752-4AE6-9185-F39B62B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F26C-6682-4519-9D38-F624395A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8CCEC-64DE-45A4-BF4F-D5270AA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61400-A16E-4F08-BCA0-F43F37F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B8F2C-7A95-4A50-8084-E2B43AC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98BF1-C21F-4749-97B2-8F8F238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CF329-0027-4252-AE6C-393DA3C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FC16EB-4C1E-4D6A-9439-CE71D2D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DC746-67D3-432E-921B-723B1B8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8195A-FD0E-4B2C-957C-2A3BA043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0C974-9A5E-4EC2-B6EB-4298C56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BD31D-0140-442B-8E0D-47ACABCC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14.3%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2B830-4319-4C26-ABA4-2FB454A4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48734-71B2-42F4-AEE1-0D132D3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B63BEA-3422-4A75-879E-B403B53B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E0B76C-20C1-48C8-9AC7-E8115DB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B0D050-9F9B-4E5D-A27B-23D3A32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DF1FA-573A-4CBC-AE89-2350000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3CA93F-A2CD-4409-B0B9-D30AFD4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FD017A-1F42-4D88-A959-410475C8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B27833-57DD-4A21-AFAE-2D216A7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66771C-AB17-44C1-BB9B-E8B6B70A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B18EFE-B18C-4CB2-920C-EDF4711D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312A3-D3C4-4875-8BCE-84BF5DA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1FAD66-A022-4E2A-958F-88C0585F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6D851B-233D-4EC6-830A-6D11BC1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29592D-FFD0-481B-A183-299DFE0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EB916D-BC40-4DDD-A5BE-3E429C0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132EA8-880D-41C4-839E-BA67025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A10785-F654-434F-946A-7EF52912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86B9F7-296A-4FD4-8A27-D5AF754B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A90473-100A-401C-A026-BECA5D0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16.7%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D4FD7B-F00E-4BD5-986E-3343E03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2DBD9A-8964-46FE-987C-2AA8E5C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CFC714-2D1C-4A9F-BA59-2CC0DC5D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040F79-8A3F-49B6-BAB0-9D6AB74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ED26FA-A19F-427A-97DF-C722E01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EFDC1C-5839-4AEB-9E6D-71BF42C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533A7B-8DE8-462D-8C43-70173AA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D031A1-72CA-4716-B7DA-F5AB53AA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26.7%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657167-0FDE-44A5-9114-1757F65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4AAA16-64BE-461A-B2BC-A05A24CE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1ABE90-106D-4630-B8BF-2301C674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335FD5-AB2F-4C10-BF05-A10ED0F5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17.9%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663CDF-E577-4DE2-B9D2-A00B798B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06F356-BE46-4A74-8FA0-93B05C1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5C90B8-24EA-43A0-AA35-3A3E261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121847-ED74-421D-A50F-B45FC002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62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2026-09*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6F0173-5B1D-4641-8C64-DF07E52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42536E-5167-49ED-84E2-BB8249F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230D8C-582E-406C-9E87-52969EA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756344-7CBC-42A6-8083-0FAF401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F80C13-7D84-43D5-804D-AAB0DB1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6AD22D-4161-4B92-A914-A1A1F9E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1E84D1-835C-406E-8108-A5D2EDE8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C41A38-3F97-41AF-A669-E6DBA25A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244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28CAD0-2739-4645-B892-5946EF0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5F580B-E790-43BF-8C1B-B08E485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4161D8-2B92-4C98-A777-7E3BEEC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* Partial month through 03 Sep. First dataset months are also partial in each restaurant’s full Layer 03 history.</a:t>
            </a:r>
          </a:p>
        </p:txBody>
      </p:sp>
    </p:spTree>
    <p:extLst>
      <p:ext uri="{BB962C8B-B14F-4D97-AF65-F5344CB8AC3E}">
        <p14:creationId xmlns:p14="http://schemas.microsoft.com/office/powerpoint/2010/main" val="182337388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6890F-E6F7-4CF2-9295-788D8D2B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F1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6A73A-660C-4D2E-B2B1-51DB3AEE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7B39-4613-453E-8217-D5868DA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A2279-5993-4D04-99A0-25C0313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2730-7F5D-484F-93B7-3C803E16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59197-BD28-46E6-B2B3-E167E1D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4CD22-FEFB-41FD-897F-83017A0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4195A-536A-4B57-B661-B57AC6F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DC62A-3BA6-469C-8751-A39FB9F5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AL-ASSIEL-LS-001 · 2026-08-31 · 2★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200A-AF7A-46EE-A39C-797067D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Food, Menu &amp; Tablet, Parking, Service, Staff Communication, Taste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0A1FA-1879-4483-A5F5-FC6C9FA5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“Unfortunately, we have to update our review. The quality has declined significantly. On our last visit, neither salt, pepper…”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9E567-237B-4D57-9E89-7D796E3C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9AF95-8951-4A72-9D65-59E09F0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D7005-AD72-4E48-8A68-BB30451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2495A-81D2-42F1-B5A0-7141467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14847-224C-4230-9F38-B7BE589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AL-ASSIEL-LS-002 · 2026-08-22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4A286-A4CD-49D7-82AC-F8A7EFA0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none detected / uncertain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57D26-5CF4-4186-88F7-6AD3BFA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“Delicious food and good service”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5F0DF-B24D-4012-B353-5CEC7A2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86377-23BF-49FE-A113-36E6A6A8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43154-3D2C-46FB-BF12-BDC69E6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9B5FE-D20C-4F88-B416-56DE45A9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BF8D1-1872-41B5-912B-E0150D77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AL-ASSIEL-LS-003 · 2026-08-12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37351-576B-4465-99F0-01651BEE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Drinks, Waiting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AAFE1-E0F6-442D-9E9C-06374C2B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 food hadn't arrived after over an hour, but it was still tasty. The service was okay, but we received the wrong drink.”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28BA0-1EFD-476D-9F7A-3B83ACA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4FA7B-EAEE-48B2-BF06-8D0E712E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</p:spTree>
    <p:extLst>
      <p:ext uri="{BB962C8B-B14F-4D97-AF65-F5344CB8AC3E}">
        <p14:creationId xmlns:p14="http://schemas.microsoft.com/office/powerpoint/2010/main" val="1692680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92E3C-854C-42DD-AC0E-CF1FF57F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F2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8ADF-1394-4CC3-B89C-9AB1B2B7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CA797-0E9E-483F-8477-DFC1655C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40A0-B1A9-42CE-A2F3-B0DD6A0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446F8-17C3-4027-8F1C-C0178B7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7DBBA-73E7-4933-BA6F-842510F0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55953-440E-40C0-82E1-17E8BB2E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F48B9-43C8-4103-8102-BA1190A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B3DCB-6E02-492D-9157-481C887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AL-ASSIEL-LS-004 · 2026-08-08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0DEAD-96FA-4A2E-9D7E-ED8CC3E9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Buffet, Food, Food Quality, Food Variety,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1C294-44AE-4A15-8324-F28179BD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“There were two of us who ordered the open buffet, but unfortunately, the food was terrible and very stale. There wasn't a si…”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341FB-F9C9-4872-9860-FD0939C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00118-CBF8-4753-A655-1DFC751B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4D4B5-27C2-4722-866A-946D2875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70151-4A8F-455B-B2AA-165842EA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74021-AAE6-49C4-8A38-C426EE0E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AL-ASSIEL-LS-005 · 2026-07-28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2DB5B-0D65-46D5-AAF6-068CAD06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Food, Food Quality, Meat Quality, Service, Staff Attentiveness, Taste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96996-F86E-4897-BF0A-BB3E6C5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 burger arrived without nachos. The server was overwhelmed and unfriendly. Drinks arrived after the appetizer. Plates wer…”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9E00C-5373-4CBE-A909-AE8BA04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BFA37-3E59-4890-A442-AA4B610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C76CC-B086-4A45-BC80-05A359DC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56394-0D07-4A16-8543-E06109D8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D19BF-BAF6-4E0E-82E2-B51D412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AL-ASSIEL-LS-006 · 2026-07-28 · 1★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23DB8-601D-4410-9BC5-39655B3D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Food, Food Quality, Freshness,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ECFED-E55A-4D0C-AF45-5D360538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“We ate a burger here, which unfortunately was spoiled. The same thing happened at the next table, but the owner denied there…”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C4ECA-CA65-42EF-BFCE-B151A2A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F7D14-1EF0-4321-BFC2-7B3CCD6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</p:spTree>
    <p:extLst>
      <p:ext uri="{BB962C8B-B14F-4D97-AF65-F5344CB8AC3E}">
        <p14:creationId xmlns:p14="http://schemas.microsoft.com/office/powerpoint/2010/main" val="10984693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4DEDD-1411-42F3-A0DA-58BB011F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F3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89175-3334-48BA-B5D1-1C9C38ED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8543-0452-47BE-8361-E5DA4D25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C7BC4-9433-4AF0-9770-FCA30F33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4B075-17A6-4F96-B1AB-1D6AE49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6558-7DB6-435D-8C06-F911E070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DEA27-2FC4-4071-B9B8-EBB8B99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129BA-7FF2-4F10-B82B-A7690827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2AADE-796B-4875-8B81-F84B5F0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AL-ASSIEL-LS-007 · 2026-07-01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62353-08D8-491B-AC59-FFBE4C4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none detected / uncertain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F6E78-11FC-4657-AEDD-FFE7151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 atmosphere was amazing, and to be honest, the service was excellent and polite. However, the food was terrible. The only…”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E2DC6-6E8F-43DC-B0E0-9E90E05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BBD8A-E359-444C-9CFF-347B6E8A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EA7B0-FED9-47F5-8F26-FD2AD6D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2F0E2-FE2B-48B1-ABEB-FCC913A7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EB065-ECB5-4A36-A093-8084C4B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AL-ASSIEL-LS-008 · 2026-06-26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F11DE-AD55-4651-B6C9-73D53769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Taste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3E1B4-0691-4FDA-90F2-D96291B2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“There were four of us, and we ordered a mixed grill, which unfortunately wasn't good at all. We didn't like it; it was too d…”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7C008-C7B0-4EDB-B987-139C7BED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49DFA-AEAD-4C64-A35A-9FC42EC4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95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CFF33-CE08-4A3A-9612-A14AFB64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5B36E-CD4D-4DD2-87DE-7EEB627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820E4-E024-4B64-B552-BF94A950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· AL-ASSIEL-LS-009 · 2026-06-13 · 1★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EC1AD-BBD8-4663-A84A-E46CCCA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Food, Taste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FFD45-0043-4815-8B62-D92794A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“I don't like the food.”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C2262-84D4-4F0B-BA09-02C3954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080D7-3F17-4173-82CB-80C72E22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original review →</a:t>
            </a:r>
          </a:p>
        </p:txBody>
      </p:sp>
    </p:spTree>
    <p:extLst>
      <p:ext uri="{BB962C8B-B14F-4D97-AF65-F5344CB8AC3E}">
        <p14:creationId xmlns:p14="http://schemas.microsoft.com/office/powerpoint/2010/main" val="3354271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FE0B9-9E1E-487E-99EE-1361951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F4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18B3D-2B36-4088-A333-BC93161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08AD-E070-4976-8A7C-32EB5074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F3669-5FB9-4923-87B4-32407309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1FDC-9895-40B4-BB33-C5F34872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23A01-8300-47EB-82B0-8D0BD6D7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0AC28-D5FF-466C-8FBB-37E50F1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628BD-D9B1-4240-A07C-E018A8FC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F8F56-F660-4426-B81A-3143688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OLIVENZWEIG-LS-003 · 2026-07-08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A0272-8359-4269-812D-E424E9E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Cleanliness, Food, Food Quality, Price &amp; Value, Taste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AA640-FDA1-4639-8E62-AE2A2E6A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“Unfortunately, this was one of my worst restaurant experiences. The food wasn't cooked properly, and there were flies all ov…”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4B8B8-38D1-4966-ABA6-84F0785C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F4408-4BF3-4B5E-8AA2-B4B0968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4A511-2EA4-4D13-8343-6BE4148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58550-FE49-44C7-AD0A-E56D01E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4F7B0-3AA2-4926-856D-47CD77A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OLIVENZWEIG-LS-005 · 2026-06-17 · 1★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99793-81DA-49EC-A1FC-ACD8BE53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Taste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1A491-5DAE-4728-B22E-072B1086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“Not tasty”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DF92F-4FD2-4D95-9754-E1E3D466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54ABD-5D0C-4293-AD92-A6AF60A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D2114-586A-4442-B3BF-C1473AA1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05BB7-D96F-41E0-B70F-A401EB2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414B8-71F6-4C5E-A590-0D4AFC44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· OLIVENZWEIG-LS-006 · 2026-06-17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15812-1BA1-43D4-8561-00C53C4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Service, Waiting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B220D-478E-40B3-A626-175A014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 service was unfortunately really bad. It took forever and the staff simply weren't attentive.”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F63E2-19AB-4D19-B3C5-7707B48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1347A-AA67-42CA-9CE7-2BD10FF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53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</p:spTree>
    <p:extLst>
      <p:ext uri="{BB962C8B-B14F-4D97-AF65-F5344CB8AC3E}">
        <p14:creationId xmlns:p14="http://schemas.microsoft.com/office/powerpoint/2010/main" val="7115319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2C613-0F4A-4C3C-89BB-B186234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F5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C6E87-1397-41D2-B80F-59CFEB18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7EDBC-3173-4B4F-8BCE-D08923C6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5DE11-85CB-4D56-98BF-BC7F047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3952B-FA57-4B2F-8FA2-5806DC7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A9DC-BE0C-48D6-9467-9ED75289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0CB69-A145-4EE3-8867-E251B5A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B2DD9-62E8-4220-85AF-9CA74CE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5AB14-C663-4A4F-BD6E-82B9238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AL-SAFA-LS-002 · 2026-08-31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A66EF-7AB4-45DE-ABB4-2034111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Food, Food Quality, Meat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B6E4-F43E-4A30-BAB6-50B6127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“Unfortunately, this place offers nothing special. I ordered several dishes, including doner and kebab. The food was extremel…”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AE331-EB85-415F-9EB7-BE6D42C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46881-B927-4E18-82FA-6CA0ECB7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52AA7-8860-40C2-8C49-941AB01C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F55E5-B8C6-463A-AA0A-2C7E5B1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15399-FA95-4AC8-A4F5-34A77FE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AL-SAFA-LS-006 · 2026-08-04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88C0-D1A2-4CC8-9605-A0194BC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Card Payment, Freshness, Price &amp; Value, Taste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ACE12-6187-4AD5-93C2-17AE138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“Went back after 9 years, after the owner had become unpopular. Unfortunately, disappointed again. Ordered two doner kebab pl…”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599D1-3F99-4912-9E9C-28234411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20F9D-199D-4743-8CAD-3258AD0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967F6-DE91-4373-9C10-56CEF554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6CABB-E6FE-45D5-9D5A-295B3EF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3E4E3-93D1-4B54-9EE1-AA5522D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AL-SAFA-LS-008 · 2026-07-19 · 2★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62308-6460-4EE8-9211-B0A69398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2A20D-A9F2-4993-8C26-1DE27E1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“Bad service means less revenue... Please, the customer!”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24554-E918-4749-8369-C421EFE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DAE65-91C7-4EA2-BC35-54E4261B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53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</p:spTree>
    <p:extLst>
      <p:ext uri="{BB962C8B-B14F-4D97-AF65-F5344CB8AC3E}">
        <p14:creationId xmlns:p14="http://schemas.microsoft.com/office/powerpoint/2010/main" val="131793675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BCCEC-C2DC-409E-9AF8-3F83458A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F6 — LOW-SCORE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F3500-21C2-487E-9D86-A0DAF36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Recent low-score review evidence ·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652F0-EEB3-4CE5-86D5-03AC297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Anonymized cases · 06 Jun–03 Sep 2026 · excerpts use stored analysis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3FDEA-DEFF-4208-AA85-CE2FE4A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B8623-E3A2-4C50-BBB8-09F5FAB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CCB4F-9E08-45B2-9566-8D4AAF3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ED5AC-573A-4AEF-8B86-2FDB9DD5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7C951-538A-4373-BB81-4986FE36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78FCA-E6FF-4884-9B8D-42EB42B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AL-SAFA-LS-010 · 2026-07-08 · 1★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8D401-3F0E-4C47-A961-354FB471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Cleanliness, Food Quality, Price &amp;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0D8D5-6FC1-48E8-9F28-AAEC9D1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“The worst restaurant I have ever been to. Undercooked food, several flies on my plate, and completely overpriced. I have bee…”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77337-1789-4687-9DD2-F916B924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53543-FF11-435B-B03A-723C2DA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90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72F1E-09B2-439A-A60A-EB967D4D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9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5E26B-5E2C-4440-9662-5D560EF6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3EE83-15DB-4FD8-87C6-78C389B4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· AL-SAFA-LS-011 · 2026-06-29 · 2★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C2128-EDA1-4D41-95CE-E4B082A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Topics: Staff Friendliness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519C5-563D-480B-AB01-8AADD05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“I'm a regular customer at Al Safa Restaurant, and I come several times with my family. There's a man behind the counter who …”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A6484-9C18-40FC-9F6D-446A6A9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24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Owner reply: 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2B743-C212-478E-A4EB-E97ADD5A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Original review link unavailable in source data</a:t>
            </a:r>
          </a:p>
        </p:txBody>
      </p:sp>
    </p:spTree>
    <p:extLst>
      <p:ext uri="{BB962C8B-B14F-4D97-AF65-F5344CB8AC3E}">
        <p14:creationId xmlns:p14="http://schemas.microsoft.com/office/powerpoint/2010/main" val="168848243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3F48F-44DB-4666-AD0F-4DA5F95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G — SERVICE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DD10-F718-44B4-B01D-867BB5D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Service topic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B45FE-B4AD-4A20-8506-7BE3866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 days · mentions / positive / negative / neutral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5465E-C5F3-4E2E-86E1-550134B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A9635-796E-49EE-A15E-0E5C06B4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03760-E77B-43D6-826A-E98BE6C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7B403-F88B-4BD1-B347-4BDE8B44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98737-F202-436B-B3F0-80DD6C23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2A9FD-3C3F-4AA6-BFE7-7ADD069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89A0-F2A9-43F6-B201-481D615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811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6C130-7B36-440E-B816-1F52F62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9BA82-C7B7-4423-B866-6FFB529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85B81-42E3-429D-AB82-EB223602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B6754-40B9-479E-837B-254DD61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071D3-92B0-4C39-9AAE-A22F01D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A6FB7-E245-48CC-A616-AABA7D3A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7811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13404-A76C-4553-B5EE-59A73FF8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CD3DC-3993-44C7-AD9E-5E5B52F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8117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D9C82-DF37-4A9B-B7CF-E612344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211D8-C5E3-4E22-93DC-7B8AEEDF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811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35C7B-A06F-40E0-8C9F-D0C221FE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41D88-0CC9-4192-9908-0721BEE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621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F6F88-FBC5-45DB-99E3-FF76039C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145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722B6-FDDB-404B-B0C9-3E1FB135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621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3EF85-B2BE-41A1-A4C8-5B009731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1EE70-7A76-40AC-B6BA-0073EF4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43AA8-7B4D-4ADD-A630-AF786053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7ABAF-4745-42A9-B940-3D9E62F2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5097F-29A7-4CDA-99BE-894E416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145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E8B68-6DEE-4801-BC5B-F91DAEC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621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3E61A-351B-4E1D-8D9E-B48C691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145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8723B-B96A-4616-B9F3-7A4EE9F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621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809169-1943-4945-920E-7CD10644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B3471-ED4A-4CC7-B6AA-CDF2C51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621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A92B4E-4A0C-4F0B-BD7A-94995337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94DA1E-DA52-4B7B-ACAC-13A2BC8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812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FEBDD-146A-4048-B800-6A42FC6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40BDF4-0B93-41B6-8CB4-2EDD2E9F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812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76CBF-E5F2-436A-9F00-BD51151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18B2E-614E-42A4-93A5-99EECB01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5FA74-7856-4F5E-9020-1D817A5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DFB0C7-3B3D-4225-91F8-33432B4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6492F1-660E-40A8-9C87-45B4AAD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06C9EC-9393-48A0-9F1A-59F8646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812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68570-6471-44F7-AA96-88245BD7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36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97C358-75E4-4F45-9F50-65A696A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812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6E1EF6-7D04-4D0B-BFCA-5519E98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62955C-68C8-41B2-AFD8-6E8F69B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812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D95BB7-84F8-4BC7-A31C-48484BD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A948EF-B23B-40A4-8A1E-DB40C3F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0AF504-0ACB-459A-BAB1-3B51C18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52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35E3C1-3B49-4CC8-82E8-AE38799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003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408C5B-DB5D-48BB-BFEB-05EF0948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CAD3D2-DE85-4EF7-B49F-0FB99040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37821D-E784-456E-9213-9D5F955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FE56CD-83E6-433D-8D2D-CA0D3C7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FA9013-1697-40E7-99F6-7E61DD3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553CCE-F118-4183-AFBC-8F9AF689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F3563C-AF45-44B9-894A-1E1110B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F1BBB3-D705-40AC-AF94-95DD0C55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003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D44CAB-759B-48BB-8DFA-02B9279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40F395-6310-4FD4-8C96-A2931AE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3A6320-EACE-4AD2-ACC0-A992059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59EFD2-85FB-4B2C-8688-36A611D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F364F0-B123-44C5-9F75-32F7F3E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718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AF2F93-1E8E-40C1-B3F8-14A086B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194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Friendliness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E45392-9A5C-4DCE-8121-B8D64ED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ACF096-B2C9-4FA1-B0CD-C63C21F4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983490-4D54-4434-8BE4-F4508EC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A1FC5A-FED2-4FC7-9E7A-8FBFC0E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6DF162-E099-4D05-BB67-B6B88B5E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D81F3B-C4F5-496B-826F-0C2C9A06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194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1E04E1-EEA7-4926-BE7B-A5ACBEF2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8CEBD3-E9EE-482E-AF84-FACE3E8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194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BD2A3F-65A7-4FE4-ACFA-41F9C93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71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E90186-D884-49C2-A787-47844F4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19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49BC23-7A10-4FC6-9DF0-CF6C97C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93FC27-4A99-4C68-93D2-E7F192B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C2D356-3425-41F0-A75C-B5926B3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909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41BCDE-8B1B-48DE-A877-BA98A5F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385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Attentiveness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F9B921-826A-439C-94E0-7494220F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8DF2EC-B059-49DB-9B8B-5F212DE1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5C0C43-DCE6-4A86-A8D5-E679363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C9D205-F0C9-4CCF-A7F8-FF0A46C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DBBEA1-5F20-472B-8399-A4084E7D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909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07949B-2EEB-473F-B3B4-BF083FC9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385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279188-A68C-4ACE-A601-00433441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909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E106F2-B7F4-4B39-B275-87FA26BD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385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0CE9149-C79E-4DF0-91F5-DF9C79C8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758799-9ED8-40AD-B0B1-9D165AC1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38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50E8E4D-E601-4718-A099-72064DD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E7DF78F-356C-4985-902E-A64079C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3812C7-8289-4A20-9CF9-25373C0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00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D1A9603-6781-4686-960D-D6BA165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576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Attentiveness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C0CC81-73B7-443C-9438-E301F36D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BE3786B-23CD-4141-8966-E94413D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D813B9-7505-4E63-993A-C3DB1B6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7E5316B-71CC-4396-92F3-4B5E90A8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F3C24E6-F4DF-43A8-805E-21B9FFDE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100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AA30A2-222E-4DD1-AF60-4C29EE4B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576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E4455DF-2EB3-42B9-B350-D7707F00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65E8F7-2FA2-4FA8-B8E3-8FA98EC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576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A46BD3-74A3-40BD-AD1A-BC8B8EB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F207FC-B5C7-4E45-8676-00DE97A2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57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A839E2C-8830-4C5E-9974-BEA46B3B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2D4B19-E1D6-4E7E-961E-CCEE921A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DAE04A-05BA-40E6-9466-809D844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291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0380EF-0DE1-49F3-90C6-C7F9F937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767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Staff Communication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55D7DC5-7A64-4809-9DEB-42DA001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E0B646-786A-4305-9366-33FB46C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FC379C-F359-405F-B830-2D5E774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5C8280-3FE6-44C5-9AD5-DA39700A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5470B5-E360-4121-9E5C-36E9F8C6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BA1F8B-60BE-480B-A8E7-4104682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7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DE0593-C081-482F-A5AB-51EC442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291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798D63-0A0F-4FE9-9227-60913C7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767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C314883-9FDF-4FA0-AFBD-13610153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D3EBFB-6C35-4BE6-8FB6-0DE1445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76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D8DA2D-C91A-4B58-AFAB-45EDB34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1685816-B914-4CE3-8514-7D1F926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958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EC672E5-B6E6-427D-B49D-90510BE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482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D8B2ED0-2F58-459E-AEE7-98AB4FD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0958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D3FBD5-9DC3-4F77-81E3-9A15DA7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913F50F-BA22-48F2-8101-29A504B9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6F5B4D-3A40-4BDB-B28E-06C1201A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1FB64B0-ED9E-4309-8408-A58D8AF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342846-F74F-4CCA-840D-5ADF55F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482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D507DB-A103-452F-8AB1-0405AC5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958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DA9099B-4A70-4D7B-A89F-DAC67E9C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482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215B2F9-53C9-4111-BEB0-FD892BC4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958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0B1D93-5491-44E3-A446-CC8960D9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48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FD3134B-BDEE-4D1A-B60D-6455332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95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DAB57D-4A7C-4C05-BDFE-95AF49E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F5DE7AF-2566-4DF6-93FF-D7F04A18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149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DEDC9C4-A259-40FC-973D-396D3171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67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B92E598-7565-4B4A-B729-334D29A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1497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666FD64-E891-43F2-A8C3-B888BCFE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5392B9E-594C-4515-A28E-AC2F1D0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362582-A121-46CE-A931-1DC1BE4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B8236B3-DEC2-4B42-973A-91583FCB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1D258D6-723C-431F-8CEA-942B0797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67350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0B26FD1-A2F3-4B8E-A58D-10DE39B9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149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E388254-6C84-4B02-859F-C371549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673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1CCE62D-3E5C-43C5-B51E-37253AF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51497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328FEA7-DEB1-4EB3-A3AE-6386EF4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67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C9BC46D-E9CD-4F54-AFE4-97705209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14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6167216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5F87A-A7B7-4D7D-BCC1-E3C8F5FA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H — FOOD / TASTE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E614E-CD8B-43A5-8E1F-1920ECFC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Food &amp; Taste topic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A5475-6141-41AA-AA85-7D6506AB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 days · highest negative counts shown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90C4B-8003-46E2-8730-DFEB59D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EAB2A-840C-4329-86C3-ED57B1A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07E65-AA3C-46F1-A127-A5136EB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1C57C-D96A-4F45-881C-0FF5E43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C3842-7F26-44C3-B2D0-8C751046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78117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248C5-A5A6-4092-ACA1-6C2AB4B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14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CDD96-F972-4B01-967C-1C8AA3F6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811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3347-587B-4609-9FF5-A998021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0691D-A0FC-4137-AA47-90C84A45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8A7EF-0D47-4BBB-8D0C-986B83B1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C4AE6-1ED8-45A4-8B68-96CC0981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8C2B6-6BF4-44DD-85D0-0404C7C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3D3DD-C0E7-4207-AF8D-67A53E4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81175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06CE1-623F-4450-A4FF-0BE5D6F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1171C-B1DA-4C12-9C76-4BC09F8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811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 share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8C167-1176-4BE3-92F0-16282CB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7784E-46AC-41C1-B27D-5FFA7818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811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691D6-4444-40F2-A170-1F34079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145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BF766-4A24-4725-82D1-8E58A4C7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621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44E98-C30B-4B57-AFE1-7F6BC3D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0253F-0667-487D-BD77-8C28A6D1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621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9171C-5E6D-4615-B379-336D0C6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ABF5-C4E7-47F5-BA65-E42FBD46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5907F-9AFE-43CE-B7B6-E6B8A346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C1233-7E40-44E4-A9AA-8288BE2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05205-2BB1-4EAA-9C5A-EE567757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F5F4D-15D3-4FED-9649-603204A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621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D3B153-819A-4AAD-8298-5DCA629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145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F35922-151D-4E58-A2C5-4D15706C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621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29.4%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D006C-5DDD-4BAF-A83E-850E1AEF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B20049-A715-47CE-94FB-D0444D46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621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6A5425-8609-4060-BCA9-5DA4D9B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1F87F4-A7FE-4B4E-92F0-3821B6D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812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1DD8BC-AE2B-49C9-9EF4-97B5627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57273-8F25-4C90-B135-FBCA3424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812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C57DE5-15FA-4827-8ED0-BCC87FD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EE298-737B-465E-9114-DBD7032A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0559EC-DFE2-4AE4-8228-E84B26C4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42A43B-D2AD-414A-B9E3-9F55779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2FB437-54C3-4EE3-AA25-B52AC7F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88D9A2-7F8B-409B-B785-57F3525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812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7F1FE-4331-49B1-B394-6D1A34F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42C11-B18F-40C3-A831-FAC5C41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812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23.5%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8171EE-CEBE-493A-A34B-0332AAE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E71B2E-AC91-4C8C-B2E3-FD66306A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812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701FF8-6853-4186-949E-B973837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DE1B1F-CFAE-44E9-AD77-E3F13DC6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003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A0B4AF-5050-46F6-B777-9F270635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50468C-937F-40DF-9FCC-A4097D2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 Quality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40CB05-DDF0-485B-94F2-48E755A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9BED66-E82B-4F49-B15C-76D2B57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D12ADF-E6E9-497A-B26F-1D87E772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943476-0320-4066-A39F-2E650ABF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ECF81E-50D6-4D2D-9D29-A46B634F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72F4E5-3200-46BC-B830-435EE81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0E4579-EA3C-4AE6-9F5D-4DD2687D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5B491B-BD72-412D-9252-983A996B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003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A0BE9F-3E6D-4B18-8F96-B97BACE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58356F-38E9-4D2E-BC8A-95E56BA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03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93F433-C048-4B39-8E31-184C0780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718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4A91CD-5333-4527-A6CE-7F7A638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194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4E4BD7-5542-49A8-80AE-102F5D5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C2165C-67A0-47F6-9629-54954126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194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 Quality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B15930-4A67-47D3-A9E6-C6BAFB1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FC8350-489D-434E-B16A-E0AD747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FB929F-1143-4878-A367-5A2F770D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1AFA47-DF98-4D70-9380-EDD4A784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E181C2-93CF-4696-A9CE-043B44A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49ACD6-7AF3-4396-84B6-5832828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194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0BE803B-8BB2-4A3D-90C7-2B49779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78A5E8-775D-4F17-AD7C-4FF6BE4B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194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75.0%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491EB6-4170-470A-8716-6280D72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71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7AB312-1F08-4A6C-86DF-D125E04F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194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5F9E32-8597-4DF0-AE51-69C1F2D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909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1BA832-E968-41E2-9C88-2262CDA2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385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5F9687-C4FA-45FF-95E2-5E0B28D1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E628B9-327D-497B-914B-8E5F82C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385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AF615D-4126-487E-A3D9-8BB1B28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E9133D-534E-4C7B-B8D3-567B2C66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C15877-0B1C-4E50-964E-161BADE3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0EF1325-BA79-427B-B836-0DFC0CA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962396-8F3A-461A-9339-F787F44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07C973-285E-4DBB-9BED-1F81A559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385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C15D8F-007A-4106-B7C1-34D47E55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909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E7BAA7A-CE0E-403A-8CE4-2013C33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385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10.5%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620524-5A58-4EE1-ABE1-AA38F516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68709C-1EDE-4B32-9807-257B251A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385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13DD25-F065-45B4-B271-8522D8A3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00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4021F66-4B10-4DF9-82B8-8B7E96F0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576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3F535A-FB3C-42B5-9562-FCDC464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DD32A4-78AB-4BF6-9750-9776472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576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9B2772-B2F8-4DA3-A29C-7E0CA985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14598DC-A74D-46CE-9FB7-7A0C85E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2A8BB5D-A4AB-4EEA-8BD0-100286E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0289A4E-A4F2-4E12-B26F-840D16ED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16F899-883A-43E3-837F-45DEDFB1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BD6636-3F9A-4564-A2FB-E70CA60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576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F097B0-C314-48B3-A2E1-B71817CA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100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E9CA11-06C3-4940-9E81-AD2053B2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576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0BCADC-1BD5-4D79-90BD-D91738D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C94B4E-4A10-40D0-96AD-0A4E448B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576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E99E9B-B571-44F4-B2B1-BFEF990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291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1986FDA-D453-4E70-AF81-73FD00DE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767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920F1F-D0CC-4C0B-8DB0-A9675122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291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378072F-F608-478A-A29D-5046C81C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767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2C01C5D-CA9C-42EE-B352-4BD481B6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B02A2D-1D10-40CD-A32D-79545BB5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DFA475-60E7-433E-9115-65D0026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53AC99-32E1-4229-9E41-48DC24CF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E61D5E-AB71-4209-B8E2-4D54820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4C757EB-D084-4220-ABAF-D13FCD51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767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E06B213-A2E5-49FA-BB0A-0B8446B5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97C93C9-EB11-4204-B0E5-582653F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767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3.2%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3B9703-CFD3-4262-82A0-75E9CE78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FB50359-D52B-4177-BE05-F25AD2A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767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FF72D1B-23E8-40B4-B9D8-B73AE57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482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B9B8E0-22BF-4993-8294-5FA83405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958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23180F6-C014-4C33-8485-6CCDA45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B50C0F-EC79-4610-944D-DC74852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958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Taste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3C189EE-6329-412E-BF1B-BE199D9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242B7D-8E3A-4A73-BFED-EC99C7B1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F444875-158D-4739-8572-E73071F8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CA146AD-7C22-429F-B2CE-193B50D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7136D6-90E9-42A9-AC32-E6C6A61F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343AB18-B2BC-473E-902F-B4DA978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958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8600E2D-D268-4960-BFA9-BC0D2AC1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EBA8B6-CC22-4D56-B961-9393254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958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4.2%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C424667-77B0-4006-BBD4-758A90C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48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8766E33-4A82-4D6F-B67D-7BAAF06B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958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D061DC-B647-495D-B36F-9203AB99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673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20C0E3F-5536-491E-BAC1-5A01C0B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514975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C4089DE-E818-4E79-9911-9559880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673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DB06924-8A33-4AB7-A677-1CD20C30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14975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5BCF79D-34E1-4B81-9FEB-1A5F15B8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F8A691F-D9F3-4C9B-B5C4-AF53BF4F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6B71BD6-C512-43B7-9085-ECE2FB14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806BA7-98EE-428C-B93B-4CC87B9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B73C0D9-9C23-465B-B29A-B6CCEB1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809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F27AD9D-8321-4D7D-9B2B-7862E729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14975"/>
            <a:ext cx="69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B9AD830-57EB-4065-B232-67613C4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673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AD4A363-CC1B-48F7-9E7C-E095768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5149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4.3%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D047A82-E23C-4908-9BD1-CCF31BDF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67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1A12FFE-063D-4B33-A6FF-F484A84F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1497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75550083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8192B-CFD9-4443-9A7A-FA07537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I — PRICE / VALUE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5A3D4-DBA8-494C-B3B4-49EFCCA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Price &amp; Value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E1D21-5ED1-4DA8-AFDD-EAFF865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Recent 90 days · sentiment and menu prices remain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45BEE-BE9C-413F-81B2-4F53728D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889A6-757A-4D33-966F-3C043C99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A21A5-54A6-4CDC-B7C9-833EF81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1194D-0838-4429-8425-E1870A2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265B-8E83-4799-9A3B-554F872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145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431CA-204F-4731-AD9D-7F930D6A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B3678-437C-47A9-A50B-43C3305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F38C3-13A9-406F-90AC-80325F0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C6EB6-5F2C-4D00-AA66-30152CF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20689-3EE0-45F4-A0E5-4AD42EE5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6CB14-9B98-4AFA-9208-40C423B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36E6D-9C6C-443F-A25E-1E73D74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63E6C-F1D0-4F7E-AFE0-0557D9E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598A-1CF3-4404-AF84-6B467FA5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6E9F-15E0-4C19-95EB-41E479C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share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70108-FCA4-4B0F-9EC2-ACFAF4EF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EB3A2-6D3D-474F-8F2D-7C199CF5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 share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61BE2-38BF-4326-9FF6-A6B9FDB2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1D7A6-15BE-481F-BAAC-88767AA1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6E92E-D268-4885-B8AB-B0AFFD9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DD23B-DA33-4CD2-B6DC-F5CBB9E9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955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F501F-0D56-4B2A-9CE6-7BE8A1D9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04B19-486C-41D7-B3B0-1654511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2447C-33F5-48F8-A44F-F9796CC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1383E-D8AC-42F9-A336-8B3537CE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1A809-689F-4D26-87D9-18E621C0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332B2-8FDD-42D7-9670-05FE34B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7464C-8C9B-480B-86FE-C485112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9B55D6-0256-4924-8010-D70CD3B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BA960-3A56-47EA-BDF5-5C885CB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27F42-EF06-41CA-BDEF-FE8D80F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2BAAF-CE7A-40DD-8DDD-7A143E1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034D68-5247-431E-B9DF-C64AF324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593EDB-57FC-4DC1-B980-2AC379C8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7B7525-B8FD-406E-BC2D-AAC03D0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45E3E-F101-42F6-859C-1179E049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394386-D858-4ED2-8C49-C32EFFC6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861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C3D670-6247-4272-8DD9-961E517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9463BE-70CD-4631-9564-7A51A42F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20E7F-78FD-4331-99BD-1B4106C7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698F5D-FAAE-4122-825A-3774D082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771E0F-58A2-47EA-95F0-3ADD533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BBC6E5-08E5-483D-A3B7-75A7740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6B8BF8-556F-4500-A338-CB47B3A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EC3685-74DA-416F-84DA-C4D22D1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E102A9-8928-4F36-BF8F-37DA094A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4D4964-9E38-4470-B62D-78D6E7C4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324FDB-5210-4147-8C18-6F115E6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B7E476-88B2-4445-BE85-AC04288C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4FDF6A-B28A-4B7B-8DBA-14A04DEF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55E477-3CDB-4EBB-B4DC-9D65488A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9C73E7-1A68-4B3E-8052-800D5B8A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B1699-9B9A-47BE-B475-1B4173B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766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019681-715D-4694-AEE5-B14129CF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F915A0-1FBB-4B1A-AB04-1268D74D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0B95E0-61EC-4BB2-A625-299D6B33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DA47B6-B15C-4D10-950B-BFC8E8B5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7E3D67-6183-42E6-8899-779DAB1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9D9AFF-30B7-42C7-BD0D-CCE10377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272735-772D-4D4C-8300-4207088B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38EC8-CF79-4D60-A240-18CFA2A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2C451B-64B3-4E6F-A3E9-57169F2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EB01BB-F388-49A0-9FFB-4B02BA7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423EE0-3B77-4725-9CFF-DEDBEACE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D718AA-6ED9-4E66-AFD1-070601F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37.5%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08298C-6311-4DF8-A19F-1050DD13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A68181-B727-4938-B59C-2C24DF9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371B53-CCCF-4599-9062-0E53A8B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95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9F58EA-39AE-455B-86D6-287D80EB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672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DA3681-B8CC-45B4-9389-D981AD0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E3B690-DCCE-4758-9B12-A3E37CB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C016B6-4D03-442B-96E4-659AECD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87B109-F794-4687-B570-BD3F8F8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64205A-23C4-4FBE-A90D-5B872C2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3B5CAC-5435-48BA-9C4B-857EBD7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F15E38-6287-4ADA-926D-9B6B5FD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1F7267-A1C4-4A5C-88BE-CE1AAEA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9A6D46-D86D-456B-826A-159A3A3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DEA95B-D607-4554-A517-BBF33C0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A87C0E-ADF0-4A99-B966-5F7439A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A6ED46-6914-498B-BA08-BA0B7A7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1A1FEC-229C-4DEA-96FD-C2DF37E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3BAFDA-CBA5-445E-870F-E35AA7A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013FE8-F6E4-4946-8A9E-E52B962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71772DA-9BC5-496A-A8A2-E6BFFA5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BB6AF7-EA56-47D5-80CB-1D4E32C1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equate lower price with better value. Price observations carry a source date and match-confidence field in Appendix N.</a:t>
            </a:r>
          </a:p>
        </p:txBody>
      </p:sp>
    </p:spTree>
    <p:extLst>
      <p:ext uri="{BB962C8B-B14F-4D97-AF65-F5344CB8AC3E}">
        <p14:creationId xmlns:p14="http://schemas.microsoft.com/office/powerpoint/2010/main" val="55827767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1D088-C9E6-4E89-A8AF-E164C6A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J — DRINKS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A01D5-5E07-4228-970F-0A408870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Drinks / bar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DE10C-A37A-42A8-BB76-CFA5C00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Menu counts, review attention and recent 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951D6-891B-43CC-8B8C-D564A20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97E37-FB00-42ED-8D93-7230297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BE379-19AC-47DE-B501-74C071E9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5F592-E8BD-46D8-94C7-613221E2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D9AF8-7CA7-46D4-8CA1-DC9A5E8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12569-533F-4179-A662-1E7C0D3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D4F4-A700-4345-9F46-BC42EE6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6FDD-3905-460A-B532-0F06C470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73084-9CFC-4DF2-9F94-702A8D89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All-time 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143E4-7B0D-4069-BDF5-8B8C34D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5F031-A6F7-42BC-9364-DE598681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9194-81D5-45E6-B99A-BD6BDFCD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FA3D9-A6CA-4A75-AD5A-EDAB3D7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3F2E3-3090-4ACE-862E-B80EFB8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5DDBF-AF6A-43A9-9826-45F88B27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F9DFE-993D-4E7B-A275-31F004B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781EC-D10C-49A2-B8B1-9E5294F9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B227E-8EEB-4521-8E21-DFEE31E3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E6DB1-2263-4D28-B549-B48C7734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82382-F9BD-48A7-BBD0-5B59CCA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B4CD0-87BD-44DC-A835-1B8EF6CB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7D38B-4835-4121-BAA4-E6BED1B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479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7C406-A80C-48DE-842E-1CA97F2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C675B-279B-47E5-9153-857F68CB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BABBA-E820-43AC-A845-2C9AEE9C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D10BE-8437-4D1E-8A4B-596A56D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7504A-3D32-4AB0-942C-370D183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30245-980C-4C4C-909A-646D399E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79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EDBC9-1A56-42F7-94A8-33E5F397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01A4A-D627-4F84-ACF5-98EC629A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442DC-4880-4C36-ABD1-A93EC90D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3DEFFB-5104-45FC-B7FB-38BAC26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758D6-4A1E-4D20-AFBC-91402D3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FC65D8-F935-4792-AC31-EB180E09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DE7D8F-0B4A-4C39-A43B-1FFA775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D58A2F-3E56-47C0-958C-38F4B48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11B2D6-B0FB-40BB-801E-D5966B23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0ED7A-F14A-474C-B20E-701B395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7E4590-9330-46A3-89CE-725C568E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17D14-3625-4DAA-A36B-B85E445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A053F5-D805-4B7E-B322-479B056A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CFEB82-F407-4D7B-A5A2-21385CA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112AB5-7F87-4F78-9183-EE7409D9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B04369-E1D3-4AF4-8120-22F56E4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24C33-CF10-413C-95DD-2A94A5F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876B4-A3CA-4119-8554-0C5C4E15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0D6995-4E6F-4669-983B-96832C98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5AE45E-18B9-49C1-AE0C-2A487DBF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C36109-AB22-4A4C-8EEB-8EF39B6B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B0CC28-C7AD-4998-828B-BFF0BE07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290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1B37A5-6977-4F71-905B-916A159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E62BD2-13F6-43BA-A54A-D54D9D0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5AC690-4766-4154-B0B8-083F36F1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A88ED7-9108-4A69-8488-F9E3AFBD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A5F4D0-C775-44D5-BA40-103811B6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0E743F-88B4-48AB-BDD1-33A1539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94D1AE-0A0C-46DF-9447-072F8BB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92CF55-9EBD-4387-BE8B-4F5ED1F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51308D-41EB-429B-8463-420423A7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FF5E86-DC44-45BC-96B5-6C95859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2811D6-ACFD-416E-9F1F-10123BC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8F6CF2-CAC5-45D3-B8CC-5595AF6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F7668E-5E78-46DD-BC3B-7D01D05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EEC1F9-2119-4CE1-9F11-26766BA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95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79A9D4-07AB-4CC9-8EC0-01D582C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1885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9AC215-92F2-4989-B028-7217003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AC3240-C82E-4C13-BB4E-D18D56C1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00FD0B-C794-42A2-91E8-4AA4C8D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96D92A-4462-4E15-8A5C-699B2DD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F31ED8-D5AC-4401-B2F0-9E0BE63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E83863-508B-41D5-B3E0-F58CF4D7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112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61ADE5-4FCB-4FBF-9C60-15DFDB3B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91191C-96B7-4C41-8662-7ACA8BF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79F7FB-486D-49A1-9D3C-4ED9BD8A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7CADD66-F8AD-4D58-87C4-0240284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618FCD-6DDC-49A8-83D3-2E97624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Validated Al Assiel count: 34 drinks / bar items—not 33. Review attention is not sales or ordering data.</a:t>
            </a:r>
          </a:p>
        </p:txBody>
      </p:sp>
    </p:spTree>
    <p:extLst>
      <p:ext uri="{BB962C8B-B14F-4D97-AF65-F5344CB8AC3E}">
        <p14:creationId xmlns:p14="http://schemas.microsoft.com/office/powerpoint/2010/main" val="55603000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85F7A-019B-4FA5-9028-F0A4D367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K — MENU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A60AC-45BF-4454-9AE6-128829B3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Menu normalization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9BE03-B078-4169-9A47-64495BE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Primary vs overlapping groups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C9676-5E44-49C0-AC52-2A055E9C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11E46-2A24-43CE-9808-06AAF333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6E53A-FD4C-4441-A95A-4E6571F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7EA95-60D9-4C31-9EA0-9B422DBD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06FFF-8FDB-476A-B300-FBD944C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E0054-3C50-47E9-9308-25750A7F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A4879-4C50-4438-B650-F4F0BBC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669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category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032DA-CA79-45A7-A480-0D8FEA65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746EE-7184-4AAA-81E0-6E2BFB2B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669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3BB52-5D28-4123-BFA0-B6EE14EE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D56C2-7293-4C4A-A321-F87F1C99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669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9C97C-D0C2-4248-B0ED-D92A153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DDF22-0687-4306-9638-07C8ADD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669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7BC9F-C703-4038-AD2B-4BA312D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A25C9-0B11-4392-884F-972C2D9D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E2088-2031-4F4C-B236-54CB5D5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046C6-C36A-4B91-A1C4-CE12192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479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Extra Sides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27EF8-35C8-4B6A-9411-1FF7ACB1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F3F83-D95C-4ED0-ABF5-81D2CC2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Sides (5)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CB70D-F896-4FFF-82C3-88BCE46C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E766B-A69E-4AD0-AB15-1DFEA751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48CD9-E48A-47C1-827A-BE8CB73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0416D-F34C-4107-9E00-DFCD0D15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479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Never shown as Other Main Dishes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C5453-68F5-4495-85B2-795C0DA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099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E6981-03F6-41F9-AA8B-ED87B698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575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92342-A921-4BD2-B5A7-CE1B8EF0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5F82E-F26E-4495-A737-C262D350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575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Kids &amp; Desserts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62A4BC-90D6-4A63-A894-9252966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563EB9-6EF1-4255-8C88-BBAB403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Desserts (2); Kids (1)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68742D-2652-4CF6-ADF2-22F49F3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26274C-EE96-4ACE-91DA-6F2BBBE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575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item-level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B5359-1796-4E72-B9C9-BD70B397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9FB96-AA01-440D-87D7-252CFE5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575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Items separated by type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5B8B6-84AC-4B43-8A6F-94DBA9E3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660F2-8EBC-4E74-BFB0-957F4A0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671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21A179-BEC3-4642-8BAC-B4D4D6DB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CE2BDB-230C-49A9-803B-706A0D4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671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&amp; Main Dishes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128E6-D13A-45E1-8CB6-B0B6703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E38852-C416-4C21-B05D-E4E48E94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671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Grill / Meat Mains (8)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39A434-B680-4110-B24F-EA2BF3E3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F167B6-B643-48C3-9346-463F208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671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item-level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A44847-9D0D-4D89-8B26-7D43762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D0293B-6851-4E4C-A076-EE3D441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671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double-counted as Other Mains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3CDF54-B463-42CC-8D9A-7CAC5A4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291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56E024-B128-4FFB-9609-7A4AF04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76725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64BBDF-AD43-48C5-8D9C-B828EEB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790EDE-603E-44CA-B2F3-C8F081E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76725"/>
            <a:ext cx="2266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Sharing / Vegetarian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3016CA-285A-4414-A376-C2ED2B81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308C33-4CE5-4C24-86D5-F54214B5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Attribute groups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734099-A035-47C3-AD36-197EA36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63931A-3805-418C-B4E1-B2772A2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overlapping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4796D2-0D6A-417F-9DBA-C1E68AF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A4A127-875F-4AC7-B810-40CC1A9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7672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Counts cannot be summed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C56F84-D774-4DB3-9EB9-E3D26AD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5B85F3-546C-42E4-BAE5-45B4BB3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5FCB63-B2B4-40F5-B01C-238CE4A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998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Every original source category remains stored. The display normalization prevents sides or shared source labels from looking like additive main-dish inventory.</a:t>
            </a:r>
          </a:p>
        </p:txBody>
      </p:sp>
    </p:spTree>
    <p:extLst>
      <p:ext uri="{BB962C8B-B14F-4D97-AF65-F5344CB8AC3E}">
        <p14:creationId xmlns:p14="http://schemas.microsoft.com/office/powerpoint/2010/main" val="878489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CFB13-4225-450C-9749-4C67E2BA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L — DISH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FFAB9-E8DF-4934-B038-B5EE58D3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Dish / favourite signal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35E82-E83A-44BE-A35E-B56643E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Top discussed item per restaurant; attention is not sales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C463C-D100-462F-859F-0C0CE0C4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E3F75-99DE-4F30-8E90-E1E207C3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21417-B3F3-42C2-BB85-416E153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8CBCF-DE29-4C62-819F-D1108B50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F409A-EC32-443E-B0BA-28C7BBF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145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EBAC1-E0DF-41AB-B8AB-A44680F5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0AD47-ABC2-4831-B7F0-D184EA0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AE1CC-FDAB-425C-AD6B-CA71BD8B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1CB5F-7010-44B7-82D8-354EC1A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70A76-523B-443E-A3E2-D0DA493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FB93F-1527-45E2-96F2-6C871C19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2B36-B0D8-4984-83BD-6CDA885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3021B-77E2-478B-89F0-8A61A8BB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share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4EFFC-A0FE-48A2-95DD-90B26F2F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77799-EED5-49A8-9FBF-BBCABDC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FE3BE-7D21-496F-ADC8-0748448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3C69F-8CC4-4B50-BDF2-67862FED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145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AFAA7-B2C6-4A49-A0D3-35F0389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7AA6C-E5C7-4253-80CE-65C373F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9555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8C9DA-9A5B-41CB-A2CA-088B0D1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9CEBE-D4E5-44EC-A3DE-C36FA3F8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9CBDD-3E39-4392-A7C1-B9563ECF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E1634-094B-4F19-A8A9-67894AD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7D9F5-6F52-4C4B-BF1D-8AF9EEB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92AA2-8783-496B-9A62-E43FB076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95B17-F85E-486A-8FFA-96E28EE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FC4D2-5FC7-45BE-974E-57B9F87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32CAC-72C8-4036-BEB1-57D420F9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17513-33CD-49F3-96AE-CA3783CB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7444A-CECB-4845-A13E-5DC1E14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479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CCDC5C-F183-4844-834D-AD82A2A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53941-F44A-42E8-8DE2-B84ED597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CAB3E-0A07-442F-8AA1-B5D32CE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8610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62E72-FF1E-4832-9CD2-B65C3114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439066-AC8F-4AEC-B977-D7BCD883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271495-54B6-4E3A-BE77-33CD0BEC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E124B-47FE-4A52-8EFD-DFB8664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12F9C6-9518-4016-B205-40F8B0F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FC85D3-183D-4991-B5CA-694FE528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BEB91F-D06A-4B29-8DB3-71BC092D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D5F2EA-9529-4E46-8ECE-324170C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DEE8C-F52D-45D4-B001-BD452FD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FA0484-0BDB-4F0A-A87B-34C1227F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1BF211-FE04-4391-B2A3-6667805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384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74DC66-3D28-4582-8C2B-2B28E0A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B3C674-2B61-4F70-B93A-807C2ACA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35B8A3-7E7A-4558-85D7-83624EB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7665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C4CB32-5E3B-4DDD-A7F5-355D5B1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637744-2135-4425-9D77-1D2FE5B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151051-26BE-4A51-A82D-1B13B17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DC69A-3CE1-44A3-A7BA-237B2BF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5636A4-176A-4701-9E0D-06CD7551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DC562D-DF7C-441C-A28A-B387F3E4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C588E0-EA67-47DE-AFF4-D2F0FB1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790676-F090-48BC-A327-28121921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BE7486-45C9-434B-89C6-CEFD7159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3CF394-8C72-48E7-AB6A-0896F28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479E59-565E-4D05-B279-0B7BEA9C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90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FEF132-1325-4D5B-9CB2-F07DE7A9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8CE306-2067-4707-A3C0-6D359A1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957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679473-6F7E-4C14-A590-4D94E62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6720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01D91A-ED3B-4F28-917F-C314DAA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91A53E-E9DC-4BBC-9EA9-3C6665A4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D9FD2B-2335-4BCB-BE62-960118FF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EDDB86-E52A-4F4B-A7BF-F634143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A4146E-7263-442E-B6FE-FDEC9A7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A8BF87-E46D-4CAD-B469-5327BB3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86BA22-E804-48B3-A94E-44B72E7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FC1C7E-6A7D-4991-906E-3549F47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131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7C8CC9-F37A-41CA-B0AF-2ED6D88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982ED2-D499-4F99-9F9F-6C46268A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BC5981-4592-4360-A75D-65FF384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195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69D92B-2F84-42BA-98B7-B38D69D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EB6D40-45A4-47DC-A1A3-BAD50AB4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09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7FD786-A118-444E-B313-5E47CF5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42C69C-E285-4805-A205-C7BE28B3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979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Comparative highest / lowest dish rankings require at least three qualified dishes at the 5-review threshold. Two qualified dishes are not labelled best and worst.</a:t>
            </a:r>
          </a:p>
        </p:txBody>
      </p:sp>
    </p:spTree>
    <p:extLst>
      <p:ext uri="{BB962C8B-B14F-4D97-AF65-F5344CB8AC3E}">
        <p14:creationId xmlns:p14="http://schemas.microsoft.com/office/powerpoint/2010/main" val="179597770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45D90-3268-4DDB-BD96-8E3C3B8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M — TASTING SHORTLIST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E77C7-BDF3-4AE6-B173-DD731482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Competitor tasting shortlist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04FD-AB8A-4616-9FFA-E46D42A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First-line field-research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4A14-28C3-4EBC-A5E7-2469647D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ED3A2-F9C4-4774-A3CD-E5EB6DF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32B6A-2379-4063-B1AC-AF7665B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DDADC-91E0-43F0-BE3C-247C651C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E99E4-A065-4228-B91B-D740F6C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764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BFEE9-75CD-42C7-8E40-46B368D4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0631B-6B2C-412A-B3C0-AC1CE133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7642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1459C-6D4A-4B89-ACB3-DC5095EB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4429C-F78F-471F-8D43-B0DC9A1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9F0B5-98D0-4342-8F64-44E02639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1E54E-9840-44DA-8952-78CF3DC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76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C247C-C0CF-43CB-8E70-2D5F602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53A52-12FA-4E5E-A65A-72AAAAA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07562-F82D-4478-AA75-AE71CF78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EAC1D-9DCD-4ABC-A425-A2137E62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764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F2FD6-BE8A-4B08-9A7F-7947C50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6FB33-C0D6-4226-911F-E03D8975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8764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386E7-D04B-4D0B-B2A0-974E526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138B7-45C6-406A-ACF7-1E93ACE8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57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967BD-C4E1-45C4-ABBA-F221AD0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09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9E4C2-9676-4A86-AF68-6915B4A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574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418EF-1819-449F-844F-6CFE26C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9A5D1-F10C-409F-A7CA-E457ED5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6AA17-353F-4E79-8ED1-41D99EE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D8A82-D64F-496B-BDC9-B49270D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574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FC3D1-5A90-4261-B888-ABF1554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E9DA4-C3BB-440E-A8AF-0F1ABFA8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F6989-F96E-4D3B-8FB1-1FAF3844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09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BF7C6-E96D-4D36-BD63-5B15617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57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B5FA0B-172D-4DD9-AF49-EE7ED7DD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09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2B613-799B-420B-827C-84BC266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574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ED6AA-4B7D-4DB0-95D5-5EED7EE1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CD1B2-2C25-4CE0-96D7-4F7AE09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14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4889AD-1CA6-4C6E-A408-A1602B8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67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19106B-9AE2-462E-A9CC-5E4639B4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Jordanisches Mansaf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0A0D73-6C98-4EAE-8652-DE414A1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CB5AB7-CCD6-4746-A54C-0BAF5BF5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EBD947-BC29-4C94-B58B-21673652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68235-6B2A-493F-A6C8-B2E7C2F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146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33.3%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83D35C-827E-4604-AB57-0D68D93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687108-4135-4D6D-AC59-9EE3106A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566930-C8D4-4F3C-B7EE-61125FB8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765DCF-4358-4B49-A0D8-42F752B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4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€21.90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184AD2-5DD0-4F3C-80C3-74E469C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5CB2F5-9437-4F50-9F4B-D031075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146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D9F17C-8CD4-4200-8478-E0DC5C40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2377A2-2363-4DCB-951F-EBCF69E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1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E687D0-01AA-4D0A-9C14-900E72B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3CA7EC-0E7E-44C0-8B3D-E4146E0D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718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A27876-CC49-436A-B11B-DF5C168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E161F8-97D6-46A2-8D21-2F5A999F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363884-A125-49A5-8C54-FE1742D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242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CA1F4A-FB94-4B7F-9D7C-7DBCA14C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71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2348D1-6225-4824-9E57-4910B971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35EBF8-84A2-4F4F-8B14-F7B400C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E69428-ED15-49EE-BBE2-F6065CC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24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D0DB51-932D-4146-92A1-0CF84806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71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E60DB0-465A-4594-8153-CABC5F6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24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2EF67C-41D4-4431-BB3A-DCC8FAB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718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06E2BE-CB37-4A1E-9CF4-C583F9F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8AEEA5-F8C4-4396-9398-9E12EFF0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D97667-E4A5-4FDA-B0E9-7CEAA3C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814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9D3565-99D8-4259-9866-B4458C16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290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265E4F-E302-49B8-B181-C1A062DE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100EA1-5C39-4387-A047-46576A2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9F14BF-2357-4A92-AAA3-7B6B476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814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6694ED-71CA-4787-8B74-FC212C3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290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830347-D110-4473-9C71-B5D97FD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E88BB1-97C9-408E-918B-F23E9E52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46CD76-2DBC-42D4-BB93-4C25C896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81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1316F9-9EFE-4AE9-B3CE-0077DDFD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290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CDEC20-0B16-429B-BB3B-CF210AD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814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A6507D-BBAB-43B0-B757-45E890D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290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DCDDDD-E348-4B33-B444-F419A7FE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19D13F-720E-4026-9B21-48E80769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862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5AFE5A-76E8-4838-9897-2BEB154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386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EBB905-5E57-4A84-8F27-CB3A504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862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Baklava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B7359-71B8-483B-BE56-2A17855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19D30F-716D-47AA-A819-30CE4A0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A60D0C-23EA-4BE7-8677-02E02231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4B4EA3-D9BC-4517-97CA-E9FD3CB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862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31.4%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179B6D7-1CFA-4F86-B58E-F342249E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5A3FCA1-4727-42C1-8AFD-E6943DA3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632A4B-EA53-4CE4-8F6A-2E0D3CC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38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977243-F535-4E9F-AB85-85D586ED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862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€1.00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A08F96-1392-4590-96A0-FDE068D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38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14CB6AF-B412-4518-A5E3-4134117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0862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57F6BE-1AA3-4184-9659-F5C42A93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8C1366-0FC1-40DD-9CD9-BEADCCA1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434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0DBBCD-2CE8-4686-87F3-480D1469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F95661F-B088-4203-A1FB-11E04CD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434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Ayran 0.25l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01E75F-ECA3-44D1-850E-D48A9F10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B5931E-8ECA-43E6-9D05-566D5E8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E9E49BF-1C14-4E58-8096-3C346924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15878E-13FC-4E09-AD1E-C492FDF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434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61.5%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545A6D-D9A7-4164-9311-3812E088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E6B1FA-C66A-4BFB-9B61-D586A0E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C284FA-F8CC-4B6E-B56E-30E8E6A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068669-6B51-494A-84AE-2D3B78A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434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AA5C21-17E5-44D8-8465-C6A22AE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999166-C8B1-473B-BD9C-8962F51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5434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4A8CB0B-E503-414B-8FF4-AB8FC243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0C34A4-D039-4F99-B15B-5A24D3A5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0B9532-42CF-4868-91E0-5E8DAE27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53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E25E944-DD7B-4418-BF4C-71976E4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00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1D57C99-C0BD-4F6E-A723-FFC38E0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472DABB-3B7D-4BD2-A46A-0AAEBB5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686BC33-15BC-49C8-BA18-6F5FB52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C39DE5-3558-4A7E-B349-9852FF1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006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EA4709-6D68-4E09-9A4A-818D872A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149C270-2F9D-4E27-9E06-E2423E7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95CE08-0FE9-4729-8592-1FFD1EC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4875F67-E344-4844-ACA1-4D42A37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006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ED62AC9-5DE9-4720-A763-06B42C64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530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D7C240-63D1-4D99-8C85-1C59C629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006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DC2DFE9-ABD1-421A-B77D-483D97E5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28D8F9-A88C-4F20-818E-01826406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57825"/>
            <a:ext cx="1600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E00F89-3854-4246-8BF4-65925246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102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3D5AE9-EA8D-4905-A607-522625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578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Kebab Teller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FD8309E-C62A-4CBC-A6AA-FA9CA8D4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3385F29-D925-4A31-8DFB-3AE33384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E6E2C51-A120-43A2-AA56-5761031A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102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E833B7-C36F-4780-AC27-C455232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57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63A83C2-51AF-4340-8E98-3228AD70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71EAB69-6BC3-4B8F-BA7B-14462E46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2A2C63F-5133-4698-ABE3-25E9ED9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10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3290D6-E74D-47BB-B3F7-936EDA0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457825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€14.90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4707117-18B8-40BF-8A52-4DD4C7C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4102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A5F1045-28D9-44CA-A080-B5067511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457825"/>
            <a:ext cx="1314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96355898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B32CB-624C-4B91-BE74-2607E92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N1 — COMPARABLE PRICE BASKET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FB713-32B9-4653-85A6-4784C53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Comparable price basket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5E8C2-CCB0-4CD9-A42C-2C0358F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Reasonable equivalents only; source date and confidence shown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E8540-0FF9-47D1-BCFE-C08167A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05455-A903-46AB-9652-393473A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C2DD7-393E-4EA5-88FD-AE248AA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724B5-5387-4646-9FE7-47266A64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4CC09-AE07-4045-868B-2E94026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50497-7D64-45C2-80DF-E67C178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06B46-1CAD-40A6-B18E-40D9295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6255C-0D14-409C-8D6F-E9AA0A5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D46C6-AB6C-4E6D-A9B1-883DC74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9DD34-096D-4092-95AB-192FCAE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94670-37AD-442B-A39C-0DC213C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90F2C-C858-4107-AF1C-2B8AA62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0C99A-86F0-48E2-8191-41185C0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E6DE7-37C5-4F4A-A6E6-FE9A429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4B5F6-5646-4366-8588-7973477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EFEA2-AD09-4FE9-B8D6-ACE350B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303E7-7C74-4439-9921-3AB746C6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09F3C-AB4F-4B20-B08F-A39B7883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9AAED-065D-48B0-AB99-7ABCCA38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6817F-3969-45C5-9DE4-E30A3854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0CAFC-22DC-4FE8-AE09-2F2D6BB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09ADA-132B-4383-BF48-A9DC92F1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DD26E-8EDE-4420-A166-0142D774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B0FAF1-BE5C-4930-AAED-D107DC3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DB5D9-AA7E-459E-8630-B9D032C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793BE-8DBA-4FC4-9C40-92DB74B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35F77-6A63-49E4-98A0-D290749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C2EC3-EBDA-4B82-990B-F20C7C1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6551E-2F6E-492F-802E-45CC0AFF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C3773D-E3BD-419C-AD5E-3185AFA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3A9EB8-75C1-4D0F-979A-D749DFCA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0D34A-D9A5-4608-956F-C1F255F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73ED3B-70F4-424F-B29D-4B18720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2F33BE-CA47-4EE1-B137-D6966959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5CDF78-FEB3-4969-8706-ECB0385D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46D9F-C10A-42C9-8AB0-3425C132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43D677-1575-47CB-8F48-CD34EC84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C43BED-5A19-4C98-ABF0-F81FDE1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474DC2-615F-4B1C-B71C-D622FC0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314054-7973-430C-B624-7831A17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1D58F-2B79-4527-A4EE-9ECED6EB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5932B-F46E-4E6A-BA2F-4A96FEF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9E5E74-CD57-4AD5-86B9-057B2489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2C9DF8-5BA2-4256-8169-408BD5C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B9EFFD-E22B-4036-A8AC-BE4D5EF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09D870-782A-436E-9DDB-F67A8E6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8C5706-2FDD-4F27-B3D2-557979A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A28105-02A4-45C4-8C4E-90A3848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5407C9-AC95-4C2D-B4C3-20880D5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AE553A-936A-400A-82C0-2FB1D95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61EF78-455D-4DB8-B825-ACA4BD5C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1BAB81-B58C-4833-BDF4-C9E3B98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B8B758-EEA0-427D-814D-E8543D8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784F4D-E290-48B5-BF62-241AE42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CEBFAC-70F7-4097-9EBD-4445C59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CB7CB9-3AA3-4470-A711-392425E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5A8F17-640A-49B0-A084-E470381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Hummus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682D8C-685F-47E3-892A-2B5784D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7854FE-8830-4D60-85BB-8E14A4F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F8838D-00AE-40DA-8CFA-B4C34C9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6C5170-AD53-4FDB-8E60-08DFB4E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28E60B-46E3-4685-8662-4B5FC54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FAC693-0E0B-40E2-B8E9-E93C6077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10B852-79D0-4A56-8D4E-6DBA21EA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407570-0438-40D2-8951-1470B36A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E74782B-0FFF-4119-A56D-CA9A368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37F04A-943A-4E3F-9C13-67DA5080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EF4B45-6785-420E-B78B-5279B92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0F29F5-57A4-4BCA-8EC1-7190532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4057FD-D683-4D75-91B5-F50AC58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1D5A8E-F777-44FC-9F84-374CB859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B7AE3A-CCDA-4380-AF81-39B17CD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57701F-AAB5-4F25-803B-57DF7D34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63078B-FC11-4878-881C-DEC89CA5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B31EAA-7C6E-4EF7-9843-B28FB27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AC5069-E22C-44F2-BFB6-8840C82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C3F274A-DB10-4100-A6AE-10D645B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535C4D-C5B9-4F1E-BB85-3BCAC27D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CE08A6-DCB4-41ED-BDF9-15DBC5C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5F53DC1-CD8F-44F9-B408-EF0A233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94D584-FEDC-4A30-9231-BC79385F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Tabouleh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4CA7AB-F3EA-47AA-90DA-65D5A460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9F0E24-879D-4F70-A640-394F7F9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057C09-C21A-44D0-98B6-8C35F09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F2B700-8A05-427E-93BC-6283C29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603B39-DD8F-4DB1-B728-B0F9B45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8FE20E-A698-4910-B84F-A2B5E338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A4F412-A09F-4581-BC08-5E631CB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E9ABCD-7CE5-48C2-AC77-AA56930A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750C62-C039-4E01-9A33-CE8D6001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A4E818-49CA-4B69-9F03-C74058EF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48AE11-368D-4E9B-B31B-E69566AC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AF7DA8-2FEF-42A4-960C-52401EE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Tabule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87628D-2D92-41D4-B894-B7DC80FC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81FC77B-9F0C-4948-81A3-FA794AF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D95FB3F-F39B-4C40-A52B-9852FFA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71FB72-AD5B-424A-9C8B-24EAA53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65E8E1F-81B5-47D2-B566-2AF4FFCF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CFC6618-58A1-460E-9587-9DFB7BBE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2F96FA-BFA2-4E9F-A4F5-62170F6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16BC3C-68E6-49E9-A236-B043A2E9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9362C1-C59F-4FEE-ABB4-7BC9A4A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83DDC00-FDA1-4276-B630-AD7827A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430B61-FB5A-42B7-BDF0-357C3DC6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F052F92-6E2A-4DFC-8D87-9857A08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Tabbouleh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D9A416-100C-4128-B9D3-1546A5D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682E01-D05E-4C38-9B5C-E9A592D5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€7.90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8C9A23-6BE4-483F-8D56-E9478D18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8FE009-9B64-4632-9896-B7F781C4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17DEB2-D051-4AA6-A4F3-C385F77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DAA7AFE-50C9-4A3B-9A21-AAC7CE46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8EB8119-39E7-4381-96B7-E36CC7DE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E11561-FB42-47C5-8067-23CEB32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C9AAA1-7DA1-47D0-9413-C8A50B02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FEB4185-3251-4A82-8220-A2D78326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D8C0E3-9918-42CB-BB7E-C701F7A5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9399B1C-F74C-4723-9AEB-14AAC532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20A3177-FAD4-439B-8081-EFE60CF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5291838-C7D6-4717-B534-4088A6B0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D6D096F-C31E-4C64-BB36-02F5254D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6AD0C97-A82A-461E-A377-33000E3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6D7EBD1-BD4F-4DC1-BA74-472CF91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FE38493-10A6-4AAB-B066-4727E5C1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2AD9707-3F57-4A1C-AE7A-DAA9344B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674B14B-0C9F-4BCB-8B16-65E4520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4744A3-8F49-409E-BEE1-1ABA171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662E037-9EF2-4ADC-8F2C-CF16E0F7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266C3E0-5FFA-415D-BB72-6A73F0DC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596E061-D8FC-4F0F-A5DD-E696FC6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AB49359-307A-44C4-9065-5B126739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8F2DEFA-9C36-4573-B13E-1E2458A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€9.50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5051257-FBFF-4888-BCD4-229B117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61CE3EC-9550-4C47-9641-818CE27A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365250-045C-44BA-BAD5-1E9652B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3E69DE-6E4D-4784-AAA4-B4E2CF5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61653530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CE71B-BA11-4523-A2F1-BC01A5E6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N2 — COMPARABLE PRICE BASKET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2E2E3-2DED-4865-A990-1133931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Comparable price basket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FF629-B161-4E96-B6AD-194FAA1A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Reasonable equivalents only; source date and confidence shown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3E2BD-0D4D-4F61-855B-8C5A752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D7E4E-507A-4BA1-B770-3867E2EA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3C502-4920-4194-90D2-5001544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3CE26-7AC3-4925-99F2-2088E489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70AC9-6865-4719-BFEB-3329C62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0F0FC-6708-49B0-A25B-593DC906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A8FE4-300C-4096-8F37-8C1B426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CF888-40A5-4F78-A70E-5C6C92CA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AE24E-5691-40F8-9F71-4605ED67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9CA1A-8CCE-410F-A8F3-2315249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A48AF-F6D6-46C0-8B26-4A0BCA9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00C42-26D3-4C39-8C87-F46710E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529EB-0F23-4CDC-9ECE-727E7A4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E6ECB-B51E-4D54-BEDE-8828790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FB692-0CC4-42E5-880C-79367EBD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D6446-3C47-4217-92AE-A669EF3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B6495-2EC3-4721-A13B-CB249DBF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F5029-C6EE-4483-A463-2FB18509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2B82E-8F69-4311-96A1-8F506151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50924-3B20-4BE5-B2D3-CD6DF52F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E35BE-05AB-47FE-8044-2370A911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Fattoush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0F79B-FD97-4374-A824-F41CA0D4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040BD-141F-494D-B7C1-12F6E05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€8.90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28939-176F-4192-A955-186F470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379F0-1EBD-4656-AEA4-C81E2E9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2AC21-967B-47BF-955F-AA13D026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066D0-9D32-473E-B44A-49310DB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16F0D-3D70-4721-B038-57D2DBAC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05407-8C39-4113-8509-4572575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18CB4-FFD7-4B8B-8CEE-F7E821E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C74E16-D77C-4A33-8685-62893ACB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11B7A-D547-4891-8DA3-EC2D1D1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487B2-B719-45C5-8CDD-0212F14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96F140-8703-4249-BC94-05519B3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8948EB-321D-4A3F-AFDD-6DB684C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€13.90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7EE549-559A-4AF9-9499-1F87F709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169C49-EA89-43F8-974E-FADCFC3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ABF99B-95CA-4276-A06E-0921B80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4652F6-48F3-43EB-8368-065E6749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1FEE00-1E28-424D-8ECA-D0E568F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970B5D-B6CB-41D0-AB1D-126111D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ACE6CE-F746-4498-A0BD-C94E0CE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AE58A2-DD69-4544-A008-ACA5AC8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26C585-BCF5-48F8-9067-62AE904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8C8316-F8BB-49D1-B0DD-0E7F2E7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Falafel-Teller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A2A973-BF98-4EAD-913A-5B5782BE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A0B752-393D-4D8A-92A5-6CFEB1B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€11.90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D6D9E8-2754-4335-B020-6BD7291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439C98-69BB-4217-9462-8F38452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6D5659-D191-4DBE-A4DA-BC96B26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DE4369-9BBF-4182-8778-84A1FFA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E259A3-41BD-4B7C-B537-BC57A66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A91AB4-1769-473A-B1C3-E686D9E3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BE0ADC-309E-4DCC-ADF6-12891799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EF3CD9-D773-4D33-B133-038F3172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25AF89-BB7C-4F89-85C9-742BA561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A95CDB-2D2A-4EBC-8193-408410B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952DE0-6D7B-42B1-A5E3-77BEC8D8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906F78-1097-4D7C-A976-C5E6D89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€7.50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762415-D117-4D3E-879C-233C8AF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1B7710-DA1D-4306-AB24-C2E476D8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538E80-508D-4AF8-B01B-CEFC22A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F88F90-B133-4182-BAAA-379C6C58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F6C5E7-BF18-4ECE-B0EC-F41F9EF5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F46670-AB52-4137-BCA9-494E882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Plate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E2BFB9-38ED-4E96-9432-45DF186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A792B4-01E3-4434-8A32-5E0C2F9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62D6FC-B08A-4A65-AE11-6CC3225A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51D0D2-CAD1-4970-9FFC-3F30CAFA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Falafel Teller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2E4C7D-684F-4FD8-A099-AFAED93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BD7293-A0FF-4425-8E15-24FB7369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€10.00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B27F84-5CC6-4CF6-B974-5983438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ADACD4-7EFA-4BD6-8795-55CFE2DD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369862-FEF1-43D3-B377-093BA801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01228B-164D-4716-BFEE-7A867B53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D5CC2D-7F3D-4635-B31B-028227CC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FF49CA-C6B8-4F16-90ED-378F744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75510B-C354-4DAF-981C-C19B26B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A1B8F0-9910-4965-A7BF-BD1D210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A6E9FB-55C1-475D-9500-8798F55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656A17-4A24-4461-8C0C-B03BBCD8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D1B580-3BBB-4751-A239-A482D74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575A6C-A887-416D-B4E7-6DF1495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€18.00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B99E7E-25A2-4406-9E1E-68E15F8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C24D066-BD90-4A58-AD08-F530EDB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8A537B-9097-4904-924E-05756A19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017859-5BB6-4F42-ADC7-626DA28E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69C975-F4B7-4FC7-84B1-157F45D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F3132F-BDD7-400E-B75E-3DFE074D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8AB068-F9E0-481C-8F27-BBC9A92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0A18FD-3BAB-4488-AA28-9FA73387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2B7DBB0-3DD4-444B-AF75-FD310A2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DEDFCB-8033-44E3-82A5-B01C400E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Tawook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880935-ED77-45E1-AB39-CD5C86F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D86BC4-755B-4D9D-B7E4-2C6A3D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€19.90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28C7C7-E00B-4D36-82BD-17AA1C00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4E48EA-F0D7-4032-AEE6-758B1DE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8CBD9F-DA55-419E-A4BA-F079A4D5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3469FB-43FF-4EFF-AD0B-B976540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C21DD7-E36B-48A1-94C7-36128D5E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36655DA-B49F-4FB6-9FB6-910D27A5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937CEC-4236-4388-8710-0B773BA3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D65C91-0B41-44A3-9616-A8A09A2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0CD42C-E8A4-4EBB-B0AC-31EE55F1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7923F0-9939-4A66-B600-170B9CE4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Hähnchen Teller mit…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C700C6-24B5-4238-B117-C44F31E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ABA0FF5-56E0-42EF-8ACF-34FFCD61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€13.50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486D6C9-2E6F-4118-94DB-7F352D11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40B63C-2871-4AD0-9233-55E3912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191313-2011-43EE-B3A2-37234F1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369285-D72B-46C8-BBF4-0F1BA35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05AC8ED-6CFA-42F8-8CD1-DA3BD44A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CD80B84-D0E3-4F9E-9BAF-2E8C7D07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Shish Taouk / Chi…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48C252-4BF1-4E36-B370-C42B62CF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720078-588E-49BC-AB65-197A546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8233F6F-1EB7-421C-A808-81E4B29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DABCFD0-C764-4C57-AC35-C266137C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Schisch Taouk Teller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5AFE1A-3C0A-4546-B037-414EBC5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6C310DE-960E-41AB-A505-9AF8E81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€14.90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5E317C8-AE72-46EA-8255-6AD1694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5348650-B38F-4E33-B637-18C2A77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B30C38D-AA25-4867-93FB-1B2A7AD8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5516ACD-D564-4872-A29E-BDBB0AD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8C2B912-0EBA-46B0-897B-F436E01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82CA4B-EF5B-416F-AF1C-0A48378C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B98EEC5-245E-46B1-9750-2D61DD1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917AC7A-C0A8-4C45-8EEC-3E2D24EB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0023AEE-4043-4C46-9A3D-00C269C2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2B84D23-B822-4EBA-91E4-50637B0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 Grillplat…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6804117-5154-442C-A4CE-7EB190CF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968062A-9297-470D-96C1-2011D4C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€25.00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D5EBE1-95AB-4048-8366-DDFAA01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4346208-5276-43A1-8968-9F8CB661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6B25536-7456-4350-A862-F98AD5E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93002A2-39BE-4DEF-B752-C10E07FC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68657450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B0FBC-2DBA-4151-803F-4137EAE4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N3 — COMPARABLE PRICE BASKET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A9F9E-CF92-4D0B-BCB7-A17BB22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Comparable price basket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0CE52-1027-4BB9-AB43-AC8DDC5B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Reasonable equivalents only; source date and confidence shown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966D2-919F-469C-B846-61096C7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B4B40-DE64-4E8A-ACA9-191E9CC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85DB8-2C75-4207-88F7-0C11312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66D57-648B-480B-A423-67B1315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B8393-B5D7-47C7-8D4B-BA930D29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08FA3-85FA-41F4-BD47-A551355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EBECF-9116-4739-A674-D89B0E9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47CB2-D0CD-4447-A7CC-840ADF1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919FA-104D-4BF0-8AC1-0193045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BDC75-7F68-42C7-84F7-764970EF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1370B-1401-442E-A1F4-EA8A9A8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4FE6D-0B99-41B8-9165-5CE5FEB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D1A15-A2A5-42D2-9A38-D68EBB5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10113-BD22-4AE3-81EB-58A3765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3FE11-3B59-4EE2-8640-0938274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3B1B4-270A-4A53-BE33-689956A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F304C-8495-4E8A-A119-DD80D88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05DBD-1F05-403C-95BA-C7432432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0D8D5-F7FA-48C0-841D-B37FF7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313E4-1A65-4DD3-BD35-E8710A52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29C44-4204-477E-9439-0DE228C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F4885-855F-461B-ADBE-12A6920E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DD77E-6E94-4270-BFB0-F76254DD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E566E-B863-4D72-8116-F60F93F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481B8-CCBF-4174-87A5-397A4B5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574BE-9E6D-41E9-AD77-0946F97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F2501-A03C-4AA0-9589-A5692C71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D91FF-B0E5-4591-9945-CFA02584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EACE2D-1945-4FA0-AFDB-FC42B9F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2B4CF-208A-42D7-A0C5-7A1A745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659CEA-63C0-439E-BA45-88A538E7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D5A63-A552-49C2-BAB9-BD1C34D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761533-9272-4FBE-BAD2-82B96146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9B271-748C-4BEB-8997-6BA44E1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5F3A9-AE01-4F1C-BFDB-A11F6D2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€14.50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1335A-4413-4531-BE98-518AE6E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16302A-1EE5-4454-8D7E-E847544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000618-AE7A-4FBF-A574-3BFDD239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D56B16-E7E3-4C70-9410-3AA6A63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159B51-6190-435E-8B85-80306C68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4EFAF8-1BA7-430D-84DA-9394DF3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 Grill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D7983D-2121-49BC-A54A-2736C387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60ED14-AD46-4C0A-B57F-CCBBA38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75D4E6-37FF-4A3A-9281-D27D1C9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5EA25F-9049-495D-8C6A-C52BE1FD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Gemischter Grilltel…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17AC90-E33A-435E-9BFE-B2F2DB5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498C9C-9DC3-4BEE-B1EC-E5DD21A4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€24.90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EB9CE8-74D8-42D9-AE33-B280E419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5FE14E-2FDC-4B37-BC16-E9D0D39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C85388-C933-44C2-8077-5802B432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92EEB6-CF43-45BB-AE7F-84573F7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6D6521-A2DC-4BE9-A72B-3AD9CA9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352224-55A6-4D38-B9B1-3F58343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48C7BB-8812-436F-A531-1FBCB242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F5D39A-DEE1-4DC5-92DF-218FD5A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5EEB79-AC22-4D64-9A38-B0C6FA38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56E823-C840-41F7-ABE8-D15DB80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41876F-F57C-4763-8501-BF8878AE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D08321-CB1A-4688-936D-8A7311C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€26.00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E1E225-80FD-4BBA-BD4C-B02D975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250DBF-B09F-4A81-A416-885539D9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5EEF4E-41F2-4495-B632-BAE673B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16ACA6-6551-41FD-B93D-57183D3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F825D6-6743-4C6A-881C-C7DBC89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167A81-ADAF-40EF-900C-42CA5642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B99FA1-BA4F-4901-85E8-D10C7F2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E8BC38A-6E60-4321-AEA3-BA5C22C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D88C7D-B3BE-45E7-B604-B5E54C2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C18418-A97C-49A5-BF04-9135578A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8E74A7-02A8-497A-9A77-24BFBDAA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52F3FB-C821-4675-9EA5-2E7F31C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€28.90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3AECD6-1CC3-42E7-8704-48473986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64A2B3-211B-4329-AED7-EF106C5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D3157B-E2BD-492F-AFA8-D1E35EB5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623AE2-B94D-43BC-841C-EAD8AF42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60EA18-928A-419F-A830-06C7F50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B3EBE0-4064-4859-9E20-70701F8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Lamb Chops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DDCE99-2597-49C6-B623-B1B85FF9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90F21B-F223-4686-BEAE-8CE0872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E171DE-CB09-47E6-965E-551E6972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2550E1A-579B-49F3-BBAB-F0A2D208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Lammkotelett Teller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74333B-FE7B-489A-ADFD-A2EC884E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88B6510-9674-4DD0-A9C3-37CA02F3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€20.90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AC92E03-D133-481F-B046-27E0D19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542A36-E2C5-4F6C-81A5-9F855C1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3CC444-ACE2-4C5F-9BB5-F5D32605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C38720-6B5C-423E-9B8C-5A97B52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E1B3BF-6F46-4D89-8428-C7362A7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5CC2BE-03E7-45D7-BDC8-A08B030E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D3DF840-BC6B-4D23-A95A-E5B6DB0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18AD16B-8994-4F23-A262-D1A11D43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E37DC57-C3C2-46DC-81F2-7D6CCF55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8B1CC4-812A-4DE2-8A85-5557DCC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Gegrillte / frittie…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D5269AA-E83B-4780-B355-FCCCCAD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5B5954-63B2-421B-A99C-EF63B70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42474D-EE1C-4B00-A208-C671F5F4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109D45E-16EB-4651-BE02-BAF7E71B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07D929-6B39-44B6-9559-781B571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EAF98F-D32C-46D3-AC6B-0C980F40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EBC249-6D8D-4D09-A421-B6EFAC2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9047C1-CFFB-48B7-82CF-EF5FEA6D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4951DE-5EC6-40F8-9BC9-619C8EA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84CAEF-ED0B-4C73-ABFC-6E5050A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FF9EE9-B473-4E66-8839-F7A9F91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20CA7D9-EC63-49FB-AF1B-EEFA078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Gegrillter Fisch Do…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1B0555-310B-4030-A6A1-D57D1B6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55A9F47-ECFD-44D0-99BD-5B518AF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€29.50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F6B7CC-EFC7-432A-8E60-A087021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18999-7C9B-4C13-A188-E6B5640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D7A59D0-41F9-408E-848C-3635CE00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ED171C8-D1F4-4E7C-B287-C2EA6EFE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142243-7FFC-4A7D-AF39-61AA69A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7218FB-3B95-4407-B974-606F51A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2FB4F1-8D65-4BA2-927E-428BCEA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0BBFC6B-A9F4-41C5-ABB7-59A2FD7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0B0075-E960-4DE1-BCA2-B76B764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4432A9-2903-44B9-B896-41BDF2D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 mit Reis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FF2E17-F11B-4EAB-8CB6-7725028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5704F9C-5147-4655-8E50-F29DBDA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€15.50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AB5F049-5789-490F-91D7-32334615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44433DB-C6FD-4EE7-87AF-257F56F7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90C169-F46E-4BCD-B4AA-DE451C7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3EF23B-CEFE-4EE8-B42A-95E81427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6F2CE3-837B-41DF-8105-885CA52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285BBC5-0AD9-40E1-93BD-7FD4742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7403E7-D484-4A6F-B11D-9373FD36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57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769D3FE-288C-4A5A-B2F4-CEE21EA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7054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05D6884-F095-4C70-BD04-25011CF5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57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6D36DB-3DA2-4565-B5DE-534526EC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7054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Dorade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765018-E0E6-489D-81D8-C22F3AB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9443B25-F194-42B6-9BCF-BADB8465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€24.90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C09B62-9841-4842-9B26-9D7AA36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47D5DDA-4999-4CCB-9778-812B19F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ADF3D55-F54C-4DFE-8447-271026F3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5F607EF-7657-412F-BB07-E47A119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054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81226448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9A5C4-A62B-46EA-86C8-BE296D6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N4 — COMPARABLE PRICE BASKET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E01F0-64D3-48FA-BBE0-1E9802C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Comparable price basket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59D0E-1127-45CB-9665-2574B74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Reasonable equivalents only; source date and confidence shown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6DBC7-9B66-440E-8C2B-C53B8E04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92358-67DF-4032-8F42-718C848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847B2-EF78-437B-BEC1-F2053AA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FF6CA-DA4C-426F-B876-B26A4E6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0D54D-4923-42BD-84BD-DA547271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437AC-9786-4F08-8AAA-EF4B6E99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57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5DE79-80FE-4389-A987-4CD02D9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7240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4A201-3C4D-4233-AD84-6950B282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57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0F7CB-21A8-4465-95D1-A80ADBE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7240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77FA5-862F-40E4-9110-7E89BC15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488F8-37E5-41C6-94DB-3113333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240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B52A8-4504-41EF-B356-6EAFDE2E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DA1D1-5376-421D-B594-CFA2A63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90D65-CCD3-4F63-A3F1-5D51039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20C3F-81B3-41B7-B5C9-E3E98D0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24025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00426-5BC3-48EC-9887-9ADB5B59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7547D-BBC2-461A-9EA8-BD0064BF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7E837-51DD-4327-8F2D-2A37131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9D8BF-224F-455E-8848-42C5DF4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050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EE778-28E0-4B78-BCFD-826A78D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74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D3582-DF24-4A51-BED2-756D690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050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 Sandwich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65DF8-EC88-406E-A46D-F5CB4D70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574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F0D3C-19BE-44B0-8F1A-7A851043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€7.00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F8702-6EEE-45F8-A8EF-E2B3F03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B8270-5675-412D-A846-45EF6C6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B83A1-2992-48CD-A731-82BAF65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2A869-F85C-4338-BAE1-881796B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050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B1885-422E-4692-8B8F-99A5C99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2BEB3-90B2-47DF-8CB6-30B6BF5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DB8D33-9EAC-4DF5-A2B3-08D79BEE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457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F6970B-ECDC-489C-81EB-18E551A3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050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153A8-F23B-4184-B066-76DD8E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57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99CB7F-DEC0-423B-9910-FD9B2B9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Döner Sandwich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E3568-763E-4B91-85DB-E8E8EBE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65A38-9D99-4947-B3CD-CE36B1F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050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€5.00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651946-9D1A-4D7F-9729-884246C1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7BFDAB-7881-4276-BBF2-B5117F72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485B93-F10A-4645-8B4B-399B892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EC36BA-3A8F-446A-90EB-CF42722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F459E5-3259-438A-9D3C-C38D004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0460AA-D603-499D-8A38-4489B76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Shawarma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258CDE-90E5-49C0-A1C4-F3CF8D1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57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968B8-07DC-4B40-8EA5-51BAC7A7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051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23EFCE-0C6D-473D-82D7-FA77CD64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1E68A8-35BD-4560-8D0C-A406AE76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051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Schawarma Kalb Sand…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FB2C70-4806-4831-8EB6-576E173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83E2AD-E812-4AE5-AEDD-D739FF8F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051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€6.65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4BFAD9-5A57-442B-A2E0-B31993BC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285125-D208-45D9-A828-19E361CF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2E3A9E-5D17-4088-99B0-D7E3924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C4D693-474F-4A87-846F-CBAA497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E79790-0217-4CCD-A02B-3BE47E0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12E8CA-22CC-4CD0-AF60-6AB46E8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E7AD6E-3144-45F9-8679-1046B21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E1E475-4B41-42BF-9C4B-B76C1E4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051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0CB033-8831-4E34-8988-68C11AC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E547BA-25F3-4FAF-98B7-E7A6C91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051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00C960-FC0A-4584-B23A-A8445A24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71CAFC-DD06-4EE8-A4DE-7047E5C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051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EA63CC-9A9C-4335-BFA5-6330061B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755B03-81E5-4C96-B1FE-557FB8FB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9BC68C-6982-487C-B689-2F61816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7E588D-E903-4C9C-B45B-90913EC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7DCA62-AB89-420C-8D8B-700CFE1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BC3E3E-193B-408B-89DF-BD3780FB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17BD02-CBF6-48FE-A2F9-525BD47D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57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7A5CCF-7D3B-42E8-9562-F8A9EC06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C60656-A66A-4062-8C0B-2E1F530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57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B26D88-9E1A-4B4F-8E29-BE31955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Schwarztee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635E96-9CCE-467F-A173-B81DFDE9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A21A04-24C2-43B1-96F3-40C5615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€4.20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E8AE30-7228-49C6-9F20-D9E66CDC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7A5176-7D20-4D67-A039-5E13DD8C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1FE732-EEA8-4312-B229-EA64E9E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70DAD6-001D-4833-A24D-490C5D5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556B8D-91EF-43C0-B251-7578B02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63D87A-8369-46DB-B141-690D128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4F5011-E735-49BB-B779-23D5887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57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27BE06-A775-4710-96E8-833815B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052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DE2A13-46CF-4DE3-8603-5B3B375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576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E27509-867B-4862-97B5-CC9B35D2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052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Cola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FF927F-E2A9-4907-BD5D-D8FA673A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57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CCBC12-66DD-4EED-992A-CA363C8C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052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ED0743C-0DC0-4A59-86EA-ED5B63F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01244B-5AD0-4749-B09B-F4006B9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not recorded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BDCE7F-385C-49BC-B7DD-1E6AEE21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324E04-1A7F-4BE5-A6C3-BC50825A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052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C3A88BF-082D-4E23-8E6D-C955D565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74C5A0-0D42-4891-9067-C91574F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3E4FEA-9A64-4F4B-965B-2C6DDF8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57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896BEE0-156D-4D99-A338-3416A846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053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ED6A12-EB2F-45EB-9761-EE3BB29B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8022A3-4633-4910-92A9-A5E3770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Coca-Cola 0.2l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844908-0903-4E49-91A0-DBB8DC9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577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2C95F84-FFD0-4CA0-87E3-3E64B4B7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053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€3.50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F9DA0E-A1CB-4B39-9743-89E9D98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F6B4D6-0E89-4BFB-9F19-1349D66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4F9865-CD15-4650-90F7-681FB3BB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9FE807-6E3A-47E7-86EE-4F45729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053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35C21E-AE4E-4869-B009-AE88803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E2B5CC-C910-45CD-AFB7-75535272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71FB72-242B-4D94-B3B9-39C9871C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57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CBA9ECE-7B99-410F-A738-0F976A10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0537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2849BF-8B3B-4491-9302-2527390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70A542E-06CE-47C8-87DA-C9267EDD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0537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 0.33l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6AEB02-A415-4AA6-9CA6-424C0F89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57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890D7C6-ACCE-4C99-92D8-67B6733C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0537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8D5017-9971-4388-A6D7-0C7B2DE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CBDB04-0A03-4075-B65C-60B1FBF2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325EA5-F5D6-4D63-BBDA-D4DFEEC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35DB4C-EB90-49CC-A5AE-22125BC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17E0EA-09F3-4937-A367-A9ED9BB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DAECFC-071F-4ADC-B44C-FAA57D1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55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Soft Drink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9D1873-1932-46CD-951B-FC3A2FF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4F938B-52E4-4829-A793-D2696C0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05425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E9D4C15-9D4E-4E33-B208-3CFAEFD4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57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9125AF-F237-42CB-808D-E287CC8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05425"/>
            <a:ext cx="2933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Fritz-Kola 0.33l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8BB948-D443-46EC-9831-CA3B3AB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57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C8CE5F7-BE9E-4A5E-B4DD-926F7D2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€2.50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9BDB149-B5DC-4FDC-86A0-9A06ED9D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D04707-8EB7-43BE-B9BB-AFDF661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2026-09-21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8AF4425-2A56-429D-894F-EF8F524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0F2D849-AE17-48FA-8591-7C10EEA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1266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7879654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7E3CBA-81D1-40BA-9AF2-EB0F027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O — DIGITAL / SERVICE FOOTPRINT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DDB91-2A94-44D6-9A9A-E64717EB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Digital / service footprint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95813-20C7-4780-8CBF-D61646D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Status values come from stored source registers and validated review datasets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CCF52-AAE0-498E-9780-EBD9706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75CA5-0598-4CEE-ADF8-48EE2BB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F7A51-68BB-4DEB-97A9-A2872BC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AB8DC-45DE-4CF9-AF25-F3362665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58D63-A94F-4FA1-82D8-08B91E6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5C66-47F3-4BAE-8C3D-7892CAA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11358-5091-41AB-88C0-1FC3F45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Assiel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62478-A8EE-4FAF-8202-5C0F6DB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1D02A-1CB4-4599-A638-BBF9C50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Olivenzweig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D6959-86A5-4342-952E-B140FA2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33796-73C7-4450-92E5-4D837FE8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 Safa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2323-5624-44A1-83FF-C9E5332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67D4B-A100-4345-9A0F-A087A68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62125"/>
            <a:ext cx="212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Beit Fayrouz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14592-35F6-4A59-90AF-8A8435E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85515-46BC-43EA-976F-5DF0E853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Official Website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91331-1281-4652-978E-68E82810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C25B8-12E2-469C-81DC-BB68E18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https://www.alas…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71071-44DF-4EFC-9B25-8415F182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855B2-556E-490C-B839-BBF792C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https://www.oliv…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5BA3F-BDF8-4C69-9F64-0CA9E20A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D4806-7A40-4E94-8C98-71851EE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https://alsafare…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01012-3D65-43F8-B58A-49F7B6C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31D5C-E4C4-416B-950F-DC02C89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87F22-00CD-4AED-9313-584EC03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57D60-732F-488C-9AA3-C6DE7FE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 Completeness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8884D-2A70-4EF6-ABA9-41AC677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8D27A-27E7-449D-98D8-D6B733E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EA903-C04A-4F92-A4DE-FFA37E2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598C1-7AAE-4415-843A-91CB341E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D5EAB-43DC-4DD6-A27F-4A0208B6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FB18D-8A8A-4451-BE5B-EAA4213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9D0D97-3F29-4878-AF3B-E367ED70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FD6BC-A3CF-49AA-ACE2-8BDFD350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622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stored_snapshot_…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1D880-565B-4BFA-AEE9-C9ACAF7D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8BF2C5-F9FD-4E43-B540-8DBB205B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Google Presence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C6A16-A365-4F15-95A4-5CEF684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5716A-E410-4C4E-8856-3E30DE3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9DE1EA-84C0-4798-8D37-61F0932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36A45D-0F2A-4A59-A5A5-372B96F5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DC4CD-3444-4B98-BC9E-41C64001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3433E2-14E1-4DE6-8734-29F6059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6C595B-088E-414F-B7BB-F146DA3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D9EA2D-01B5-422B-9B99-E9635B33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813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B78A58-CB81-4D94-8146-3D8EC11B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761D10-E479-4168-A5E8-F610712E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0172CC-8632-4067-92FF-741B15C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8A077E-73EB-442B-AA52-F76631D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926538-08BE-4353-9351-8ED8BB6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FCA532-61FB-4A7A-A52F-AB2F4D16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EBE9F5-2488-4E7A-97F4-3F7CEAB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C4CE36-9AE7-4BBF-AD27-D5F345DD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FCD18C-B52F-4616-B416-1B724BA1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9FDCE5-ACD4-4F61-85B1-8570567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004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BE32FB-5152-4683-AAB1-88554FA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0831DE-73E5-4924-AF67-0F9514E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B84FF7-3925-4E80-8161-257DAB39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AD71A7-F4E2-4594-90ED-CA46F3E0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DA2B84-B440-486D-8E25-D02472DB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7B56F9-CC15-48AC-BB0D-E63F8E4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41A9A-7446-464F-9256-747CEAD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866E49-D082-47D8-BC69-7FA4FC8F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4C1560-CBDA-4E63-837A-A2C0F084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1622C0-F391-4C77-8308-05EA33D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95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0832C1-92C6-46ED-BEB1-4095C43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8A4408-92B4-4F6F-8D99-317DA7D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Online Reservation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949281-66D4-4D05-B764-C177E02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0AECFF-920E-4EF5-8F66-CFE0970A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D692E8-C5D5-4E6A-BC46-6A0280A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100E77-022F-437A-9A85-C419C07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858DB1-56F2-4419-B909-E9E0DF33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B49071-1677-4E46-8FE3-1980F8E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C6DF71-48FF-4D7D-A4B2-BCEE74FA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776559-13F1-45C5-BE01-12C9565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386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C15A23-B656-4481-ADC4-CDD5C91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A18C1C-66D9-45E7-9C57-4A3A8A4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C35CD0-0C4F-4FE2-BDC5-337F91D9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8298C24-30C4-47D6-A57A-98B661A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5EFBE0-D9F3-4A34-A9AA-9C5C675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675F47-8534-4F0F-BEC3-D69AB7B6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655B0A-4481-4C60-8D02-97CA1D83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DDCB0F-DDD3-4A57-A873-E85213B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86630F-A767-4FD6-98C2-3C4B443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8E8A8C-48D0-4BE1-8C4D-7E04A88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577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0112B7-BE52-451A-9E57-6BDD19B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EF4C65-09CE-4CD7-808F-1E63C04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1A3B11C-ED51-4166-8C5B-7A1AF79B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3C980E0-8644-4A82-8630-485B50A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EC068A-78CA-41AD-8258-4F7DE131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9D59E26-1C57-47F0-BB23-21F97DC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A7D4AA-4C19-4EEC-AF6C-675F5D8E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15D7F6-EF89-4865-BDA9-723AE0A9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1F0916-49E1-4A22-AE45-1C16374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0AA767E-D4AF-49A1-A670-BD83776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768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A8AF0E7-C267-4A2E-89E5-A42F1BE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6EA671-580F-4D61-BB99-E2F6347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Outdoor Seating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6682C69-50DF-46F3-B173-83ED7B26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867633-9F68-4164-A9C0-3F021209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20634B-E372-41AB-8568-AA15B97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D988D3-4A1C-462B-BF3F-E7807225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375A1BD-8B3B-4A86-8E6F-67E2520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213F43-ED10-44F4-84C2-42B3380E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108981-9E66-4390-8F2A-E87C77B0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483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5AA633-CF39-4FE8-95D1-18B76F3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959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27A9A5-258C-482C-87A3-8F07FCA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78A90F-5C46-493E-8F57-1E7E8AA3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Catering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B17E6E6-5FF3-4F32-AD29-B0FB9215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6D4725-0328-48D4-AE0B-0F3FBDC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3058C57-06BE-4272-8D26-709B182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52E27B1-8FB1-45AE-A185-BEE2FFEA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2D22E1A-176A-457F-9DCC-83B95B09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1B6A896-595A-4401-9661-F2B74B65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71B2D4-782A-4130-8B3F-E723EF5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674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FD0EF59-054F-4FA9-98DC-6B121C2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1502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</p:spTree>
    <p:extLst>
      <p:ext uri="{BB962C8B-B14F-4D97-AF65-F5344CB8AC3E}">
        <p14:creationId xmlns:p14="http://schemas.microsoft.com/office/powerpoint/2010/main" val="16843568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C8073-C608-421C-AD3D-C3C4794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P1 — SOURCE REGISTER / CONFLICTS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24F36-7A94-45A1-BB83-347D691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Assiel sources and conflicts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64641-4EB2-4D03-B82B-C499735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Stored sources only; no new public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7F91B-C56A-4A70-AD44-F5A168F4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186DC-9AE4-4F5F-A470-CCDAF259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A8AD5-9380-42C3-87E1-BA006C9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053D7-F259-4F7B-B0F3-88EA671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Existing validated local Al Assiel inputs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validated_project_input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supplied_research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1D57D-A8A3-49AA-8C19-F72D893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1A346-5FB7-47A2-BF19-F5E1076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DOCUMENTED CONFLICTS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8DA44-1945-41A4-9B51-03C331F5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PDF: PDF's broader captured inventory is not substituted for the validated local 118-item catalog.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PDF: Validated comparison drink count remains Cold Drinks 15 + Hot Drinks 10 + Cocktails &amp; Juices 9 = 34.</a:t>
            </a:r>
          </a:p>
        </p:txBody>
      </p:sp>
    </p:spTree>
    <p:extLst>
      <p:ext uri="{BB962C8B-B14F-4D97-AF65-F5344CB8AC3E}">
        <p14:creationId xmlns:p14="http://schemas.microsoft.com/office/powerpoint/2010/main" val="148190824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DB8BD-48CD-465B-9EFD-80F434B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P2 — SOURCE REGISTER / CONFLICTS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DF8FF-030F-4C8E-9DBE-3AF8CE95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Olivenzweig sources and conflicts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95A60-2399-4477-8F33-C1519A3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Stored sources only; no new public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4942F-11CB-4976-ACD9-10CA456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87E4C-0407-4452-80E7-BC31C058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2FA4A-9872-4061-8154-9721D79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45CD9-ADCB-429C-A2E3-2589585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home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official_restaurant_website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menu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official_owned_menu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brunch menu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official_owned_menu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services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official_restaurant_website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5F0A-FADC-4E32-BC32-831B89B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reservations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official_restaurant_website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contact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official_restaurant_website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delivery menu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delivery_platform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 Maps target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google_business_maps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9BFEE-B7CA-42E4-8A5F-1F0375EF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DOCUMENTED CONFLICTS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CA534-A961-4472-8FBC-D274443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menu: Delivery menu has some different item prices; official dine-in menu retained separately.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official contact: Some official page footers say daily while the same site also states Monday is closed; Monday retained as closed with conflict flagged.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Olivenzweig delivery menu: Delivery prices differ from official dine-in menu on some items.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PDF: Official-site footer/hour wording conflicts remain governed by the newer official source register.</a:t>
            </a:r>
          </a:p>
        </p:txBody>
      </p:sp>
    </p:spTree>
    <p:extLst>
      <p:ext uri="{BB962C8B-B14F-4D97-AF65-F5344CB8AC3E}">
        <p14:creationId xmlns:p14="http://schemas.microsoft.com/office/powerpoint/2010/main" val="2075275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AF3AD-66EA-489C-ADB4-69A230B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P3 — SOURCE REGISTER / CONFLICTS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2AD98-CD93-47CF-9AA2-75693754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Al Safa sources and conflicts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4FBD1-66E5-47AE-9E70-AD7681B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Stored sources only; no new public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5515B-7AA9-4DD8-A52E-4BF2B67D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CC15-7B1E-4BF3-BD69-22F6408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23D68-1B21-48C7-BAFE-C39B5389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05943-A5DA-4727-A791-2E2D6A0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official website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official_restaurant_website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Speisekarte.de Al Safa menu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current_menu_listing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Legacy Al Safa public menu snapshot (low)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secondary_restaurant_menu_snapshot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physical-menu snapshot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supplied_physical_menu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EE7A-8BCD-48AB-9D57-C1880A4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Speisekarte.menu PDF mirror (low)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menu_aggregator_pdf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Restaurant Guru Al Safa Bonn (low)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reputable_listing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Online Tischreservierung listing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booking_listing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 Maps target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google_business_maps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B09FA-B46F-49EE-8BB8-2FA43F7B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DOCUMENTED CONFLICTS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832C8-B87A-4D93-968C-7CAEB52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Speisekarte.de Al Safa menu: Some prices differ from the undated physical-menu extraction; the dated public value is preferred when both are present.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Legacy Al Safa public menu snapshot: Brief says the official current menu is incomplete; treat prices as a public listing snapshot, not a guaranteed complete current menu.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physical-menu snapshot: Türkische Pizza: physical €5.00 vs dated public listing €6.00.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Al Safa physical-menu snapshot: Lammkoteletts: physical €16.50 vs dated public listing €17.00.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Speisekarte.menu PDF mirror: Snapshot date and currentness are not authoritative; not used to overwrite public website prices.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PDF: Türkische Pizza €5 physical vs €6 dated public listing; €6 retained.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Supplied competitive-intelligence PDF: Lammkoteletts €16.50 physical vs €17 dated public listing; €17 retained.</a:t>
            </a:r>
          </a:p>
        </p:txBody>
      </p:sp>
    </p:spTree>
    <p:extLst>
      <p:ext uri="{BB962C8B-B14F-4D97-AF65-F5344CB8AC3E}">
        <p14:creationId xmlns:p14="http://schemas.microsoft.com/office/powerpoint/2010/main" val="115514211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C2A5B-457C-43AE-898E-5B1C8044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P4 — SOURCE REGISTER / CONFLICTS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908C-75B4-4915-8D04-503DE845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Beit Fayrouz sources and conflicts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A2B1C-0141-4505-9F0D-467468A7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Stored sources only; no new public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24C99-8F0A-42FB-981E-E90B36C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C46D-CD5B-4AF6-B27A-4C24C4FB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0A1F7-F43A-4DD5-8949-D62BA54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686E-1FEA-454C-A0DC-9B83D91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Lieferando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delivery_platform_menu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Uber Eats (medium)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delivery_platform_menu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Google Maps target (high)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google_business_maps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Opening announcement listing (low)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 reputable_listing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A86C9-AB15-4B4F-BB65-59359663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67C7B-F70B-4E7F-A86C-7F4E2ECD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C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5C59"/>
                </a:solidFill>
                <a:latin typeface="Aptos"/>
                <a:ea typeface="Aptos"/>
                <a:cs typeface="Aptos"/>
              </a:rPr>
              <a:t>DOCUMENTED CONFLICTS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7B47E-2599-4C25-81EE-2EA9D43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Lieferando: An older/localized Lieferando crawl showed different prices; German current snapshot dated 2026-09-21 is used for catalog prices and conflict is retained.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Beit Fayrouz Uber Eats: Several prices differ from Lieferando; Uber values are retained in platform_signals/notes, not silently substituted.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• Opening announcement listing: Listing venue hours 12:00-24:00 differ from Uber Eats delivery hours 11:00-23:45.</a:t>
            </a:r>
          </a:p>
        </p:txBody>
      </p:sp>
    </p:spTree>
    <p:extLst>
      <p:ext uri="{BB962C8B-B14F-4D97-AF65-F5344CB8AC3E}">
        <p14:creationId xmlns:p14="http://schemas.microsoft.com/office/powerpoint/2010/main" val="196171125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90719-179B-4EAF-90F8-8C150D91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Q1 — COMPETITOR VISIT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25921-94FE-466B-B35D-57740D6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Competitor visit scorecard · visit 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262A-B75A-4BCB-83DD-F09F849A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Print or complete digitally—one form per visit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71E67-168D-4986-BFBC-B2569C33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64A08-AC9F-443A-9DC6-66D6260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F669C-3317-429B-9B9A-E8210D25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4381-BA73-401B-B0A7-B912F417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E8575-EC04-4DA4-9186-25A74EB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A27C4-2E2B-484B-8899-7DA9862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B36ED-6868-42EF-A01A-FCB01C2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5737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72944-BD19-4116-AFFA-5857DCCA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D6762-24F9-40E8-AFE9-1F9438F8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08E95-438C-4F1F-9436-ADB73C65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EDE44-6BD7-4F57-B941-3A34F24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383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Restaurant · date · time · team members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3828D-B12E-4438-8AC7-C17A98E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71D6D-515C-4110-974B-06DAA667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ARRIVAL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CC1D3-0B97-44DE-9BD6-7A1C8501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6F3AF-1A7B-43FD-A9F0-11DB9B3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241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Parking · signage · welcome · wait to seat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F0FCC-7AEF-48BB-90FA-41E223C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1458C-DD8B-43B8-96CF-75349394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099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87353-91D6-4B2B-8D51-D518489B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91153-7D02-4433-9546-A30ED74A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99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Clarity · visuals · favourites · recommendations · offers · bundles · ordering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6CA37-47E2-4C32-A5EC-1FB37A2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7F7CF-DB6F-410E-89D1-D42D46EB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76342-1D39-4E09-A972-8920EED5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481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4A4CA-1E54-4233-80B9-BDF7952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957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Dish · price · taste · seasoning · temperature · freshness · tenderness · portion · presentation · bread · sides · sauces · time to 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CECE0-9157-44E4-9885-AA6EA10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A1CB2-F2A5-47DC-BB12-A68E459A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15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DRINKS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79305-C8D5-4A4D-B951-29875880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1D1B6-C07B-41CD-8861-FA6C696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815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Drink · price · presentation · taste ·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66689430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37496-D7B6-4654-A685-A1B81C1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Q2 — COMPETITOR VISIT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F0A4-CE20-4C2F-9EC2-56B0C8F9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Competitor visit scorecard ·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F994D-0FB0-4A48-8C6F-2068023F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Convert observations into one controlled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BAE30-80BE-4B27-ADEA-F55E0028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0A35A-12EA-4005-9F10-865A437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54795-BAF9-4EB1-B450-CD1B88E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A8FF1-285B-4252-8D9D-75C8F80F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0CEB-811A-4F86-AD4E-8CF6682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555BD-E673-4E16-8521-A3C03C6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B5BE8-76C6-4E4C-A2B1-A0CAA26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5737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6528A-A42B-4B50-8582-CCDD057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AAF6F-63BC-4F8D-AADF-5033E252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8EB92-75B0-4F44-8D44-581EB34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28D4C-A3F7-4F68-A8DD-AB3C13B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383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Friendliness · knowledge · attentiveness · communication · recommendation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80E67-ED16-4B66-8EB2-50590E6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7E924-782D-4E12-B4DE-27B989AA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1C11E-9238-4A60-86F0-7EF27BAA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7B451-E64A-4062-A08E-1C49827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241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Cleanliness · comfort · noise · atmosphere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E8712-86ED-4BD3-93E6-8F534F7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C58F8-F74E-45E0-ACCD-716DE441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099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COMMERCIAL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C526F-E34C-4778-AEF5-2413814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8FD5D-E093-49C3-B384-3E41AEDC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099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Price/value · offers · bundles · upsell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62567-7BA1-41EE-B260-C2FFFDC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C3537-E9C5-407A-84A0-9D20515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C7511-A1DA-4A25-AB63-4C03886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481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E1D3B-4717-4825-BDB8-7D402834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957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competitor does better · what Al Assiel does better · what not to copy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94D05-83F8-4500-8C78-BDCD4A9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B991D-3FD2-483B-84F2-BB40EDD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15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0E264-30FE-4913-BBB1-63BE1E39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50FB6-0C09-4290-B1A0-BC5A928B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81575"/>
            <a:ext cx="7981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Al Assiel experiment · owner · metric · deadline</a:t>
            </a:r>
          </a:p>
        </p:txBody>
      </p:sp>
    </p:spTree>
    <p:extLst>
      <p:ext uri="{BB962C8B-B14F-4D97-AF65-F5344CB8AC3E}">
        <p14:creationId xmlns:p14="http://schemas.microsoft.com/office/powerpoint/2010/main" val="48948907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4D295-3581-43CF-9070-B9C5428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APPENDIX R — METHODOLOGY / THRESHOLDS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85BD-117B-441F-BAB3-1DE4640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Methodology and evidence thresholds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F6CA1-D735-44D2-B951-32D2A59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0"/>
                </a:solidFill>
                <a:latin typeface="Aptos"/>
                <a:ea typeface="Aptos"/>
                <a:cs typeface="Aptos"/>
              </a:rPr>
              <a:t>Transparent, deterministic and review-local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5EAE6-3E49-4A9E-AFDE-5482021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5714-D04B-4EF7-9B9A-5C95F40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1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17080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28EE5-2724-4865-9A31-70E3D7A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4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F9D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9D8A"/>
                </a:solidFill>
                <a:latin typeface="Aptos"/>
                <a:ea typeface="Aptos"/>
                <a:cs typeface="Aptos"/>
              </a:rPr>
              <a:t>← Back to source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25756-0051-4F69-9F7F-FE5C7BE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EF80-422B-4BD1-A358-62DC026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621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6590A-4B2E-4DF5-86F1-53B51FED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954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6919-D259-4635-A31D-8A68809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798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D55F7-8651-4496-BC2D-90B59F37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54BAD-ED0C-4F8C-9E14-7524E33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431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6A732-4A61-4786-968D-33CF05E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13026-2049-46F1-BF2B-1321C0C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431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Topic- and clause-local; overall star rating is never a sentiment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0CB4A-F5AD-4E00-A212-99B3C5D7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921D0-CC46-4BA7-9FA9-239EC1A2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765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Sentiment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B2247-8AC8-423A-B75F-4209DEA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289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9ACA7-1CFE-4AF5-9324-BF5B983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765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1–4 supporting reviews = low; 5–14 = medium; 15+ = high; zero = none.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C9BA7-2B6D-42D0-8054-120A48C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73F7D-5A91-4F3A-B5F5-EC94D308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099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Formal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CB244-99E5-47AB-B229-ECEF358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6AC3A-911D-4C72-BE19-BBB4657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Only reviews on or before 03 Sep 2026; identical common windows.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DB28C-3771-4931-B015-4F70241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AD40D-6179-4B9C-BC60-3E90919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433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Leader labels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7B597-26AA-48A5-9193-F4B98AB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957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FA492-6EF0-4E1A-BFB2-738CE3AE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433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Overall ≥5 reviews; topic ≥5 mentions and ≥3 positive reviews; otherwise insufficient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2C470A-7AEE-4F25-B13F-6E1111D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291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FD191-1902-4F5D-BDD6-9BE47CA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767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Dish wording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E5F6B-71FF-45E9-BA46-EC94234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E70FC-F15A-49F3-8178-FCEEB3DA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767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Customer attention / sentiment only; never best-seller or sales inference.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338D8-0CF2-4086-8216-F095706F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D1CD3-A28F-4B1D-9171-D5431D6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101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Menu groups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79BD2-5672-49E4-97F6-646A976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625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95E30-2C37-404F-A176-B444410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101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Primary groups are non-duplicative; overlapping attributes are flagged and never summed.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24711E-4C8B-4CDC-8C9F-2DFD5629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32C66-9CF4-4794-ABA2-A7C55817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435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FCB825-0EC3-42A8-83DF-FEED3E6A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959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46575C-8865-400B-80BE-E3AE5B6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43525"/>
            <a:ext cx="798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 remains unknown; absence of evidence is not converted into false.</a:t>
            </a:r>
          </a:p>
        </p:txBody>
      </p:sp>
    </p:spTree>
    <p:extLst>
      <p:ext uri="{BB962C8B-B14F-4D97-AF65-F5344CB8AC3E}">
        <p14:creationId xmlns:p14="http://schemas.microsoft.com/office/powerpoint/2010/main" val="1225387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2026-09-24T15:53:19.6360000Z</dcterms:created>
  <dcterms:modified xsi:type="dcterms:W3CDTF">2026-09-24T15:53:19.6370000Z</dcterms:modified>
</coreProperties>
</file>