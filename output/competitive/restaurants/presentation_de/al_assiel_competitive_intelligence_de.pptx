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78b2e82b30423a" /><Relationship Type="http://schemas.openxmlformats.org/officeDocument/2006/relationships/extended-properties" Target="/docProps/app.xml" Id="R9c0f36d861b24e55" /><Relationship Type="http://schemas.openxmlformats.org/officeDocument/2006/relationships/officeDocument" Target="/ppt/presentation.xml" Id="Rc18b9b63a00e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ca5e028e7431f"/>
  </p:sldMasterIdLst>
  <p:notesMasterIdLst>
    <p:notesMasterId xmlns:r="http://schemas.openxmlformats.org/officeDocument/2006/relationships" r:id="R319d3edb123c4e17"/>
  </p:notesMasterIdLst>
  <p:sldIdLst>
    <p:sldId xmlns:r="http://schemas.openxmlformats.org/officeDocument/2006/relationships" id="256" r:id="R937cd18bde4c48d9"/>
    <p:sldId xmlns:r="http://schemas.openxmlformats.org/officeDocument/2006/relationships" id="257" r:id="R47c868ef06804103"/>
    <p:sldId xmlns:r="http://schemas.openxmlformats.org/officeDocument/2006/relationships" id="258" r:id="R63e4a353b3714403"/>
    <p:sldId xmlns:r="http://schemas.openxmlformats.org/officeDocument/2006/relationships" id="259" r:id="Rdf3a45181ea64f31"/>
    <p:sldId xmlns:r="http://schemas.openxmlformats.org/officeDocument/2006/relationships" id="260" r:id="R3ebae47eaf1c4720"/>
    <p:sldId xmlns:r="http://schemas.openxmlformats.org/officeDocument/2006/relationships" id="261" r:id="R204dfba17f6f4021"/>
    <p:sldId xmlns:r="http://schemas.openxmlformats.org/officeDocument/2006/relationships" id="262" r:id="R1268590eae244bae"/>
    <p:sldId xmlns:r="http://schemas.openxmlformats.org/officeDocument/2006/relationships" id="263" r:id="Rccc3bec64a984506"/>
    <p:sldId xmlns:r="http://schemas.openxmlformats.org/officeDocument/2006/relationships" id="264" r:id="R73e5f26b64284504"/>
    <p:sldId xmlns:r="http://schemas.openxmlformats.org/officeDocument/2006/relationships" id="265" r:id="R497c44bbd06a49a1"/>
    <p:sldId xmlns:r="http://schemas.openxmlformats.org/officeDocument/2006/relationships" id="266" r:id="Rc6d6d09b8a3545ce"/>
    <p:sldId xmlns:r="http://schemas.openxmlformats.org/officeDocument/2006/relationships" id="267" r:id="Rca16fc8d6e4344ce"/>
    <p:sldId xmlns:r="http://schemas.openxmlformats.org/officeDocument/2006/relationships" id="268" r:id="Re7de34fb7e8d4312"/>
    <p:sldId xmlns:r="http://schemas.openxmlformats.org/officeDocument/2006/relationships" id="269" r:id="R3b188a6fd754495a"/>
    <p:sldId xmlns:r="http://schemas.openxmlformats.org/officeDocument/2006/relationships" id="270" r:id="Rcbfbe1d058284cc1"/>
    <p:sldId xmlns:r="http://schemas.openxmlformats.org/officeDocument/2006/relationships" id="271" r:id="Rbe97d1d855684aaf"/>
    <p:sldId xmlns:r="http://schemas.openxmlformats.org/officeDocument/2006/relationships" id="272" r:id="Rc0696cb3649b48be"/>
    <p:sldId xmlns:r="http://schemas.openxmlformats.org/officeDocument/2006/relationships" id="273" r:id="R44a878445e754f79"/>
    <p:sldId xmlns:r="http://schemas.openxmlformats.org/officeDocument/2006/relationships" id="274" r:id="R42ba4dc4defa4ef7"/>
    <p:sldId xmlns:r="http://schemas.openxmlformats.org/officeDocument/2006/relationships" id="275" r:id="Rae377fa12ab04c79"/>
    <p:sldId xmlns:r="http://schemas.openxmlformats.org/officeDocument/2006/relationships" id="276" r:id="R20462a71f5254dd9"/>
    <p:sldId xmlns:r="http://schemas.openxmlformats.org/officeDocument/2006/relationships" id="277" r:id="Ra54014d699cf4d51"/>
    <p:sldId xmlns:r="http://schemas.openxmlformats.org/officeDocument/2006/relationships" id="278" r:id="Rd56db77ed29d4c8f"/>
    <p:sldId xmlns:r="http://schemas.openxmlformats.org/officeDocument/2006/relationships" id="279" r:id="Rcf9a7b88fda64d79"/>
    <p:sldId xmlns:r="http://schemas.openxmlformats.org/officeDocument/2006/relationships" id="280" r:id="Raa65f644364b410c"/>
    <p:sldId xmlns:r="http://schemas.openxmlformats.org/officeDocument/2006/relationships" id="281" r:id="Rdb26f3c4b45844c8"/>
    <p:sldId xmlns:r="http://schemas.openxmlformats.org/officeDocument/2006/relationships" id="282" r:id="Ra24cfec9b7a64089"/>
    <p:sldId xmlns:r="http://schemas.openxmlformats.org/officeDocument/2006/relationships" id="283" r:id="R4998e09a9e004788"/>
    <p:sldId xmlns:r="http://schemas.openxmlformats.org/officeDocument/2006/relationships" id="284" r:id="Rdfff137cf4704ea1"/>
    <p:sldId xmlns:r="http://schemas.openxmlformats.org/officeDocument/2006/relationships" id="285" r:id="Rf78d90e36b484e71"/>
    <p:sldId xmlns:r="http://schemas.openxmlformats.org/officeDocument/2006/relationships" id="286" r:id="Rbb1f74bfa7aa4fee"/>
    <p:sldId xmlns:r="http://schemas.openxmlformats.org/officeDocument/2006/relationships" id="287" r:id="R46f276a4258d4249"/>
    <p:sldId xmlns:r="http://schemas.openxmlformats.org/officeDocument/2006/relationships" id="288" r:id="Rc5880d39bb3b42bb"/>
    <p:sldId xmlns:r="http://schemas.openxmlformats.org/officeDocument/2006/relationships" id="289" r:id="Rb7fb609f264741bc"/>
    <p:sldId xmlns:r="http://schemas.openxmlformats.org/officeDocument/2006/relationships" id="290" r:id="Rff8bd500141c40b2"/>
    <p:sldId xmlns:r="http://schemas.openxmlformats.org/officeDocument/2006/relationships" id="291" r:id="R794447ddd2814b0b"/>
    <p:sldId xmlns:r="http://schemas.openxmlformats.org/officeDocument/2006/relationships" id="292" r:id="R458f76b231c6418f"/>
    <p:sldId xmlns:r="http://schemas.openxmlformats.org/officeDocument/2006/relationships" id="293" r:id="R299f42b0f6274466"/>
    <p:sldId xmlns:r="http://schemas.openxmlformats.org/officeDocument/2006/relationships" id="294" r:id="Rf09a6eb8b2ac41fd"/>
    <p:sldId xmlns:r="http://schemas.openxmlformats.org/officeDocument/2006/relationships" id="295" r:id="R679102e302054a2b"/>
    <p:sldId xmlns:r="http://schemas.openxmlformats.org/officeDocument/2006/relationships" id="296" r:id="Rf1e9aebd2b4840d2"/>
    <p:sldId xmlns:r="http://schemas.openxmlformats.org/officeDocument/2006/relationships" id="297" r:id="R9fccc68ed96c44b4"/>
    <p:sldId xmlns:r="http://schemas.openxmlformats.org/officeDocument/2006/relationships" id="298" r:id="R02581f90b88a4fb7"/>
    <p:sldId xmlns:r="http://schemas.openxmlformats.org/officeDocument/2006/relationships" id="299" r:id="R4691c8991c984442"/>
    <p:sldId xmlns:r="http://schemas.openxmlformats.org/officeDocument/2006/relationships" id="300" r:id="Rfc340f57da0f441e"/>
    <p:sldId xmlns:r="http://schemas.openxmlformats.org/officeDocument/2006/relationships" id="301" r:id="Ref4f2e48f5f54fa0"/>
    <p:sldId xmlns:r="http://schemas.openxmlformats.org/officeDocument/2006/relationships" id="302" r:id="R0ccaeb229536401b"/>
    <p:sldId xmlns:r="http://schemas.openxmlformats.org/officeDocument/2006/relationships" id="303" r:id="R8187e756dacc49a8"/>
    <p:sldId xmlns:r="http://schemas.openxmlformats.org/officeDocument/2006/relationships" id="304" r:id="Raa8fdd3a132c42d6"/>
    <p:sldId xmlns:r="http://schemas.openxmlformats.org/officeDocument/2006/relationships" id="305" r:id="R4fed903fa9f44d9d"/>
    <p:sldId xmlns:r="http://schemas.openxmlformats.org/officeDocument/2006/relationships" id="306" r:id="R1f589ef2df5d4307"/>
    <p:sldId xmlns:r="http://schemas.openxmlformats.org/officeDocument/2006/relationships" id="307" r:id="R6503b0405cc84640"/>
    <p:sldId xmlns:r="http://schemas.openxmlformats.org/officeDocument/2006/relationships" id="308" r:id="R0bfd9efc1b834800"/>
    <p:sldId xmlns:r="http://schemas.openxmlformats.org/officeDocument/2006/relationships" id="309" r:id="R8764a91618ea41c4"/>
    <p:sldId xmlns:r="http://schemas.openxmlformats.org/officeDocument/2006/relationships" id="310" r:id="Rb0a06064e6cb447a"/>
    <p:sldId xmlns:r="http://schemas.openxmlformats.org/officeDocument/2006/relationships" id="311" r:id="R67a4050669af47b9"/>
    <p:sldId xmlns:r="http://schemas.openxmlformats.org/officeDocument/2006/relationships" id="312" r:id="R22baaeffaecb4c7c"/>
    <p:sldId xmlns:r="http://schemas.openxmlformats.org/officeDocument/2006/relationships" id="313" r:id="R55c9984973514c2a"/>
    <p:sldId xmlns:r="http://schemas.openxmlformats.org/officeDocument/2006/relationships" id="314" r:id="R30e2d14ee06e42cf"/>
    <p:sldId xmlns:r="http://schemas.openxmlformats.org/officeDocument/2006/relationships" id="315" r:id="R003ddb0b171a473a"/>
    <p:sldId xmlns:r="http://schemas.openxmlformats.org/officeDocument/2006/relationships" id="316" r:id="R5c0576c7d43643b9"/>
    <p:sldId xmlns:r="http://schemas.openxmlformats.org/officeDocument/2006/relationships" id="317" r:id="R36ba5104762946d6"/>
    <p:sldId xmlns:r="http://schemas.openxmlformats.org/officeDocument/2006/relationships" id="318" r:id="R11a01ac61a1a4e2b"/>
    <p:sldId xmlns:r="http://schemas.openxmlformats.org/officeDocument/2006/relationships" id="319" r:id="R2d5083f7055147d5"/>
    <p:sldId xmlns:r="http://schemas.openxmlformats.org/officeDocument/2006/relationships" id="320" r:id="Rf51c5b66afe8478b"/>
    <p:sldId xmlns:r="http://schemas.openxmlformats.org/officeDocument/2006/relationships" id="321" r:id="Rca8801bd1d7e4a19"/>
    <p:sldId xmlns:r="http://schemas.openxmlformats.org/officeDocument/2006/relationships" id="322" r:id="Rebd5dca9b9ac4c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58b4ee6f842af" /><Relationship Type="http://schemas.openxmlformats.org/officeDocument/2006/relationships/slideMaster" Target="/ppt/slideMasters/slideMaster1.xml" Id="Re9eca5e028e7431f" /><Relationship Type="http://schemas.openxmlformats.org/officeDocument/2006/relationships/notesMaster" Target="/ppt/notesMasters/notesMaster1.xml" Id="R319d3edb123c4e17" /><Relationship Type="http://schemas.openxmlformats.org/officeDocument/2006/relationships/presProps" Target="/ppt/presProps.xml" Id="R41674993d343499f" /><Relationship Type="http://schemas.openxmlformats.org/officeDocument/2006/relationships/tableStyles" Target="/ppt/tableStyles.xml" Id="R83e3bc934fe04db8" /><Relationship Type="http://schemas.openxmlformats.org/officeDocument/2006/relationships/slide" Target="/ppt/slides/slide1.xml" Id="R937cd18bde4c48d9" /><Relationship Type="http://schemas.openxmlformats.org/officeDocument/2006/relationships/slide" Target="/ppt/slides/slide2.xml" Id="R47c868ef06804103" /><Relationship Type="http://schemas.openxmlformats.org/officeDocument/2006/relationships/slide" Target="/ppt/slides/slide3.xml" Id="R63e4a353b3714403" /><Relationship Type="http://schemas.openxmlformats.org/officeDocument/2006/relationships/slide" Target="/ppt/slides/slide4.xml" Id="Rdf3a45181ea64f31" /><Relationship Type="http://schemas.openxmlformats.org/officeDocument/2006/relationships/slide" Target="/ppt/slides/slide5.xml" Id="R3ebae47eaf1c4720" /><Relationship Type="http://schemas.openxmlformats.org/officeDocument/2006/relationships/slide" Target="/ppt/slides/slide6.xml" Id="R204dfba17f6f4021" /><Relationship Type="http://schemas.openxmlformats.org/officeDocument/2006/relationships/slide" Target="/ppt/slides/slide7.xml" Id="R1268590eae244bae" /><Relationship Type="http://schemas.openxmlformats.org/officeDocument/2006/relationships/slide" Target="/ppt/slides/slide8.xml" Id="Rccc3bec64a984506" /><Relationship Type="http://schemas.openxmlformats.org/officeDocument/2006/relationships/slide" Target="/ppt/slides/slide9.xml" Id="R73e5f26b64284504" /><Relationship Type="http://schemas.openxmlformats.org/officeDocument/2006/relationships/slide" Target="/ppt/slides/slide10.xml" Id="R497c44bbd06a49a1" /><Relationship Type="http://schemas.openxmlformats.org/officeDocument/2006/relationships/slide" Target="/ppt/slides/slide11.xml" Id="Rc6d6d09b8a3545ce" /><Relationship Type="http://schemas.openxmlformats.org/officeDocument/2006/relationships/slide" Target="/ppt/slides/slide12.xml" Id="Rca16fc8d6e4344ce" /><Relationship Type="http://schemas.openxmlformats.org/officeDocument/2006/relationships/slide" Target="/ppt/slides/slide13.xml" Id="Re7de34fb7e8d4312" /><Relationship Type="http://schemas.openxmlformats.org/officeDocument/2006/relationships/slide" Target="/ppt/slides/slide14.xml" Id="R3b188a6fd754495a" /><Relationship Type="http://schemas.openxmlformats.org/officeDocument/2006/relationships/slide" Target="/ppt/slides/slide15.xml" Id="Rcbfbe1d058284cc1" /><Relationship Type="http://schemas.openxmlformats.org/officeDocument/2006/relationships/slide" Target="/ppt/slides/slide16.xml" Id="Rbe97d1d855684aaf" /><Relationship Type="http://schemas.openxmlformats.org/officeDocument/2006/relationships/slide" Target="/ppt/slides/slide17.xml" Id="Rc0696cb3649b48be" /><Relationship Type="http://schemas.openxmlformats.org/officeDocument/2006/relationships/slide" Target="/ppt/slides/slide18.xml" Id="R44a878445e754f79" /><Relationship Type="http://schemas.openxmlformats.org/officeDocument/2006/relationships/slide" Target="/ppt/slides/slide19.xml" Id="R42ba4dc4defa4ef7" /><Relationship Type="http://schemas.openxmlformats.org/officeDocument/2006/relationships/slide" Target="/ppt/slides/slide20.xml" Id="Rae377fa12ab04c79" /><Relationship Type="http://schemas.openxmlformats.org/officeDocument/2006/relationships/slide" Target="/ppt/slides/slide21.xml" Id="R20462a71f5254dd9" /><Relationship Type="http://schemas.openxmlformats.org/officeDocument/2006/relationships/slide" Target="/ppt/slides/slide22.xml" Id="Ra54014d699cf4d51" /><Relationship Type="http://schemas.openxmlformats.org/officeDocument/2006/relationships/slide" Target="/ppt/slides/slide23.xml" Id="Rd56db77ed29d4c8f" /><Relationship Type="http://schemas.openxmlformats.org/officeDocument/2006/relationships/slide" Target="/ppt/slides/slide24.xml" Id="Rcf9a7b88fda64d79" /><Relationship Type="http://schemas.openxmlformats.org/officeDocument/2006/relationships/slide" Target="/ppt/slides/slide25.xml" Id="Raa65f644364b410c" /><Relationship Type="http://schemas.openxmlformats.org/officeDocument/2006/relationships/slide" Target="/ppt/slides/slide26.xml" Id="Rdb26f3c4b45844c8" /><Relationship Type="http://schemas.openxmlformats.org/officeDocument/2006/relationships/slide" Target="/ppt/slides/slide27.xml" Id="Ra24cfec9b7a64089" /><Relationship Type="http://schemas.openxmlformats.org/officeDocument/2006/relationships/slide" Target="/ppt/slides/slide28.xml" Id="R4998e09a9e004788" /><Relationship Type="http://schemas.openxmlformats.org/officeDocument/2006/relationships/slide" Target="/ppt/slides/slide29.xml" Id="Rdfff137cf4704ea1" /><Relationship Type="http://schemas.openxmlformats.org/officeDocument/2006/relationships/slide" Target="/ppt/slides/slide30.xml" Id="Rf78d90e36b484e71" /><Relationship Type="http://schemas.openxmlformats.org/officeDocument/2006/relationships/slide" Target="/ppt/slides/slide31.xml" Id="Rbb1f74bfa7aa4fee" /><Relationship Type="http://schemas.openxmlformats.org/officeDocument/2006/relationships/slide" Target="/ppt/slides/slide32.xml" Id="R46f276a4258d4249" /><Relationship Type="http://schemas.openxmlformats.org/officeDocument/2006/relationships/slide" Target="/ppt/slides/slide33.xml" Id="Rc5880d39bb3b42bb" /><Relationship Type="http://schemas.openxmlformats.org/officeDocument/2006/relationships/slide" Target="/ppt/slides/slide34.xml" Id="Rb7fb609f264741bc" /><Relationship Type="http://schemas.openxmlformats.org/officeDocument/2006/relationships/slide" Target="/ppt/slides/slide35.xml" Id="Rff8bd500141c40b2" /><Relationship Type="http://schemas.openxmlformats.org/officeDocument/2006/relationships/slide" Target="/ppt/slides/slide36.xml" Id="R794447ddd2814b0b" /><Relationship Type="http://schemas.openxmlformats.org/officeDocument/2006/relationships/slide" Target="/ppt/slides/slide37.xml" Id="R458f76b231c6418f" /><Relationship Type="http://schemas.openxmlformats.org/officeDocument/2006/relationships/slide" Target="/ppt/slides/slide38.xml" Id="R299f42b0f6274466" /><Relationship Type="http://schemas.openxmlformats.org/officeDocument/2006/relationships/slide" Target="/ppt/slides/slide39.xml" Id="Rf09a6eb8b2ac41fd" /><Relationship Type="http://schemas.openxmlformats.org/officeDocument/2006/relationships/slide" Target="/ppt/slides/slide40.xml" Id="R679102e302054a2b" /><Relationship Type="http://schemas.openxmlformats.org/officeDocument/2006/relationships/slide" Target="/ppt/slides/slide41.xml" Id="Rf1e9aebd2b4840d2" /><Relationship Type="http://schemas.openxmlformats.org/officeDocument/2006/relationships/slide" Target="/ppt/slides/slide42.xml" Id="R9fccc68ed96c44b4" /><Relationship Type="http://schemas.openxmlformats.org/officeDocument/2006/relationships/slide" Target="/ppt/slides/slide43.xml" Id="R02581f90b88a4fb7" /><Relationship Type="http://schemas.openxmlformats.org/officeDocument/2006/relationships/slide" Target="/ppt/slides/slide44.xml" Id="R4691c8991c984442" /><Relationship Type="http://schemas.openxmlformats.org/officeDocument/2006/relationships/slide" Target="/ppt/slides/slide45.xml" Id="Rfc340f57da0f441e" /><Relationship Type="http://schemas.openxmlformats.org/officeDocument/2006/relationships/slide" Target="/ppt/slides/slide46.xml" Id="Ref4f2e48f5f54fa0" /><Relationship Type="http://schemas.openxmlformats.org/officeDocument/2006/relationships/slide" Target="/ppt/slides/slide47.xml" Id="R0ccaeb229536401b" /><Relationship Type="http://schemas.openxmlformats.org/officeDocument/2006/relationships/slide" Target="/ppt/slides/slide48.xml" Id="R8187e756dacc49a8" /><Relationship Type="http://schemas.openxmlformats.org/officeDocument/2006/relationships/slide" Target="/ppt/slides/slide49.xml" Id="Raa8fdd3a132c42d6" /><Relationship Type="http://schemas.openxmlformats.org/officeDocument/2006/relationships/slide" Target="/ppt/slides/slide50.xml" Id="R4fed903fa9f44d9d" /><Relationship Type="http://schemas.openxmlformats.org/officeDocument/2006/relationships/slide" Target="/ppt/slides/slide51.xml" Id="R1f589ef2df5d4307" /><Relationship Type="http://schemas.openxmlformats.org/officeDocument/2006/relationships/slide" Target="/ppt/slides/slide52.xml" Id="R6503b0405cc84640" /><Relationship Type="http://schemas.openxmlformats.org/officeDocument/2006/relationships/slide" Target="/ppt/slides/slide53.xml" Id="R0bfd9efc1b834800" /><Relationship Type="http://schemas.openxmlformats.org/officeDocument/2006/relationships/slide" Target="/ppt/slides/slide54.xml" Id="R8764a91618ea41c4" /><Relationship Type="http://schemas.openxmlformats.org/officeDocument/2006/relationships/slide" Target="/ppt/slides/slide55.xml" Id="Rb0a06064e6cb447a" /><Relationship Type="http://schemas.openxmlformats.org/officeDocument/2006/relationships/slide" Target="/ppt/slides/slide56.xml" Id="R67a4050669af47b9" /><Relationship Type="http://schemas.openxmlformats.org/officeDocument/2006/relationships/slide" Target="/ppt/slides/slide57.xml" Id="R22baaeffaecb4c7c" /><Relationship Type="http://schemas.openxmlformats.org/officeDocument/2006/relationships/slide" Target="/ppt/slides/slide58.xml" Id="R55c9984973514c2a" /><Relationship Type="http://schemas.openxmlformats.org/officeDocument/2006/relationships/slide" Target="/ppt/slides/slide59.xml" Id="R30e2d14ee06e42cf" /><Relationship Type="http://schemas.openxmlformats.org/officeDocument/2006/relationships/slide" Target="/ppt/slides/slide60.xml" Id="R003ddb0b171a473a" /><Relationship Type="http://schemas.openxmlformats.org/officeDocument/2006/relationships/slide" Target="/ppt/slides/slide61.xml" Id="R5c0576c7d43643b9" /><Relationship Type="http://schemas.openxmlformats.org/officeDocument/2006/relationships/slide" Target="/ppt/slides/slide62.xml" Id="R36ba5104762946d6" /><Relationship Type="http://schemas.openxmlformats.org/officeDocument/2006/relationships/slide" Target="/ppt/slides/slide63.xml" Id="R11a01ac61a1a4e2b" /><Relationship Type="http://schemas.openxmlformats.org/officeDocument/2006/relationships/slide" Target="/ppt/slides/slide64.xml" Id="R2d5083f7055147d5" /><Relationship Type="http://schemas.openxmlformats.org/officeDocument/2006/relationships/slide" Target="/ppt/slides/slide65.xml" Id="Rf51c5b66afe8478b" /><Relationship Type="http://schemas.openxmlformats.org/officeDocument/2006/relationships/slide" Target="/ppt/slides/slide66.xml" Id="Rca8801bd1d7e4a19" /><Relationship Type="http://schemas.openxmlformats.org/officeDocument/2006/relationships/slide" Target="/ppt/slides/slide67.xml" Id="Rebd5dca9b9ac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8428c7cc0f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d11277b7a495b" /><Relationship Type="http://schemas.openxmlformats.org/officeDocument/2006/relationships/notesMaster" Target="/ppt/notesMasters/notesMaster1.xml" Id="R0680e667a2f64b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ef61a91434405" /><Relationship Type="http://schemas.openxmlformats.org/officeDocument/2006/relationships/notesMaster" Target="/ppt/notesMasters/notesMaster1.xml" Id="R8045a5f2823b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39b92062d4a29" /><Relationship Type="http://schemas.openxmlformats.org/officeDocument/2006/relationships/notesMaster" Target="/ppt/notesMasters/notesMaster1.xml" Id="R7db6e85bc0f74a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e7477f2cb144dd" /><Relationship Type="http://schemas.openxmlformats.org/officeDocument/2006/relationships/notesMaster" Target="/ppt/notesMasters/notesMaster1.xml" Id="R0b16b60df15f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d22ce73e9411a" /><Relationship Type="http://schemas.openxmlformats.org/officeDocument/2006/relationships/notesMaster" Target="/ppt/notesMasters/notesMaster1.xml" Id="R182a3461d68248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c495babf34fef" /><Relationship Type="http://schemas.openxmlformats.org/officeDocument/2006/relationships/notesMaster" Target="/ppt/notesMasters/notesMaster1.xml" Id="R89670e0db2f54c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b6473683114b30" /><Relationship Type="http://schemas.openxmlformats.org/officeDocument/2006/relationships/notesMaster" Target="/ppt/notesMasters/notesMaster1.xml" Id="R80c4092128c64f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21077e81a24b73" /><Relationship Type="http://schemas.openxmlformats.org/officeDocument/2006/relationships/notesMaster" Target="/ppt/notesMasters/notesMaster1.xml" Id="Rb0d9440129b34e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f69d72886a4e9e" /><Relationship Type="http://schemas.openxmlformats.org/officeDocument/2006/relationships/notesMaster" Target="/ppt/notesMasters/notesMaster1.xml" Id="R0da01f1f4b1a49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6791c0300c441f" /><Relationship Type="http://schemas.openxmlformats.org/officeDocument/2006/relationships/notesMaster" Target="/ppt/notesMasters/notesMaster1.xml" Id="Rf2d4da64022c48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e786de1aba4980" /><Relationship Type="http://schemas.openxmlformats.org/officeDocument/2006/relationships/notesMaster" Target="/ppt/notesMasters/notesMaster1.xml" Id="R3951b550d16541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b2b1b8d66b488f" /><Relationship Type="http://schemas.openxmlformats.org/officeDocument/2006/relationships/notesMaster" Target="/ppt/notesMasters/notesMaster1.xml" Id="R26ff41a576c040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6ac47850064942" /><Relationship Type="http://schemas.openxmlformats.org/officeDocument/2006/relationships/notesMaster" Target="/ppt/notesMasters/notesMaster1.xml" Id="R544e6d160ca043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d1317a54f44962" /><Relationship Type="http://schemas.openxmlformats.org/officeDocument/2006/relationships/notesMaster" Target="/ppt/notesMasters/notesMaster1.xml" Id="R77af015aeeb947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3fbc6e6176481a" /><Relationship Type="http://schemas.openxmlformats.org/officeDocument/2006/relationships/notesMaster" Target="/ppt/notesMasters/notesMaster1.xml" Id="Rc6b489fe897d45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f30c94d37e43ed" /><Relationship Type="http://schemas.openxmlformats.org/officeDocument/2006/relationships/notesMaster" Target="/ppt/notesMasters/notesMaster1.xml" Id="Re18b03bc5f6f43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b4efed81c345ca" /><Relationship Type="http://schemas.openxmlformats.org/officeDocument/2006/relationships/notesMaster" Target="/ppt/notesMasters/notesMaster1.xml" Id="R7fd576d7648740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1dd683b134492c" /><Relationship Type="http://schemas.openxmlformats.org/officeDocument/2006/relationships/notesMaster" Target="/ppt/notesMasters/notesMaster1.xml" Id="Rcb1b72a1d07447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5b6394fba24553" /><Relationship Type="http://schemas.openxmlformats.org/officeDocument/2006/relationships/notesMaster" Target="/ppt/notesMasters/notesMaster1.xml" Id="R534cea8c941949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b6318b5eda4723" /><Relationship Type="http://schemas.openxmlformats.org/officeDocument/2006/relationships/notesMaster" Target="/ppt/notesMasters/notesMaster1.xml" Id="R425057e0decb44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e2565c834347d5" /><Relationship Type="http://schemas.openxmlformats.org/officeDocument/2006/relationships/notesMaster" Target="/ppt/notesMasters/notesMaster1.xml" Id="R413514f68db34e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6870673696492d" /><Relationship Type="http://schemas.openxmlformats.org/officeDocument/2006/relationships/notesMaster" Target="/ppt/notesMasters/notesMaster1.xml" Id="Rad9068ef21914b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39a3d4b1664044" /><Relationship Type="http://schemas.openxmlformats.org/officeDocument/2006/relationships/notesMaster" Target="/ppt/notesMasters/notesMaster1.xml" Id="R4f90821a14fe47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a5e1bc0ede4d97" /><Relationship Type="http://schemas.openxmlformats.org/officeDocument/2006/relationships/notesMaster" Target="/ppt/notesMasters/notesMaster1.xml" Id="R530defd3a21744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cbdeeae8a64189" /><Relationship Type="http://schemas.openxmlformats.org/officeDocument/2006/relationships/notesMaster" Target="/ppt/notesMasters/notesMaster1.xml" Id="R4d230bde4cb440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24d0a9dd8854135" /><Relationship Type="http://schemas.openxmlformats.org/officeDocument/2006/relationships/notesMaster" Target="/ppt/notesMasters/notesMaster1.xml" Id="R1647313084874c7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702713e30c43e1" /><Relationship Type="http://schemas.openxmlformats.org/officeDocument/2006/relationships/notesMaster" Target="/ppt/notesMasters/notesMaster1.xml" Id="Rd88cb91d2deb41c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6a76d0589b049ec" /><Relationship Type="http://schemas.openxmlformats.org/officeDocument/2006/relationships/notesMaster" Target="/ppt/notesMasters/notesMaster1.xml" Id="Rb42b0c459e5f4f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0fd468fc884d29" /><Relationship Type="http://schemas.openxmlformats.org/officeDocument/2006/relationships/notesMaster" Target="/ppt/notesMasters/notesMaster1.xml" Id="Rabfb04cafc1c44c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b825bf91f24c40" /><Relationship Type="http://schemas.openxmlformats.org/officeDocument/2006/relationships/notesMaster" Target="/ppt/notesMasters/notesMaster1.xml" Id="R8a19b1013ae24f6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2eb4942328f4bc7" /><Relationship Type="http://schemas.openxmlformats.org/officeDocument/2006/relationships/notesMaster" Target="/ppt/notesMasters/notesMaster1.xml" Id="R0812b46387ab42c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ea14e211d944211" /><Relationship Type="http://schemas.openxmlformats.org/officeDocument/2006/relationships/notesMaster" Target="/ppt/notesMasters/notesMaster1.xml" Id="R3331c8ac697244e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c8b0964a6aa4138" /><Relationship Type="http://schemas.openxmlformats.org/officeDocument/2006/relationships/notesMaster" Target="/ppt/notesMasters/notesMaster1.xml" Id="R0344fa0d6b2d46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44d86306f864ef9" /><Relationship Type="http://schemas.openxmlformats.org/officeDocument/2006/relationships/notesMaster" Target="/ppt/notesMasters/notesMaster1.xml" Id="Rc9904fcbf65641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b0a01b23684a16" /><Relationship Type="http://schemas.openxmlformats.org/officeDocument/2006/relationships/notesMaster" Target="/ppt/notesMasters/notesMaster1.xml" Id="R4892a2b010434a7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aa11f9f383549e2" /><Relationship Type="http://schemas.openxmlformats.org/officeDocument/2006/relationships/notesMaster" Target="/ppt/notesMasters/notesMaster1.xml" Id="R3a763396a131479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ce2b590f805453d" /><Relationship Type="http://schemas.openxmlformats.org/officeDocument/2006/relationships/notesMaster" Target="/ppt/notesMasters/notesMaster1.xml" Id="R9ed255a5137240a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f2d5caa1f6f44ef" /><Relationship Type="http://schemas.openxmlformats.org/officeDocument/2006/relationships/notesMaster" Target="/ppt/notesMasters/notesMaster1.xml" Id="R19499ff5fbe346f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afa42aff134415" /><Relationship Type="http://schemas.openxmlformats.org/officeDocument/2006/relationships/notesMaster" Target="/ppt/notesMasters/notesMaster1.xml" Id="Rd3e462e0cfb946e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d26049a3a894747" /><Relationship Type="http://schemas.openxmlformats.org/officeDocument/2006/relationships/notesMaster" Target="/ppt/notesMasters/notesMaster1.xml" Id="Rbf9126702ac940a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8783e416d1f41a4" /><Relationship Type="http://schemas.openxmlformats.org/officeDocument/2006/relationships/notesMaster" Target="/ppt/notesMasters/notesMaster1.xml" Id="Racea95177996421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feafb95f4764164" /><Relationship Type="http://schemas.openxmlformats.org/officeDocument/2006/relationships/notesMaster" Target="/ppt/notesMasters/notesMaster1.xml" Id="R622c5c3ede2e445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11a8dfd4fe649f3" /><Relationship Type="http://schemas.openxmlformats.org/officeDocument/2006/relationships/notesMaster" Target="/ppt/notesMasters/notesMaster1.xml" Id="R784fabc313bd4e7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67e62f922d04898" /><Relationship Type="http://schemas.openxmlformats.org/officeDocument/2006/relationships/notesMaster" Target="/ppt/notesMasters/notesMaster1.xml" Id="Rbd52a7fdbfd14fb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e33420ed3f747cc" /><Relationship Type="http://schemas.openxmlformats.org/officeDocument/2006/relationships/notesMaster" Target="/ppt/notesMasters/notesMaster1.xml" Id="R73581a6ddb4f454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dc12498c3154791" /><Relationship Type="http://schemas.openxmlformats.org/officeDocument/2006/relationships/notesMaster" Target="/ppt/notesMasters/notesMaster1.xml" Id="R0cb55160295c428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f0746588bc44195" /><Relationship Type="http://schemas.openxmlformats.org/officeDocument/2006/relationships/notesMaster" Target="/ppt/notesMasters/notesMaster1.xml" Id="R8c4df2321b52446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ef8821970224461" /><Relationship Type="http://schemas.openxmlformats.org/officeDocument/2006/relationships/notesMaster" Target="/ppt/notesMasters/notesMaster1.xml" Id="R825b125105fd4b4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0461cf5b6d8422e" /><Relationship Type="http://schemas.openxmlformats.org/officeDocument/2006/relationships/notesMaster" Target="/ppt/notesMasters/notesMaster1.xml" Id="Red88d5b80e6944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b826bac06c84de4" /><Relationship Type="http://schemas.openxmlformats.org/officeDocument/2006/relationships/notesMaster" Target="/ppt/notesMasters/notesMaster1.xml" Id="Rc6b185d700db4fc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4713904a5124fb2" /><Relationship Type="http://schemas.openxmlformats.org/officeDocument/2006/relationships/notesMaster" Target="/ppt/notesMasters/notesMaster1.xml" Id="R0cfd835d712a422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3c3787f2b9348fc" /><Relationship Type="http://schemas.openxmlformats.org/officeDocument/2006/relationships/notesMaster" Target="/ppt/notesMasters/notesMaster1.xml" Id="R6220f4da4118447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416bbb22f0747c8" /><Relationship Type="http://schemas.openxmlformats.org/officeDocument/2006/relationships/notesMaster" Target="/ppt/notesMasters/notesMaster1.xml" Id="Rd52222728abc4c3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0356259f7df4a8b" /><Relationship Type="http://schemas.openxmlformats.org/officeDocument/2006/relationships/notesMaster" Target="/ppt/notesMasters/notesMaster1.xml" Id="R77ea2a0198c4446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bc83d8e3fcb4a2d" /><Relationship Type="http://schemas.openxmlformats.org/officeDocument/2006/relationships/notesMaster" Target="/ppt/notesMasters/notesMaster1.xml" Id="Ra74bce8f9c09453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947c34938674c59" /><Relationship Type="http://schemas.openxmlformats.org/officeDocument/2006/relationships/notesMaster" Target="/ppt/notesMasters/notesMaster1.xml" Id="Rfa7de56dbc78438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b433d284a024f25" /><Relationship Type="http://schemas.openxmlformats.org/officeDocument/2006/relationships/notesMaster" Target="/ppt/notesMasters/notesMaster1.xml" Id="R628b8db27bb94d6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574ab11fd094b03" /><Relationship Type="http://schemas.openxmlformats.org/officeDocument/2006/relationships/notesMaster" Target="/ppt/notesMasters/notesMaster1.xml" Id="Rac55133a74b1457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09161c164764584" /><Relationship Type="http://schemas.openxmlformats.org/officeDocument/2006/relationships/notesMaster" Target="/ppt/notesMasters/notesMaster1.xml" Id="R51b09bbc0b8e4d7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d7fcf1ba54543ae" /><Relationship Type="http://schemas.openxmlformats.org/officeDocument/2006/relationships/notesMaster" Target="/ppt/notesMasters/notesMaster1.xml" Id="Rdc9fc2fd16d1499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88f4adcf2094890" /><Relationship Type="http://schemas.openxmlformats.org/officeDocument/2006/relationships/notesMaster" Target="/ppt/notesMasters/notesMaster1.xml" Id="R4a6f350df252426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b66437c93a94986" /><Relationship Type="http://schemas.openxmlformats.org/officeDocument/2006/relationships/notesMaster" Target="/ppt/notesMasters/notesMaster1.xml" Id="R2f77c230cdd449b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2d283ffa5474859" /><Relationship Type="http://schemas.openxmlformats.org/officeDocument/2006/relationships/notesMaster" Target="/ppt/notesMasters/notesMaster1.xml" Id="R6d9c9120e4924a3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972e11dfe4145ef" /><Relationship Type="http://schemas.openxmlformats.org/officeDocument/2006/relationships/notesMaster" Target="/ppt/notesMasters/notesMaster1.xml" Id="Rd2b054886c484c8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c8f74c190e04a9d" /><Relationship Type="http://schemas.openxmlformats.org/officeDocument/2006/relationships/notesMaster" Target="/ppt/notesMasters/notesMaster1.xml" Id="R1c1018670027456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f39b14adb254331" /><Relationship Type="http://schemas.openxmlformats.org/officeDocument/2006/relationships/notesMaster" Target="/ppt/notesMasters/notesMaster1.xml" Id="R75f61b2ecf174e9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4048d3b7c2b471e" /><Relationship Type="http://schemas.openxmlformats.org/officeDocument/2006/relationships/notesMaster" Target="/ppt/notesMasters/notesMaster1.xml" Id="R6223108591ba43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268e242a6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f00310f60458c" /><Relationship Type="http://schemas.openxmlformats.org/officeDocument/2006/relationships/slideLayout" Target="/ppt/slideLayouts/slideLayout1.xml" Id="R0bb5d247a9d843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5d247a9d843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118ad588e4b3f" /><Relationship Type="http://schemas.openxmlformats.org/officeDocument/2006/relationships/notesSlide" Target="/ppt/notesSlides/notesSlide1.xml" Id="Rf74af8bab10e48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32c2006014848" /><Relationship Type="http://schemas.openxmlformats.org/officeDocument/2006/relationships/notesSlide" Target="/ppt/notesSlides/notesSlide2.xml" Id="Red58424649054a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69eb126594247" /><Relationship Type="http://schemas.openxmlformats.org/officeDocument/2006/relationships/notesSlide" Target="/ppt/notesSlides/notesSlide3.xml" Id="R2ae42e05359b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6c2d1858d4bdc" /><Relationship Type="http://schemas.openxmlformats.org/officeDocument/2006/relationships/notesSlide" Target="/ppt/notesSlides/notesSlide4.xml" Id="R8d5c15294e004c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ffa134b034938" /><Relationship Type="http://schemas.openxmlformats.org/officeDocument/2006/relationships/notesSlide" Target="/ppt/notesSlides/notesSlide5.xml" Id="R9f1563ae078943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e2c9985d049d1" /><Relationship Type="http://schemas.openxmlformats.org/officeDocument/2006/relationships/chart" Target="/ppt/slides/charts/chart1.xml" Id="Raacfee1a38834874" /><Relationship Type="http://schemas.openxmlformats.org/officeDocument/2006/relationships/notesSlide" Target="/ppt/notesSlides/notesSlide6.xml" Id="Re7399f86b40045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8b9017f874646" /><Relationship Type="http://schemas.openxmlformats.org/officeDocument/2006/relationships/chart" Target="/ppt/slides/charts/chart2.xml" Id="R587e38c114834d79" /><Relationship Type="http://schemas.openxmlformats.org/officeDocument/2006/relationships/chart" Target="/ppt/slides/charts/chart3.xml" Id="Rccdb24e19688466e" /><Relationship Type="http://schemas.openxmlformats.org/officeDocument/2006/relationships/notesSlide" Target="/ppt/notesSlides/notesSlide7.xml" Id="R58b360443930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57cb6a18b435a" /><Relationship Type="http://schemas.openxmlformats.org/officeDocument/2006/relationships/chart" Target="/ppt/slides/charts/chart4.xml" Id="R055e70f735644fb9" /><Relationship Type="http://schemas.openxmlformats.org/officeDocument/2006/relationships/notesSlide" Target="/ppt/notesSlides/notesSlide8.xml" Id="Ra1af64e8d1bc48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54748e474671" /><Relationship Type="http://schemas.openxmlformats.org/officeDocument/2006/relationships/chart" Target="/ppt/slides/charts/chart5.xml" Id="R001a6ed6b4d94e19" /><Relationship Type="http://schemas.openxmlformats.org/officeDocument/2006/relationships/notesSlide" Target="/ppt/notesSlides/notesSlide9.xml" Id="R1e9242379b2044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72b47d6d84b84" /><Relationship Type="http://schemas.openxmlformats.org/officeDocument/2006/relationships/notesSlide" Target="/ppt/notesSlides/notesSlide10.xml" Id="R4f41cc54b9e04f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b2b153e1b4cae" /><Relationship Type="http://schemas.openxmlformats.org/officeDocument/2006/relationships/notesSlide" Target="/ppt/notesSlides/notesSlide11.xml" Id="Rf01b7210ed8f48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18d3b970434d" /><Relationship Type="http://schemas.openxmlformats.org/officeDocument/2006/relationships/chart" Target="/ppt/slides/charts/chart6.xml" Id="R066da6e7658848db" /><Relationship Type="http://schemas.openxmlformats.org/officeDocument/2006/relationships/notesSlide" Target="/ppt/notesSlides/notesSlide12.xml" Id="Rc4d0c5389e6047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90a7a122149fc" /><Relationship Type="http://schemas.openxmlformats.org/officeDocument/2006/relationships/chart" Target="/ppt/slides/charts/chart7.xml" Id="Rf452d7e3480340b4" /><Relationship Type="http://schemas.openxmlformats.org/officeDocument/2006/relationships/notesSlide" Target="/ppt/notesSlides/notesSlide13.xml" Id="R09d8567f0cc44e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2ef3af84846cb" /><Relationship Type="http://schemas.openxmlformats.org/officeDocument/2006/relationships/chart" Target="/ppt/slides/charts/chart8.xml" Id="Re228e25be56f4711" /><Relationship Type="http://schemas.openxmlformats.org/officeDocument/2006/relationships/notesSlide" Target="/ppt/notesSlides/notesSlide14.xml" Id="Ra5f957fff7de43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0d86ccee545ee" /><Relationship Type="http://schemas.openxmlformats.org/officeDocument/2006/relationships/chart" Target="/ppt/slides/charts/chart9.xml" Id="R13c301ae4f5446cd" /><Relationship Type="http://schemas.openxmlformats.org/officeDocument/2006/relationships/notesSlide" Target="/ppt/notesSlides/notesSlide15.xml" Id="R01ab8166c09047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829a7fc7a4617" /><Relationship Type="http://schemas.openxmlformats.org/officeDocument/2006/relationships/notesSlide" Target="/ppt/notesSlides/notesSlide16.xml" Id="R94ad014343b846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eb5147d224605" /><Relationship Type="http://schemas.openxmlformats.org/officeDocument/2006/relationships/chart" Target="/ppt/slides/charts/chart10.xml" Id="Rc2765f12f0d0443e" /><Relationship Type="http://schemas.openxmlformats.org/officeDocument/2006/relationships/notesSlide" Target="/ppt/notesSlides/notesSlide17.xml" Id="R0e6b914eeb8344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4df6cef1949fa" /><Relationship Type="http://schemas.openxmlformats.org/officeDocument/2006/relationships/notesSlide" Target="/ppt/notesSlides/notesSlide18.xml" Id="R5b52fd47346c45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035c6a95f4f13" /><Relationship Type="http://schemas.openxmlformats.org/officeDocument/2006/relationships/notesSlide" Target="/ppt/notesSlides/notesSlide19.xml" Id="Ra59462a77d3344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31523249e404c" /><Relationship Type="http://schemas.openxmlformats.org/officeDocument/2006/relationships/notesSlide" Target="/ppt/notesSlides/notesSlide20.xml" Id="R5a528d428ca740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57e4da4e14def" /><Relationship Type="http://schemas.openxmlformats.org/officeDocument/2006/relationships/notesSlide" Target="/ppt/notesSlides/notesSlide21.xml" Id="Rb231da26565946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64b92bea14670" /><Relationship Type="http://schemas.openxmlformats.org/officeDocument/2006/relationships/notesSlide" Target="/ppt/notesSlides/notesSlide22.xml" Id="Rb361376c2f434a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01f9cf4cb486c" /><Relationship Type="http://schemas.openxmlformats.org/officeDocument/2006/relationships/notesSlide" Target="/ppt/notesSlides/notesSlide23.xml" Id="R5a23208537fc4ff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b9b9bc21e4c22" /><Relationship Type="http://schemas.openxmlformats.org/officeDocument/2006/relationships/chart" Target="/ppt/slides/charts/chart11.xml" Id="Rd452ffa07cf3472e" /><Relationship Type="http://schemas.openxmlformats.org/officeDocument/2006/relationships/notesSlide" Target="/ppt/notesSlides/notesSlide24.xml" Id="R5b80bce2a67c42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5354a66704085" /><Relationship Type="http://schemas.openxmlformats.org/officeDocument/2006/relationships/notesSlide" Target="/ppt/notesSlides/notesSlide25.xml" Id="R286331ab34d44d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0eaa94c454855" /><Relationship Type="http://schemas.openxmlformats.org/officeDocument/2006/relationships/notesSlide" Target="/ppt/notesSlides/notesSlide26.xml" Id="R5fec7bd38e854cb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1874aed7b4a6d" /><Relationship Type="http://schemas.openxmlformats.org/officeDocument/2006/relationships/notesSlide" Target="/ppt/notesSlides/notesSlide27.xml" Id="R4fbfe980d1014b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cd5a5ee434848" /><Relationship Type="http://schemas.openxmlformats.org/officeDocument/2006/relationships/notesSlide" Target="/ppt/notesSlides/notesSlide28.xml" Id="R96ea9138486f441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0e4b8241b4bc1" /><Relationship Type="http://schemas.openxmlformats.org/officeDocument/2006/relationships/notesSlide" Target="/ppt/notesSlides/notesSlide29.xml" Id="Rcd150daf92b14e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8782659414ae3" /><Relationship Type="http://schemas.openxmlformats.org/officeDocument/2006/relationships/notesSlide" Target="/ppt/notesSlides/notesSlide30.xml" Id="Rf78c85e9205f472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2d1551344705" /><Relationship Type="http://schemas.openxmlformats.org/officeDocument/2006/relationships/notesSlide" Target="/ppt/notesSlides/notesSlide31.xml" Id="R81c7054ed5d7481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fad02c3fb4a8e" /><Relationship Type="http://schemas.openxmlformats.org/officeDocument/2006/relationships/notesSlide" Target="/ppt/notesSlides/notesSlide32.xml" Id="R4a6ac488312c455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5945256054022" /><Relationship Type="http://schemas.openxmlformats.org/officeDocument/2006/relationships/notesSlide" Target="/ppt/notesSlides/notesSlide33.xml" Id="R3d120b78a0d9470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7fe93380647ae" /><Relationship Type="http://schemas.openxmlformats.org/officeDocument/2006/relationships/notesSlide" Target="/ppt/notesSlides/notesSlide34.xml" Id="R0d6b28de5253461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9b13c75e34aff" /><Relationship Type="http://schemas.openxmlformats.org/officeDocument/2006/relationships/notesSlide" Target="/ppt/notesSlides/notesSlide35.xml" Id="Rc43c25d7406448c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dfc72de7b4f81" /><Relationship Type="http://schemas.openxmlformats.org/officeDocument/2006/relationships/notesSlide" Target="/ppt/notesSlides/notesSlide36.xml" Id="R0e5a36003f884e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5d8a5d004e38" /><Relationship Type="http://schemas.openxmlformats.org/officeDocument/2006/relationships/notesSlide" Target="/ppt/notesSlides/notesSlide37.xml" Id="Rb4693a8b8239441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a792654d34760" /><Relationship Type="http://schemas.openxmlformats.org/officeDocument/2006/relationships/notesSlide" Target="/ppt/notesSlides/notesSlide38.xml" Id="R790cc55bff3843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a4b32248042ec" /><Relationship Type="http://schemas.openxmlformats.org/officeDocument/2006/relationships/notesSlide" Target="/ppt/notesSlides/notesSlide39.xml" Id="R52378fd644c745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4e11c0ac34d92" /><Relationship Type="http://schemas.openxmlformats.org/officeDocument/2006/relationships/notesSlide" Target="/ppt/notesSlides/notesSlide40.xml" Id="Rb7d5a632389e40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7579353664828" /><Relationship Type="http://schemas.openxmlformats.org/officeDocument/2006/relationships/notesSlide" Target="/ppt/notesSlides/notesSlide41.xml" Id="R125ef04c243e44e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cd2bde60041b1" /><Relationship Type="http://schemas.openxmlformats.org/officeDocument/2006/relationships/notesSlide" Target="/ppt/notesSlides/notesSlide42.xml" Id="R34b1e2d1f04047d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ed0592b45428b" /><Relationship Type="http://schemas.openxmlformats.org/officeDocument/2006/relationships/notesSlide" Target="/ppt/notesSlides/notesSlide43.xml" Id="Rdb73c2df87f04af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35d6362fb4ab5" /><Relationship Type="http://schemas.openxmlformats.org/officeDocument/2006/relationships/notesSlide" Target="/ppt/notesSlides/notesSlide44.xml" Id="Rbda3ae7a2e5a460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475253a824cbf" /><Relationship Type="http://schemas.openxmlformats.org/officeDocument/2006/relationships/notesSlide" Target="/ppt/notesSlides/notesSlide45.xml" Id="Rc0719168047d407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7775ab306419f" /><Relationship Type="http://schemas.openxmlformats.org/officeDocument/2006/relationships/notesSlide" Target="/ppt/notesSlides/notesSlide46.xml" Id="R8d456945373b47b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08a2f473b4abf" /><Relationship Type="http://schemas.openxmlformats.org/officeDocument/2006/relationships/notesSlide" Target="/ppt/notesSlides/notesSlide47.xml" Id="R277be1ac57fd4a5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64fbecc494f4a" /><Relationship Type="http://schemas.openxmlformats.org/officeDocument/2006/relationships/notesSlide" Target="/ppt/notesSlides/notesSlide48.xml" Id="R95f83d4d681a4d4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d3449cda546ec" /><Relationship Type="http://schemas.openxmlformats.org/officeDocument/2006/relationships/notesSlide" Target="/ppt/notesSlides/notesSlide49.xml" Id="R55b7a09dde1c452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4704d30014162" /><Relationship Type="http://schemas.openxmlformats.org/officeDocument/2006/relationships/notesSlide" Target="/ppt/notesSlides/notesSlide50.xml" Id="Rb92403921c3b4a9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c12c7bf6a4240" /><Relationship Type="http://schemas.openxmlformats.org/officeDocument/2006/relationships/notesSlide" Target="/ppt/notesSlides/notesSlide51.xml" Id="R2327e5b36cfc4a3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ebb1a23974c6e" /><Relationship Type="http://schemas.openxmlformats.org/officeDocument/2006/relationships/notesSlide" Target="/ppt/notesSlides/notesSlide52.xml" Id="R7896c7c25cd842d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c5f39a96d4a1c" /><Relationship Type="http://schemas.openxmlformats.org/officeDocument/2006/relationships/notesSlide" Target="/ppt/notesSlides/notesSlide53.xml" Id="R1350729af1ee499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2971e42d34ee0" /><Relationship Type="http://schemas.openxmlformats.org/officeDocument/2006/relationships/notesSlide" Target="/ppt/notesSlides/notesSlide54.xml" Id="Rf4023605a21f496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28b17a5964a2f" /><Relationship Type="http://schemas.openxmlformats.org/officeDocument/2006/relationships/notesSlide" Target="/ppt/notesSlides/notesSlide55.xml" Id="R1a8696ea6fae47a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e09ff38e043cb" /><Relationship Type="http://schemas.openxmlformats.org/officeDocument/2006/relationships/notesSlide" Target="/ppt/notesSlides/notesSlide56.xml" Id="R0a21b24eab5f47f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b9218e2ba4861" /><Relationship Type="http://schemas.openxmlformats.org/officeDocument/2006/relationships/notesSlide" Target="/ppt/notesSlides/notesSlide57.xml" Id="Re16a7125263e447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2e1d4a0644378" /><Relationship Type="http://schemas.openxmlformats.org/officeDocument/2006/relationships/notesSlide" Target="/ppt/notesSlides/notesSlide58.xml" Id="R1d530e878d29402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ba749a442473e" /><Relationship Type="http://schemas.openxmlformats.org/officeDocument/2006/relationships/notesSlide" Target="/ppt/notesSlides/notesSlide59.xml" Id="R9ca1d9c5adb1477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8e9d8716345b0" /><Relationship Type="http://schemas.openxmlformats.org/officeDocument/2006/relationships/notesSlide" Target="/ppt/notesSlides/notesSlide60.xml" Id="R039be347f0f9494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90cfb80a048fa" /><Relationship Type="http://schemas.openxmlformats.org/officeDocument/2006/relationships/notesSlide" Target="/ppt/notesSlides/notesSlide61.xml" Id="R858e97f8e95a417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9f0d76a54a4e" /><Relationship Type="http://schemas.openxmlformats.org/officeDocument/2006/relationships/notesSlide" Target="/ppt/notesSlides/notesSlide62.xml" Id="R827a5936281d449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e017c8835442d" /><Relationship Type="http://schemas.openxmlformats.org/officeDocument/2006/relationships/notesSlide" Target="/ppt/notesSlides/notesSlide63.xml" Id="Re3be925437814f1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5b0c439794c66" /><Relationship Type="http://schemas.openxmlformats.org/officeDocument/2006/relationships/notesSlide" Target="/ppt/notesSlides/notesSlide64.xml" Id="Re68f359e90be4b6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e0287df454cd9" /><Relationship Type="http://schemas.openxmlformats.org/officeDocument/2006/relationships/notesSlide" Target="/ppt/notesSlides/notesSlide65.xml" Id="R7ce513398e274d6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58a78cb124021" /><Relationship Type="http://schemas.openxmlformats.org/officeDocument/2006/relationships/notesSlide" Target="/ppt/notesSlides/notesSlide66.xml" Id="Rf74788ba603542e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8ee68ef124878" /><Relationship Type="http://schemas.openxmlformats.org/officeDocument/2006/relationships/notesSlide" Target="/ppt/notesSlides/notesSlide67.xml" Id="R1cdf0145bebf456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Durchschnittsbewertung</c:v>
          </c:tx>
          <c:spPr>
            <a:solidFill xmlns:a="http://schemas.openxmlformats.org/drawingml/2006/main">
              <a:srgbClr val="16334F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3.679</c:v>
              </c:pt>
              <c:pt idx="1">
                <c:v>4.346</c:v>
              </c:pt>
              <c:pt idx="2">
                <c:v>4.295</c:v>
              </c:pt>
              <c:pt idx="3">
                <c:v>4.857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 count</c:v>
          </c:tx>
          <c:spPr>
            <a:solidFill xmlns:a="http://schemas.openxmlformats.org/drawingml/2006/main">
              <a:srgbClr val="16334F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52</c:v>
              </c:pt>
              <c:pt idx="2">
                <c:v>78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Reviews / Woche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2.178</c:v>
              </c:pt>
              <c:pt idx="1">
                <c:v>4.044</c:v>
              </c:pt>
              <c:pt idx="2">
                <c:v>6.067</c:v>
              </c:pt>
              <c:pt idx="3">
                <c:v>1.089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5 Sterne Anteil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0\%</c:formatCode>
              <c:ptCount val="4"/>
              <c:pt idx="0">
                <c:v>57.14</c:v>
              </c:pt>
              <c:pt idx="1">
                <c:v>75</c:v>
              </c:pt>
              <c:pt idx="2">
                <c:v>69.23</c:v>
              </c:pt>
              <c:pt idx="3">
                <c:v>92.86</c:v>
              </c:pt>
            </c:numLit>
          </c:val>
        </c:ser>
        <c:ser>
          <c:idx val="1"/>
          <c:order val="1"/>
          <c:tx>
            <c:v>1–2 Sterne Anteil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0\%</c:formatCode>
              <c:ptCount val="4"/>
              <c:pt idx="0">
                <c:v>32.14</c:v>
              </c:pt>
              <c:pt idx="1">
                <c:v>13.46</c:v>
              </c:pt>
              <c:pt idx="2">
                <c:v>12.82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\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Historisch</c:v>
          </c:tx>
          <c:spPr>
            <a:solidFill xmlns:a="http://schemas.openxmlformats.org/drawingml/2006/main">
              <a:srgbClr val="AAB6C2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4.661</c:v>
              </c:pt>
              <c:pt idx="1">
                <c:v>4.793</c:v>
              </c:pt>
              <c:pt idx="2">
                <c:v>4.723</c:v>
              </c:pt>
              <c:pt idx="3">
                <c:v>0</c:v>
              </c:pt>
            </c:numLit>
          </c:val>
        </c:ser>
        <c:ser>
          <c:idx val="1"/>
          <c:order val="1"/>
          <c:tx>
            <c:v>Vorherige 90 Tage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3.912</c:v>
              </c:pt>
              <c:pt idx="1">
                <c:v>4.214</c:v>
              </c:pt>
              <c:pt idx="2">
                <c:v>4.789</c:v>
              </c:pt>
              <c:pt idx="3">
                <c:v>4.984</c:v>
              </c:pt>
            </c:numLit>
          </c:val>
        </c:ser>
        <c:ser>
          <c:idx val="2"/>
          <c:order val="2"/>
          <c:tx>
            <c:v>Letzte 90 Tage</c:v>
          </c:tx>
          <c:spPr>
            <a:solidFill xmlns:a="http://schemas.openxmlformats.org/drawingml/2006/main">
              <a:srgbClr val="16334F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3.679</c:v>
              </c:pt>
              <c:pt idx="1">
                <c:v>4.346</c:v>
              </c:pt>
              <c:pt idx="2">
                <c:v>4.295</c:v>
              </c:pt>
              <c:pt idx="3">
                <c:v>4.857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Al Assiel</c:v>
          </c:tx>
          <c:spPr>
            <a:ln xmlns:a="http://schemas.openxmlformats.org/drawingml/2006/main" w="28575">
              <a:solidFill>
                <a:srgbClr val="D4A72C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4.375</c:v>
              </c:pt>
              <c:pt idx="1">
                <c:v>3.643</c:v>
              </c:pt>
              <c:pt idx="2">
                <c:v>4</c:v>
              </c:pt>
              <c:pt idx="3">
                <c:v>2.667</c:v>
              </c:pt>
              <c:pt idx="4">
                <c:v>4</c:v>
              </c:pt>
            </c:numLit>
          </c:val>
          <c:smooth val="0"/>
        </c:ser>
        <c:ser>
          <c:idx val="1"/>
          <c:order val="1"/>
          <c:tx>
            <c:v>Olivenzweig</c:v>
          </c:tx>
          <c:spPr>
            <a:ln xmlns:a="http://schemas.openxmlformats.org/drawingml/2006/main" w="28575">
              <a:solidFill>
                <a:srgbClr val="1F9D8A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3.731</c:v>
              </c:pt>
              <c:pt idx="1">
                <c:v>4.286</c:v>
              </c:pt>
              <c:pt idx="2">
                <c:v>3.769</c:v>
              </c:pt>
              <c:pt idx="3">
                <c:v>4.25</c:v>
              </c:pt>
              <c:pt idx="4">
                <c:v>4.875</c:v>
              </c:pt>
            </c:numLit>
          </c:val>
          <c:smooth val="0"/>
        </c:ser>
        <c:ser>
          <c:idx val="2"/>
          <c:order val="2"/>
          <c:tx>
            <c:v>Al Safa</c:v>
          </c:tx>
          <c:spPr>
            <a:ln xmlns:a="http://schemas.openxmlformats.org/drawingml/2006/main" w="28575">
              <a:solidFill>
                <a:srgbClr val="D95C5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4.821</c:v>
              </c:pt>
              <c:pt idx="1">
                <c:v>4.611</c:v>
              </c:pt>
              <c:pt idx="2">
                <c:v>4.636</c:v>
              </c:pt>
              <c:pt idx="3">
                <c:v>4.312</c:v>
              </c:pt>
              <c:pt idx="4">
                <c:v>4.071</c:v>
              </c:pt>
            </c:numLit>
          </c:val>
          <c:smooth val="0"/>
        </c:ser>
        <c:ser>
          <c:idx val="3"/>
          <c:order val="3"/>
          <c:tx>
            <c:v>Beit Fayrouz</c:v>
          </c:tx>
          <c:spPr>
            <a:ln xmlns:a="http://schemas.openxmlformats.org/drawingml/2006/main" w="28575">
              <a:solidFill>
                <a:srgbClr val="5B8FF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4.955</c:v>
              </c:pt>
              <c:pt idx="2">
                <c:v>5</c:v>
              </c:pt>
              <c:pt idx="3">
                <c:v>4.6</c:v>
              </c:pt>
              <c:pt idx="4">
                <c:v>5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 Assiel</c:v>
          </c:tx>
          <c:spPr>
            <a:solidFill xmlns:a="http://schemas.openxmlformats.org/drawingml/2006/main">
              <a:srgbClr val="D4A72C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14</c:v>
              </c:pt>
              <c:pt idx="2">
                <c:v>9</c:v>
              </c:pt>
              <c:pt idx="3">
                <c:v>6</c:v>
              </c:pt>
              <c:pt idx="4">
                <c:v>15</c:v>
              </c:pt>
              <c:pt idx="5">
                <c:v>1</c:v>
              </c:pt>
            </c:numLit>
          </c:val>
        </c:ser>
        <c:ser>
          <c:idx val="1"/>
          <c:order val="1"/>
          <c:tx>
            <c:v>Olivenzweig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26</c:v>
              </c:pt>
              <c:pt idx="1">
                <c:v>35</c:v>
              </c:pt>
              <c:pt idx="2">
                <c:v>13</c:v>
              </c:pt>
              <c:pt idx="3">
                <c:v>24</c:v>
              </c:pt>
              <c:pt idx="4">
                <c:v>16</c:v>
              </c:pt>
              <c:pt idx="5">
                <c:v>1</c:v>
              </c:pt>
            </c:numLit>
          </c:val>
        </c:ser>
        <c:ser>
          <c:idx val="2"/>
          <c:order val="2"/>
          <c:tx>
            <c:v>Al Safa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18</c:v>
              </c:pt>
              <c:pt idx="2">
                <c:v>22</c:v>
              </c:pt>
              <c:pt idx="3">
                <c:v>32</c:v>
              </c:pt>
              <c:pt idx="4">
                <c:v>28</c:v>
              </c:pt>
              <c:pt idx="5">
                <c:v>2</c:v>
              </c:pt>
            </c:numLit>
          </c:val>
        </c:ser>
        <c:ser>
          <c:idx val="3"/>
          <c:order val="3"/>
          <c:tx>
            <c:v>Beit Fayrouz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39</c:v>
              </c:pt>
              <c:pt idx="1">
                <c:v>22</c:v>
              </c:pt>
              <c:pt idx="2">
                <c:v>2</c:v>
              </c:pt>
              <c:pt idx="3">
                <c:v>5</c:v>
              </c:pt>
              <c:pt idx="4">
                <c:v>7</c:v>
              </c:pt>
              <c:pt idx="5">
                <c:v>0</c:v>
              </c:pt>
            </c:numLit>
          </c:val>
        </c:ser>
        <c:dLbls/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Al Assiel</c:v>
          </c:tx>
          <c:spPr>
            <a:ln xmlns:a="http://schemas.openxmlformats.org/drawingml/2006/main" w="28575">
              <a:solidFill>
                <a:srgbClr val="D4A72C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12.5</c:v>
              </c:pt>
              <c:pt idx="1">
                <c:v>28.57</c:v>
              </c:pt>
              <c:pt idx="2">
                <c:v>22.22</c:v>
              </c:pt>
              <c:pt idx="3">
                <c:v>50</c:v>
              </c:pt>
              <c:pt idx="4">
                <c:v>26.67</c:v>
              </c:pt>
              <c:pt idx="5">
                <c:v>0</c:v>
              </c:pt>
            </c:numLit>
          </c:val>
          <c:smooth val="0"/>
        </c:ser>
        <c:ser>
          <c:idx val="1"/>
          <c:order val="1"/>
          <c:tx>
            <c:v>Olivenzweig</c:v>
          </c:tx>
          <c:spPr>
            <a:ln xmlns:a="http://schemas.openxmlformats.org/drawingml/2006/main" w="28575">
              <a:solidFill>
                <a:srgbClr val="1F9D8A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30.77</c:v>
              </c:pt>
              <c:pt idx="1">
                <c:v>14.29</c:v>
              </c:pt>
              <c:pt idx="2">
                <c:v>23.08</c:v>
              </c:pt>
              <c:pt idx="3">
                <c:v>16.67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2"/>
          <c:order val="2"/>
          <c:tx>
            <c:v>Al Safa</c:v>
          </c:tx>
          <c:spPr>
            <a:ln xmlns:a="http://schemas.openxmlformats.org/drawingml/2006/main" w="28575">
              <a:solidFill>
                <a:srgbClr val="D95C5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5.56</c:v>
              </c:pt>
              <c:pt idx="2">
                <c:v>4.55</c:v>
              </c:pt>
              <c:pt idx="3">
                <c:v>12.5</c:v>
              </c:pt>
              <c:pt idx="4">
                <c:v>17.86</c:v>
              </c:pt>
              <c:pt idx="5">
                <c:v>0</c:v>
              </c:pt>
            </c:numLit>
          </c:val>
          <c:smooth val="0"/>
        </c:ser>
        <c:ser>
          <c:idx val="3"/>
          <c:order val="3"/>
          <c:tx>
            <c:v>Beit Fayrouz</c:v>
          </c:tx>
          <c:spPr>
            <a:ln xmlns:a="http://schemas.openxmlformats.org/drawingml/2006/main" w="28575">
              <a:solidFill>
                <a:srgbClr val="5B8FF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Al Assiel</c:v>
          </c:tx>
          <c:spPr>
            <a:ln xmlns:a="http://schemas.openxmlformats.org/drawingml/2006/main" w="28575">
              <a:solidFill>
                <a:srgbClr val="D4A72C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1"/>
          <c:order val="1"/>
          <c:tx>
            <c:v>Olivenzweig</c:v>
          </c:tx>
          <c:spPr>
            <a:ln xmlns:a="http://schemas.openxmlformats.org/drawingml/2006/main" w="28575">
              <a:solidFill>
                <a:srgbClr val="1F9D8A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2"/>
          <c:order val="2"/>
          <c:tx>
            <c:v>Al Safa</c:v>
          </c:tx>
          <c:spPr>
            <a:ln xmlns:a="http://schemas.openxmlformats.org/drawingml/2006/main" w="28575">
              <a:solidFill>
                <a:srgbClr val="D95C5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3"/>
          <c:order val="3"/>
          <c:tx>
            <c:v>Beit Fayrouz</c:v>
          </c:tx>
          <c:spPr>
            <a:ln xmlns:a="http://schemas.openxmlformats.org/drawingml/2006/main" w="28575">
              <a:solidFill>
                <a:srgbClr val="5B8FF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Mai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2.56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 Assiel</c:v>
          </c:tx>
          <c:spPr>
            <a:solidFill xmlns:a="http://schemas.openxmlformats.org/drawingml/2006/main">
              <a:srgbClr val="D4A72C"/>
            </a:solidFill>
          </c:spPr>
          <c:dLbls/>
          <c:cat>
            <c:strLit>
              <c:ptCount val="6"/>
              <c:pt idx="0">
                <c:v>Speisen</c:v>
              </c:pt>
              <c:pt idx="1">
                <c:v>Service</c:v>
              </c:pt>
              <c:pt idx="2">
                <c:v>Geschmack</c:v>
              </c:pt>
              <c:pt idx="3">
                <c:v>Preis-Leistungs-Verhältnis</c:v>
              </c:pt>
              <c:pt idx="4">
                <c:v>Wartezeit</c:v>
              </c:pt>
              <c:pt idx="5">
                <c:v>Getränke</c:v>
              </c:pt>
            </c:strLit>
          </c:cat>
          <c:val>
            <c:numLit>
              <c:formatCode>General</c:formatCode>
              <c:ptCount val="6"/>
              <c:pt idx="0">
                <c:v>10</c:v>
              </c:pt>
              <c:pt idx="1">
                <c:v>9</c:v>
              </c:pt>
              <c:pt idx="2">
                <c:v>6</c:v>
              </c:pt>
              <c:pt idx="3">
                <c:v>5</c:v>
              </c:pt>
              <c:pt idx="4">
                <c:v>3</c:v>
              </c:pt>
              <c:pt idx="5">
                <c:v>1</c:v>
              </c:pt>
            </c:numLit>
          </c:val>
        </c:ser>
        <c:ser>
          <c:idx val="1"/>
          <c:order val="1"/>
          <c:tx>
            <c:v>Olivenzweig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6"/>
              <c:pt idx="0">
                <c:v>Speisen</c:v>
              </c:pt>
              <c:pt idx="1">
                <c:v>Service</c:v>
              </c:pt>
              <c:pt idx="2">
                <c:v>Geschmack</c:v>
              </c:pt>
              <c:pt idx="3">
                <c:v>Preis-Leistungs-Verhältnis</c:v>
              </c:pt>
              <c:pt idx="4">
                <c:v>Wartezeit</c:v>
              </c:pt>
              <c:pt idx="5">
                <c:v>Getränke</c:v>
              </c:pt>
            </c:strLit>
          </c:cat>
          <c:val>
            <c:numLit>
              <c:formatCode>General</c:formatCode>
              <c:ptCount val="6"/>
              <c:pt idx="0">
                <c:v>9</c:v>
              </c:pt>
              <c:pt idx="1">
                <c:v>12</c:v>
              </c:pt>
              <c:pt idx="2">
                <c:v>5</c:v>
              </c:pt>
              <c:pt idx="3">
                <c:v>7</c:v>
              </c:pt>
              <c:pt idx="4">
                <c:v>13</c:v>
              </c:pt>
              <c:pt idx="5">
                <c:v>2</c:v>
              </c:pt>
            </c:numLit>
          </c:val>
        </c:ser>
        <c:ser>
          <c:idx val="2"/>
          <c:order val="2"/>
          <c:tx>
            <c:v>Al Safa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6"/>
              <c:pt idx="0">
                <c:v>Speisen</c:v>
              </c:pt>
              <c:pt idx="1">
                <c:v>Service</c:v>
              </c:pt>
              <c:pt idx="2">
                <c:v>Geschmack</c:v>
              </c:pt>
              <c:pt idx="3">
                <c:v>Preis-Leistungs-Verhältnis</c:v>
              </c:pt>
              <c:pt idx="4">
                <c:v>Wartezeit</c:v>
              </c:pt>
              <c:pt idx="5">
                <c:v>Getränke</c:v>
              </c:pt>
            </c:strLit>
          </c:cat>
          <c:val>
            <c:numLit>
              <c:formatCode>General</c:formatCode>
              <c:ptCount val="6"/>
              <c:pt idx="0">
                <c:v>6</c:v>
              </c:pt>
              <c:pt idx="1">
                <c:v>9</c:v>
              </c:pt>
              <c:pt idx="2">
                <c:v>2</c:v>
              </c:pt>
              <c:pt idx="3">
                <c:v>6</c:v>
              </c:pt>
              <c:pt idx="4">
                <c:v>1</c:v>
              </c:pt>
              <c:pt idx="5">
                <c:v>0</c:v>
              </c:pt>
            </c:numLit>
          </c:val>
        </c:ser>
        <c:ser>
          <c:idx val="3"/>
          <c:order val="3"/>
          <c:tx>
            <c:v>Beit Fayrouz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6"/>
              <c:pt idx="0">
                <c:v>Speisen</c:v>
              </c:pt>
              <c:pt idx="1">
                <c:v>Service</c:v>
              </c:pt>
              <c:pt idx="2">
                <c:v>Geschmack</c:v>
              </c:pt>
              <c:pt idx="3">
                <c:v>Preis-Leistungs-Verhältnis</c:v>
              </c:pt>
              <c:pt idx="4">
                <c:v>Wartezeit</c:v>
              </c:pt>
              <c:pt idx="5">
                <c:v>Getränke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/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 Assiel</c:v>
          </c:tx>
          <c:spPr>
            <a:solidFill xmlns:a="http://schemas.openxmlformats.org/drawingml/2006/main">
              <a:srgbClr val="D4A72C"/>
            </a:solidFill>
          </c:spPr>
          <c:dLbls/>
          <c:cat>
            <c:strLit>
              <c:ptCount val="4"/>
              <c:pt idx="0">
                <c:v>Speisen +</c:v>
              </c:pt>
              <c:pt idx="1">
                <c:v>Speisen −</c:v>
              </c:pt>
              <c:pt idx="2">
                <c:v>Geschmack +</c:v>
              </c:pt>
              <c:pt idx="3">
                <c:v>Geschmack −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5</c:v>
              </c:pt>
              <c:pt idx="2">
                <c:v>13</c:v>
              </c:pt>
              <c:pt idx="3">
                <c:v>4</c:v>
              </c:pt>
            </c:numLit>
          </c:val>
        </c:ser>
        <c:ser>
          <c:idx val="1"/>
          <c:order val="1"/>
          <c:tx>
            <c:v>Olivenzweig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4"/>
              <c:pt idx="0">
                <c:v>Speisen +</c:v>
              </c:pt>
              <c:pt idx="1">
                <c:v>Speisen −</c:v>
              </c:pt>
              <c:pt idx="2">
                <c:v>Geschmack +</c:v>
              </c:pt>
              <c:pt idx="3">
                <c:v>Geschmack −</c:v>
              </c:pt>
            </c:strLit>
          </c:cat>
          <c:val>
            <c:numLit>
              <c:formatCode>General</c:formatCode>
              <c:ptCount val="4"/>
              <c:pt idx="0">
                <c:v>20</c:v>
              </c:pt>
              <c:pt idx="1">
                <c:v>1</c:v>
              </c:pt>
              <c:pt idx="2">
                <c:v>15</c:v>
              </c:pt>
              <c:pt idx="3">
                <c:v>2</c:v>
              </c:pt>
            </c:numLit>
          </c:val>
        </c:ser>
        <c:ser>
          <c:idx val="2"/>
          <c:order val="2"/>
          <c:tx>
            <c:v>Al Safa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4"/>
              <c:pt idx="0">
                <c:v>Speisen +</c:v>
              </c:pt>
              <c:pt idx="1">
                <c:v>Speisen −</c:v>
              </c:pt>
              <c:pt idx="2">
                <c:v>Geschmack +</c:v>
              </c:pt>
              <c:pt idx="3">
                <c:v>Geschmack −</c:v>
              </c:pt>
            </c:strLit>
          </c:cat>
          <c:val>
            <c:numLit>
              <c:formatCode>General</c:formatCode>
              <c:ptCount val="4"/>
              <c:pt idx="0">
                <c:v>24</c:v>
              </c:pt>
              <c:pt idx="1">
                <c:v>1</c:v>
              </c:pt>
              <c:pt idx="2">
                <c:v>23</c:v>
              </c:pt>
              <c:pt idx="3">
                <c:v>1</c:v>
              </c:pt>
            </c:numLit>
          </c:val>
        </c:ser>
        <c:ser>
          <c:idx val="3"/>
          <c:order val="3"/>
          <c:tx>
            <c:v>Beit Fayrouz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4"/>
              <c:pt idx="0">
                <c:v>Speisen +</c:v>
              </c:pt>
              <c:pt idx="1">
                <c:v>Speisen −</c:v>
              </c:pt>
              <c:pt idx="2">
                <c:v>Geschmack +</c:v>
              </c:pt>
              <c:pt idx="3">
                <c:v>Geschmack −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0</c:v>
              </c:pt>
              <c:pt idx="2">
                <c:v>3</c:v>
              </c:pt>
              <c:pt idx="3">
                <c:v>0</c:v>
              </c:pt>
            </c:numLit>
          </c:val>
        </c:ser>
        <c:dLbls/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F36E4-C91C-43A2-B7EF-876631B5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91A4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85A1F-843F-4081-976E-2C23A203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E329A-00E7-405F-923C-74487642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1D108-902C-4771-912F-9F334E8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4A7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A72C"/>
                </a:solidFill>
                <a:latin typeface="Aptos"/>
                <a:ea typeface="Aptos"/>
                <a:cs typeface="Aptos"/>
              </a:rPr>
              <a:t>WETTBEWERBSANALYSE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36219-E169-48EA-850E-7DD2D0A7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Wettbewerbsanalyse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E8407-18DA-4FA3-92F8-3EE8CD2D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Beobachtete Bewertungsleistung • Speisekartenstruktur • Feldforschungsagenda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6E4F2-8D52-424E-AFE3-3F4DAB1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049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BA0C8-E306-4799-842F-BFA5A76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3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534B3-89FC-4444-AA1B-ACBA5BB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38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06012-0487-4311-9AE5-E485C1C9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1F9D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BE5CE-AEAA-44FC-9C39-F62C99DE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D8744-12BA-4FC6-AAF2-1D158EE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2ADB4-519E-4D67-9639-DC5E55D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D95C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58943-A89B-4CEB-99AC-2C881834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363F7-9A54-4E4C-85EA-B08D3910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939EB-D933-4509-AAEF-7D6E9C4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5B8F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ADF33-D5FD-4897-83D7-4CFCD794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F8F87-B8EE-45D2-85FE-8E7012B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FA34E-AE51-43BB-B318-39BC71D3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EB1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EB1C3"/>
                </a:solidFill>
                <a:latin typeface="Aptos"/>
                <a:ea typeface="Aptos"/>
                <a:cs typeface="Aptos"/>
              </a:rPr>
              <a:t>Gemeinsamer Stichtag: 03. Sep. 2026  |  Letzte 90 Tage: 06. Juni-03. Sep. 2026</a:t>
            </a:r>
          </a:p>
        </p:txBody>
      </p:sp>
    </p:spTree>
    <p:extLst>
      <p:ext uri="{BB962C8B-B14F-4D97-AF65-F5344CB8AC3E}">
        <p14:creationId xmlns:p14="http://schemas.microsoft.com/office/powerpoint/2010/main" val="148619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0D3E4-DA4E-44C2-A04F-7838A04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 — MANAGEMENTÜBERBLICK WETTBEWERB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A8340-0477-45D1-8462-3A04B185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Was wird verglichen - und was nicht?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7D3D-FC9C-471D-88A8-1E203BC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Ein Stichtag, vier formale Restaurants und ein beobachtungsbasierter Evidenzstandard.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A4230-7C74-41DF-9B16-8441DEC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0E132-4FBE-449D-8B57-7762A760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148B8-A6BB-4D45-BEA6-F824411D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Formales Vergleichsfeld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42E28-1A8E-4DF9-9116-43A68B34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 · Olivenzweig · Al Safa · Beit Fayrouz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73F58-7F8A-49D6-A379-4B32877B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1C7EF-EF46-4374-BC07-55D27D34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Gemeinsamer Stichtag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2F27F-1BBE-407A-85D1-C42584D1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03. Sep. 2026; spätere Wettbewerberbewertungen sind aus formalen Vergleichen ausgeschlossen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E3596-8561-4607-BC5A-3721DEA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AA7D8-F655-4C93-969D-2AAC9419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Kernzeitraum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576FD-AFA5-4F71-9B3F-6F677156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Letzte 90 Tage: 06. Juni-03. Sep.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6A285-A195-42A8-ADD9-4623121F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8FC3B-0BEA-495F-9701-F2DCF1B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Evidenzregel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5EB67-8FC6-4E89-A75C-46D2B77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Anzahlen, Anteile, Stichprobengrößen und niedrige/mittlere/hohe Evidenz werden gemeinsam gezeigt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E55C3-5A1F-4DFC-AB02-B3AA0717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7648C-595B-44EB-A0D8-945AEF87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B668B-277A-49D3-AF0C-A140A0CA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Beobachteter Vergleich - kein Beweis, dass ein Restaurant allgemein besser 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B3DF8-7BFE-490E-8055-F66C838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78C73-C9C6-41A1-AE08-FB70918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Ausgeschlossen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6412E-916C-4AD9-9440-9FC07C8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Aleppo Rose bleibt außerhalb des formalen Vergleichs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7AD5C-200B-4774-B011-32B04525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DB67B-C820-49A1-9BA4-CFFFDB0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791CB-1022-4747-999A-2545A344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4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Quelldetails →</a:t>
            </a:r>
          </a:p>
        </p:txBody>
      </p:sp>
    </p:spTree>
    <p:extLst>
      <p:ext uri="{BB962C8B-B14F-4D97-AF65-F5344CB8AC3E}">
        <p14:creationId xmlns:p14="http://schemas.microsoft.com/office/powerpoint/2010/main" val="111494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9B456-C836-4299-85DF-9A051A35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 — MANAGEMENTÜBERBLICK WETTBEWERB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45974-1B3F-4689-9212-2C0339F4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Das aktuelle Marktsignal ist uneinheitlich - keine einfache Rangliste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EA3FD-E48B-4B0B-85CC-7D96C28A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Im gemeinsamen 90-Tage-Zeitraum hat Al Assiel die schwächste Bewertung und den höchsten Anteil niedriger Bewertungen im formalen Feld.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9B51F-FEDC-47E0-A87F-DDBE71B8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43327-9752-407C-B711-948AD435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8C84F-0088-42CE-AA97-F674742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25D1B-B384-4001-B66E-A9A5240F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7F40E-5D83-49B5-BB1C-D23F8EA8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82895-401C-4E3A-9BE0-999ECDD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3.68 / 32.1%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C4A98-C841-4991-AB6A-55668BE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 / Niedriganteil · n=28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6DF6A-E58C-4106-A691-946BCC2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27DF0-6FAB-43F2-9983-EAB17F7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C3982-CF70-4A4F-AEAD-11EB1F3C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7ECAA-85A9-42EA-821C-C527F5FB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4.35 / 13.5%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03259-FD3C-4BD7-A323-907271C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 / Niedriganteil · n=52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F4483-9A25-43EE-AC64-FF185A06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72D8D-8A32-42CE-8E69-A9CA6704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FC729-08AD-4539-9B51-6BD8754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BF0D6-8DE6-4F4C-BFA0-6D56A39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4.30 / 12.8%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2B67D-3BDC-40A5-ADCA-5FD2073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 / Niedriganteil · n=78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F8ADD-6187-4E8B-ABC7-6A160BB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5E96B-BB7C-467E-BB91-59399440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B4B38-3D52-428D-B6E4-6FC37EF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3170E-1A81-441A-BB01-B5BB25A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4.86 / 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505F8-2A4C-4CB4-B9F1-09775067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n=14 · mittlere Evidenz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6C87B-F3B4-4809-A3D1-A327F1F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085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C610D-3FEA-4B96-97F7-370FCB9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D318B-4E9E-43C1-BFDA-1F1DE97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055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Managementfolgerung: Die hohe beobachtete Bewertung von Beit Fayrouz wegen der kleineren Stichprobe vorsichtig einordnen. Al Assiels 9 niedrige Bewertungen in 90 Tagen sind ein wiederholtes Signal, kein Einzelfall.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D55531-87F1-4D43-B659-A0176207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4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Auch das Antwortverhalten der Betriebe ist schwach: Alle vier verzeichneten im gemeinsamen 90-Tage-Zeitraum 0 % Antworten.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F5985-8874-4060-AC9B-A691B5D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31750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B1B95-6A5C-42CB-A46F-66C75285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 — MANAGEMENTÜBERBLICK WETTBEWERB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9751E-73AF-48D5-B60C-D693A4F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Wo zeigt die beobachtete Evidenz eine Führung?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7192-8EFC-4646-AB41-09BC12E8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qualifizierte Stichproben werden benannt; Gleichstände und unzureichende Evidenz bleiben ausdrücklich sichtbar.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EB353-6415-44BE-9C0C-E1AAD2B4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63A48-FDAD-4DC9-A471-AE09D542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3E8BD-AA7A-484C-850F-167D8B34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91E07-CCA2-4B59-9611-6B72823D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Beobachtete Kennzahl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65E53-5349-4DEB-AF98-9676BE0D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B5B1C-EF1C-432E-BFEB-32DB6EDF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573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Qualifizierte Führung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135C4-039B-4AFC-8EE8-08C039BD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C68A4-16ED-40FD-9166-EA8F120D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573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BE9C3-4316-4693-A582-659D4D17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D4864-AB3C-46F1-9A57-2009310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573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FD041-5B2D-4272-ACF7-5AEBF376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9EEAE-61A3-494D-99DA-B3775F1F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Aktuelle Bewertung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3F3B1-85BE-4819-AFCD-4BDC663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9AA70-F0D2-4AC9-B40A-FEFD1FBE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383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6D752-FD4F-427F-8EF5-5C53202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EB25E-65F2-45A3-B124-C555C041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383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6055F-9673-43E0-9061-7AFABCE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86A18-362E-4C27-97C3-0949C9B4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n=14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1DA33-D4E0-43C3-8C56-C2A59CDD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A2E21-DF8C-4787-AD52-890EB956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Aktuelles Bewertungsvolumen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07E45-59ED-4D0E-AB84-9C8BF13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622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A92AB-29AF-474F-AE47-B04E51E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98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2743F-E45B-42EB-A0CF-6E39BF5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7464A-5728-4E6D-8419-B6A94A2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98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A419B-F8E1-4B6D-AE07-3B7D686A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62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C7393D-B50D-491C-B1E2-88D33DD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Bewertungen in 90 Tagen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646C6-9EE4-4A64-A8D9-6825D1AD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CD8D4-1BC7-4657-B726-55B5246A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Niedrigster Anteil niedriger Bewertungen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E929E-5139-419E-96DD-44FA7668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D62DEF-DDBB-494C-8CB8-CA0F07C3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813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91B6B5-7DD8-42D2-9FCF-D166D080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D7D80F-CEEE-4370-8807-A815EE55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F4C29C-24BB-4F8B-B441-B87F82B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195D4-9460-418B-81AC-9345DD6F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n=14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C3C2AA-7F74-4AE8-80A5-1CB54433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E7E0EA-AD75-466C-9BEB-4E0B9E0C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Positives Speisensentiment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42D002-8EF5-4616-9469-F2AB21D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E09FE3-858A-43A0-84DE-002550A5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528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473525-44CF-42AC-87EC-5E3C9B03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5C33EB-7231-4FCB-A051-2BEAFA74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528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87.0%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B52EE-95D5-4220-8772-FB520A32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E25800-423A-4DCA-AAD2-D4833F7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528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Nennungen=23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FCCA26-EB3C-48B3-BF8B-20522EF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077BB3-5D0C-4CB3-8748-D3B84E0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Positives Servicesentiment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DF1204-4905-45EC-B973-ECF623B3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5F1BE2-674A-4177-AC51-079B4BA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243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F5CDE0-19FE-4F7B-8996-BB120DEF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3ACE74-90F7-4942-81CC-706AD2B4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243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78.6%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828C78-AF9C-4208-962A-E5565CB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91A76B-B657-460C-AE62-F05C8B9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243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Nennungen=28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29E905-9D91-46BB-BBDA-497DEF64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295711-7228-4743-B972-90CD6BF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Antwortrate des Betriebs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B3B9B1-18B5-4C64-B51A-148E931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482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2E768D-F6BF-4AF3-B780-93F233F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958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E8DBB8-D62D-4A32-896C-5541A26F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482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09A4AF-9890-4534-8012-1799476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Keine eindeutige Führung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4A3E0D-C3AF-4B24-B1F8-3AD1D6EF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48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7F58DF-0999-43D8-9C81-28E081E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958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0 % bei allen vier in den letzten 90 Tagen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40A361-9795-4FE6-9A61-1510B51E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946427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C0025-90E7-41CD-A451-A0119708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2 — BENCHMARK DER LETZTEN 90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1A669-CEBC-422D-B3A8-4E6901E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Benchmark der letzten 90 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2B6F8-BCE1-41DA-9440-19AA57FC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06. Juni-03. Sep. 2026 · identische Grenzen für jedes Restaurant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D44B8-E881-4131-BC8C-62FDAE7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12230-A471-478F-A40C-8DC777A6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89325-5A0F-46CD-B744-908A28FA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35E6A-D058-4DDE-9E4B-DD3C2D0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907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00172-1283-4433-BF86-9CED41D2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240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BFF90-8D49-4EA6-A11B-A66B45C7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90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B8229-458A-44AA-AEBF-C7B2094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24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14FF0-137D-4526-8F95-86A124E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907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 Woche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A164F-945F-45E1-905A-8116810A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24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4CD45-58AF-40D5-86C1-EE39754E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907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6FB5D-28AF-4BEA-8D11-0155731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24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AB180-7345-42C9-9539-0B132CB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9072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Sterne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650FA-B0C6-4997-A50B-ACCDA117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9C0C5-903B-4E0F-831B-C12081FE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9072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1-2 Sterne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D93E-BDA7-48EE-8478-52227F12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240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7B7D8-A46D-4912-A5B4-5858164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907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 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FC041-ACAD-427E-B39E-9F45BD45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240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AC84C-7CD6-4F52-8F0B-9840A55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9072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Antwort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C2E39-8E05-4AD6-B0D4-3A2C4C4C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54024-920B-4B79-9F49-CA3A8A1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9F9DD-B0F0-4A54-BAB7-A6D380C6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37542-8BDA-4EA5-A172-31C9D88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F40BB-0B4D-4501-B518-53372372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241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A0275-548A-43A2-8F7F-131036FD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717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B0152-66B1-454F-88C1-7F66346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241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683A14-1097-4545-870F-5C868CB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717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51AB9-5FF7-4BC7-9B0F-1D18443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FF97C1-8908-4704-867D-463C40DC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717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22EE6D-D5AE-4832-ACDE-9CD6654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241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8ADCFE-20C4-49EB-A3CF-206ACD9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717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57.1%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751015-AB3E-47FE-B61D-DB87FA2D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08BBF-ABD9-4331-8481-A6DBE4E8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717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32.1%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3422D1-2F75-4FD1-87B2-01AC28B3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241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A304B-B2FF-4267-ADE5-93EAC1C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717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FAF666-34C7-4F02-88D9-DBBF6E9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1B717E-D2DA-4039-B9AA-A25DABD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717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A447BC-7943-4142-B2F7-B433DC1F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241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D302E5-C1F5-45CE-B74E-C1CFD13B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717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B3409C-F051-4290-99BB-DCBDBC0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31161F-4242-4F59-8F74-6D51B9FA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13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EE0ECB-D01B-4AD2-8221-031CF9E4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20BCC7-5063-4B7C-BB62-B4644545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813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AB076F-18A4-4A9D-95D9-4C6303F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337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345BAA-370C-4A37-A3CB-E540C7D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813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E16104-89A7-4F76-98A8-2DDE4DCB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337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D7AF35-3D62-47CC-95B6-12E6B0B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813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BA0043-D5A6-423D-AD64-F0E99EE4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337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57D9B4-A73A-4E54-B2C2-18C52913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813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75.0%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D611E3-4304-4317-A2E9-15BE51D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5FCE6A-BA64-4547-83C6-0D3894DE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813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13.5%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FE054-95BA-4F33-A57E-FCCD8D2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337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FE75B8-A526-42BC-A395-C51963D6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9813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994691-BBDA-4D83-8365-8DA052B1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4A5F85-C7BD-4083-8275-B6E894C4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DF87A8-A9AD-4886-A7DD-2DB3751A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337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C3D77E-6B0A-45A0-AE6E-E96B1333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AB2A83-8A1B-4E2F-8D6F-EF2877F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0CED92-21F5-4B68-9420-FC4145F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577385-EA59-4A6B-883F-4D00A17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433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4EB2DF-030B-4010-813E-E25DE31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909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D3BD89-D7C7-4AB6-913F-FBE098F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433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6AC185-C282-4E2B-B6CA-D12922CC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909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6.1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342E9C-0442-4262-9C13-D4365C8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433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BCFBAA-9F93-41DD-BA43-FF46B04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909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DCA03B-54B0-4521-883B-798EF19C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97F3D9-701B-484F-89C7-68136038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5909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69.2%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255262E-D6C2-45E3-9EDB-9136B56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E14E33-DEA2-425A-B5F9-EB693ADF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12.8%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82C29A8-B9D3-415C-8374-A033128C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433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A67725-F013-4B22-A44F-C0D55EBA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909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6E51A0-59ED-4F19-A9F4-8051F33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BC2170-E724-457C-93A6-C75A3907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09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81F06E-C5D0-42D6-93F3-CBEEAE2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5433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CF63BC-C055-438F-9671-F22EC4C2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909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ED2373-CC0A-4201-9AEA-EFA6E931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9CC390B-C050-431C-BF67-072CBAD1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333ADB-E824-46A2-A15C-B1C71BA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1529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299B3BD-51F0-44BA-A852-8D918BE6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005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458EEC-3790-41FD-862B-0546269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529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7B9530-ECDE-4087-B7DA-0E805BE6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2005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34BF7E-BBBF-44F4-B63B-E3DAEAE2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529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D7A28B-413B-431B-9416-941D47FC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005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79C729-93C1-418D-ACA6-B16810E5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529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001A766-F1AE-4E41-A334-383FCE78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005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92.9%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32D5F0F-9148-4FD6-89CF-46CA2334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962D0E-8605-49CC-A96E-02433467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005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D0E26A8-A9D3-4CFE-8405-A12141DE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529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9E8A88-6DCE-4FBF-9BF8-B105AC3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2005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6670C7-8CE0-4455-BEF5-4BDB656C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211BA1-98F0-43BF-ADAD-4007D273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005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EF3B29-9F89-4A31-BBD3-A5BF4EF1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529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F26D2F-A4FE-4888-AFE8-A7639DB5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005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9897D9-7D61-4059-B795-AD6C1A67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858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9D30FA-DD8D-4067-8224-AF718A8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296B9C-0CAC-4543-A2DC-E7575BD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055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Bewertung zusammen mit n und dem Anteil niedriger Bewertungen lesen. Beit Fayrouz: n=14 (mittel); die anderen drei aktuellen Stichproben haben hohe Evidenz.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58C86B9-455E-402D-A533-A1004D09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974274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10C03-ED82-424D-8F69-0299AC8F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2 — BENCHMARK DER LETZTEN 90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C045B-C61E-431E-98A1-94C2B87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Beobachtete Bewertung: Al Assiel liegt im aktuellen Feld zurück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D7D5-3C46-4C7C-B963-31FC936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Durchschnittliche Google-Bewertung · 06. Juni-03. Sep.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BB8CC-C236-4FDE-B82E-9D510A2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2ECC7-EB5F-40A8-92D9-F8D40E8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C12AF-BF55-40D6-A570-BA6B7D2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1494B-CB68-4DBB-BA76-D74AAB34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795B5-CA7B-4299-B3E8-1DC331EB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CF369-6A4E-4042-ACE5-18A177F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A72C1-A787-4465-B39C-3313379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5A95D-B269-45DE-8888-08D7CA5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5A918-950B-45BD-B846-B589103A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992E3-8680-4BA1-ADB8-49373EAB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047750" y="2038350"/>
          <a:ext xmlns:a="http://schemas.openxmlformats.org/drawingml/2006/main" cx="962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cfee1a38834874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29911-9F8E-45C2-8D15-9D8E8F6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942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95875-8815-481E-9DF4-A663622B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927DD-4B79-4AB9-966A-461A30D3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62600"/>
            <a:ext cx="912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Assiel: 3,68 aus 28 Bewertungen. Beit Fayrouz erreicht 4,86 auf Basis von nur 14 Bewertungen und ist vorsichtig einzuordnen.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98949-8A0F-400D-A12B-6E439091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882936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4600B6-FC57-4ECE-96A5-E10E1086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2 — BENCHMARK DER LETZTEN 90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5BAE8-7842-43A6-8C9A-F988C7BF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hat die stärkste aktuelle Bewertungsfrequenz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0A02A-32BD-4D26-A5A1-BFF2849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Bewertungsvolumen und Bewertungen pro Woche · 06. Juni-03. Sep.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10233-B765-496E-A1A2-F0BAA49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6A604-961B-403D-B997-B97D1CA5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" y="186690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7e38c114834d79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705600" y="1866900"/>
          <a:ext xmlns:a="http://schemas.openxmlformats.org/drawingml/2006/main" cx="4857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db24e19688466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FCAC4-2EFA-4857-84A6-7599ACF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78 Bewertungen · 6.1/Woche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06FB8-17AD-4B3E-B0E4-199BEEE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491456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47B6E-E542-4152-8711-32551794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2 — BENCHMARK DER LETZTEN 90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3CBD9-707B-4B2A-83F0-CD579EC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Das Risiko konzentriert sich auf Al Assiels Anteil niedriger Bewertungen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03BF3-992A-4840-8098-1DF81728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Anteile mit 5 Sternen und 1-2 Sternen · Anzahlen stehen in den Beschriftungen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839C1-2B1C-41B0-8242-CAD7FECB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8E972-E77A-494E-8AC4-A3A5C4D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95350" y="1924050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5e70f735644fb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4A491-82F0-4932-9648-CDD89329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Assiel: 16 mit 5 Sternen / 9 niedrig   •   Olivenzweig: 39 mit 5 Sternen / 7 niedrig   •   Al Safa: 54 mit 5 Sternen / 10 niedrig   •   Beit Fayrouz: 13 mit 5 Sternen / 0 niedrig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12A38-1676-422E-905F-45968EB6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104506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9E72A-4B8B-4AA0-B242-5D894147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2 — BENCHMARK DER LETZTEN 90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23804-6E32-4557-BA09-A88B7392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Aktuelle Bewertungen weichen von früheren Vergleichswerten 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139FD-D691-4411-9AEC-370DF2F4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 der letzten 90 Tage gegenüber den vorherigen 90 Tagen und historischen Bewertungen bis 07. März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D2E93-D7E2-4634-9F72-99CE37E2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4D652-BD5D-4A5F-B848-54444795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8859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1a6ed6b4d94e1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C0230-F092-4381-A80B-4C13F7F8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47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02A01-C582-4209-B907-30BCA526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C2910-C08C-4D47-8D93-BCEEE431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Assiel: 3,91 → 3,68. Al Safa: 4,79 → 4,30. Olivenzweig verbessert sich auf 4,35. Für Beit Fayrouz fehlt eine historische Vergleichsbasis.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C9558-0210-4906-BB87-489628D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177479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C84AD1-D666-42A4-AAEB-87BE49C7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3 — ENTWICKLUNG DER LETZTEN 30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E8CC5-2BFC-41C6-AD1D-35DBE91C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Letzte 30 Tage: Al Assiel verbessert sich leicht, bleibt aber exponiert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AB6BA-E98E-44B5-976D-2548B15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05. Aug.-03. Sep. 2026 gegenüber 06. Juli-04. Aug.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B1EF0-469E-4F2A-80CD-FFBF14D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E6138-DD8A-4AC6-AE78-2ABEE0C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1F97C-468A-401E-93EB-B2CE8FA0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77513-CB52-40C9-8BA7-9D3A1E23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61767-164D-4AE1-8110-F8F2EDAC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240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53164-824A-4F1B-933B-A307C1F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90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F488B-BA03-4AD0-8960-A7EB7E1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90EAD-2769-4AF5-8D43-58DFE2AB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A1450-E548-4316-A939-5E4B6F9F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F40EF-CF89-44F6-BA79-2F8518D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907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 vorherige 30 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D373A-B639-4D94-87CB-CB7BF83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57DAF-0197-4A4E-A212-F0B784C6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907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Sterne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93707-A0B4-487A-8464-2AA1032C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2AC82-685F-4590-820F-5474B2C8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9907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1-2 Sterne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8D704-A0D4-406F-BDE6-C0B990C3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D9008-A66D-4027-B4EB-2AF2A23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907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Antwort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3BD4C-B175-4D51-9443-05CE572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24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C143D-CB73-48F9-8D31-6C580BFF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99072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DB031-C5F3-4626-82D8-0CB7335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71498-4AEA-459B-85F7-250F944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5990A-5FAF-4F88-8CA9-92FA0A2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241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A7BC4-8CF7-428B-BCE6-726DDE69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7172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91A44-F16E-4ED8-8806-2C8651C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46587-9118-4B4F-BB78-2FA9415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717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3.93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EAD48-FE32-49B3-AEBD-90845E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FCD05-07BB-458C-AFC5-FE536474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7172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0A1280-4BEC-4DDA-BBEA-81B927C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241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FE5A7-1208-4E1A-8A29-8916D8BC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717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57.1%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B3A4B-25AD-4DF2-8F8F-E4FF3464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241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D415D-2984-4208-9ECA-164A9C11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717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28.6% (4)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0E9FB-6865-4A4B-A699-6C06053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81A8E4-6B8D-4695-B964-3DD03E98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717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876E1F-D39A-410F-95B0-BC8EFEF5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2410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85284B-058F-4A77-8E0F-1E17C87D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37172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1FB36E-E718-497C-84D2-50A0F2A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1A1960-5079-4E19-B6E2-62E9C381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B8A680-B218-45D2-98A1-3A0F2399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146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84F402-E4A9-4E18-8128-693DB7B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6227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8C74F-0172-41B6-A6F9-A0BBE13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146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4C26B5-E598-4869-B586-D6FB5D86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622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4.93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0B5F9-77CA-4455-8BE6-181658B5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A856BA-F866-4E0B-BD2A-C731EAFE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6227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+0.69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365D5F-A1F5-4B1A-AAAE-2AFD2EA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63240-8ECF-445F-A6B9-B04F97C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622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93.3%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345110-86AC-49D0-AD6E-780B64E4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146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3B1BE9-2181-4D24-90DE-1ACD2243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622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 (0)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6C906F-9824-430C-86A3-3D38ACB5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146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7DC9D3-0B47-465C-AF77-0ACA3DB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B6E0BC-23A8-483F-AE9A-0C9E3BB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1465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9CF8C2-84BD-4BCF-B6A8-C7016BF9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96227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C35B96-F440-4E78-A0C3-F8797779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CA7DD2-BD3F-4C1D-BBB8-F5CD900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8203FF-E6A2-4658-AF42-B27E776A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052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F638C6-4E87-45FB-97A6-0F49D031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5282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9A1DCD-C6A5-472D-8070-FD63546B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052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51CBD4-F542-44AC-B8FD-E0E4FA88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528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3EB461-CAB9-4D04-8E49-59E4DC4E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052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E18C35-230D-4951-A64C-85953CE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5282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05B8BA-055C-48BF-9CAA-5C67D11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052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29FA45-44BF-477C-9F7F-6E1439E3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5528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70.4%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EC89D6-F642-493D-B4CE-64FC20A7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CCB967-2297-4BD1-ABA4-DC1ADDF7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528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14.8% (4)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1A7C35-ACE5-4DF3-BF43-309F7D0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052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CAE62E-C685-424C-8C08-B647C94F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F95694-B488-4B03-952B-61E3A634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50520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44D424-5BC7-4AFE-8826-3748288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55282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8B035A-11B1-4CB9-A187-A4C2D34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7AF4E6-7AF0-462B-906D-194FB65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4FFC70-4C4B-486C-9CD0-A30B8A8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957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43ADA7-ABFF-461A-B6CE-E50F49D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4337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250572-A634-4B49-B347-A4EC7936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68682E-C68D-4A93-8CD4-BA2F4FB0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433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05DE136-33E9-493D-AE00-0BD093D6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DB2EE4-F15A-405F-AD67-37FDCE96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4337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0880B8-C5A3-4229-BBEE-BB7B9055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22BDD6-6446-4815-9E29-CBF74582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A18B6C-6BC6-4F8F-8CD1-C61F01C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66A8ED-007D-4454-94B0-C5A99992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433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 (0)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59FAD2-5C55-48F0-B54E-143AC48E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957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16EC32-4E9D-4BFF-8A13-073C48C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2BE8D7-321D-4B9F-A54C-B397D091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09575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916880A-8746-478F-B3AC-4A139B02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4337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167573-5EC4-419E-BF13-24B12B9D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A30C51-B9F2-492D-B31A-AAA57DF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B925024-A292-4642-A697-B73E5075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055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 in den letzten 30 Tagen: n=4, niedrige Evidenz. 5,00 nicht als starke Vergleichsaussage behandeln.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A80BA1C-48C4-41D9-91E4-2BA04242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55766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E5228-8826-4ADE-8BDB-4B6DEE3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3 — ENTWICKLUNG DER LETZTEN 30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13474-41CE-4DF4-8452-C0826C7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Themen der letzten 30 Tage: Die Textstichprobe ist dünn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F6E04-A41F-45A4-BF11-10C5403D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Positive und negative Anzahlen für Speisen, Service, Geschmack und Preis-Leistung; zuerst die Anzahlen, dann Prozentwerte einordnen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037FB-6320-468F-98AC-9A6114C1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327EB-1F5A-4062-9908-177CC4FB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2AEB1-1636-45D7-8262-07AFE5E7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3ACE2-70FE-4D0B-B2D5-933CC926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A7C39-CDF3-4D91-A6D0-D56822C2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7E08-8F2A-4B57-82FF-FA7A1F7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764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BFD2C-9579-473A-B14D-F365F025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0DDA3-B80B-4288-89B8-23092F80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Nennungen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386B-B54E-4429-B3B1-2FBAD550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56F52-2A72-4668-BC52-FD19DEBF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86ABA-BD13-4FB4-A9F8-026E7CFE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F7055-1D88-4EB1-8A6D-744EB999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893EA-A581-4BFC-8524-B03A2C4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5E1A6-A3CA-47D0-B099-302F4241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B4C02-6E9A-4494-8A16-E258F4B4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F0044-A54B-45E6-9D67-FFE7D723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59B08-7B83-4FB2-BD57-2BF76702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B31A4-7783-4D31-BA5D-505147DF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574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533DC-107C-4843-A3E7-3ACB5A2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6754B-CFEC-4AF7-A659-634D24CF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2574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F468D-4A94-48D8-B0F3-E904814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09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36D5A-AB42-4260-A9CF-4D13A338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574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18E7C-9473-4C87-AE30-E1FAFC3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FC9AD-6D12-4896-913D-ABF7167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574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E9117-9A5E-478F-BCA9-F7DE6417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09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1694AF-AC76-4D48-A263-EA10F7F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2574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C039B-B696-490D-9882-D12006A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5C390-22D9-4077-B8AF-90A34AC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40960-24D3-4CA1-BC35-9C4C774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731F1-2156-4314-8CFF-3112E735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765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B69B67-C26E-4260-BE91-4C2B3FF5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49B0C7-C603-4FF8-BC98-DEF00FF8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05A4E-BAC7-4C42-A992-9AEC57F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60C6CF-64BC-4136-85FF-480A5BF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76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E116BF-DDF6-4C14-B408-FE42219E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289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339080-2339-42B8-8966-D7946814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76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514246-D840-4891-AF1B-B8FE201F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28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EC358E-9B7C-4D1F-9183-B929A8E9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765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267511-11BC-4D5D-A0F5-0968674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04C088-3D26-48D4-9D09-39D1E58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0DA044-4371-476A-8F5C-A985156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1C8E5A-DB74-4FF4-B428-9A8A34B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8CF904-79A4-420E-BDE5-40A7896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9C690-FFEE-49C8-BFFA-6789A06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956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1B5D7E-C86C-47E8-9A92-7491569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2F9EF-A2CD-4E19-B97B-F5A27792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F48D38-624A-481F-AFBA-2F302EA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7DC037-8BC7-4811-ACCF-B091CFB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956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472E84-5C8D-4C77-AA29-E9584F97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838E6A-0309-4174-9D1C-8E7CD51A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956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DC3DAA-089C-469D-BED2-7715B16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4C4A8B-8FC3-45F1-93CD-7B6744F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1B2380-A06D-4A8A-9B1B-A55D059C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931C66-F4CF-4706-8D0B-853450CF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147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129EDE-429A-404C-99BC-5EAE5E6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67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E6EF7D-C705-4594-A3DB-A8FB460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5147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F6D28E-80EB-4790-95B0-373D1CED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67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EB1E5A-D92E-4E15-B45A-1C7B691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147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40B312-2A23-4B86-A780-AE7CD21B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67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FA8403-E25C-41E9-A48E-1390D744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147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B73B39-4714-4DFC-8A7A-3275CE6E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671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EBCCEF-DA04-4F97-AC1A-DCD9A31F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5147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F08D48-5E64-4A61-BFFE-00D3716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B7A829-8A0F-4151-81F4-B7ED31D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2EDEBB-30DF-42E7-9A91-151AD293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1F1E17-2FEC-4D4A-86FA-70435C38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01CCCD-8C7A-4765-BA85-50A24489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86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7AC637-C2AE-4C32-9A76-D0BA0411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338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543EE0-5129-4A09-8A01-79579356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86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AEC658-C797-457D-9093-85F92C73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338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0523AE-B47E-4EB8-B75D-6692570A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86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042F27-2B52-4610-B193-9C3DCD0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338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A61949-50FC-4805-A90D-D3DCC98C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862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2540A2A-F401-4E3F-AB2B-84A30048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338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C97F41-FF6A-4381-8F76-7250C3E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F052E17-0BD5-4C4E-A45C-6848279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529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F37CFB-BFA7-4AEF-8959-5641613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2699D04-CF7F-4883-ABD9-934ADD99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529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CED3E1-7628-4E0E-BB99-14AB305A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053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60615B-8AFA-4FE3-94A1-20115428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529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F0BFAE-6A4F-4992-A034-4E892F53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33CC6AD-47AC-4239-90DF-058DA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3529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95D9F96-C184-4FE1-AA69-62C71134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053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470366-6BDA-4528-AACA-392A4F09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529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C15BE0-C04D-453A-8C0B-EB49DFC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05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B5419C5-A40E-4BEC-BB66-AD5A0293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529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A8126B-AD52-4DAA-A9F6-98F8B208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DEFD28-9F73-4E3D-B861-3095ED0A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C5488F-C567-4535-A17A-9E1EAEE6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244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B6AF47-5DA0-4E5B-A8D5-9A7B68A6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720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E45517-3679-4357-A05B-9272E84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24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DD6C89A-F487-4013-B0EC-DD58D790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720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BE135E-5546-4F63-98A4-08C4E114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898F2A1-2384-468B-A4A7-BFCBFAA1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720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1ED501-23E4-4F3B-A0E8-331E36E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24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1076A1-4F2D-4632-9F15-B5FD64E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720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CB5D58-361B-45E7-B50C-598C908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24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26787E-0C76-4400-9CCF-C696BC3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7720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6403181-69B5-4561-A2CE-619C39E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3FC823F-5411-42D7-9C30-1EE5891C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8B2FA97-2C4E-4938-A566-6E6650D9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01EF75-B130-45E8-AF43-13BDEAF9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911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4010F15-932F-4189-B0D9-804F3E5D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43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2B2B298-804B-4234-9BED-AAE85D0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1911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1BE09B8-131D-4CAC-8E56-15496EE6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43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3065212-091F-4575-A497-CEE8B3E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911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2EC9381-9009-46B8-AAA2-4D291FE2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11E45E-2FE1-452E-9647-5C63291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1911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7F0C0A5-6493-489E-A51B-99C1CD2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43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410A6C5-60F6-43A7-9A07-D6C4DD6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1911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3CD599-49A5-4A4B-86B2-D7723775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65A194-0908-4CF8-8B9F-06BE6F6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B1765F1-4F69-4EDA-91D1-ACD3603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Fayrouz: 4 Bewertungen / 2 mit Text im gemeinsamen 30-Tage-Zeitraum; die Themenevidenz ist für diese Tabelle zu klein.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5D5C2A-9897-4966-9CCA-28EBBFF2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128034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ADD04-D911-4D7F-AB6B-A9D8A2D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4 — BEWERTUNGS- &amp; VOLUMENTRENDS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CD46D-FA72-4711-BBE8-FD608920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Monatlicher Bewertungstrend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8F782-FEA1-46E8-BB40-E5DD10B2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Apr.-Aug. 2026 sind vollständig; der unvollständige September wird ausgeschlossen, da für ein Restaurant vor dem Stichtag keine Bewertung vorliegt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792FD-8269-49D2-BFDB-82D41B74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C379B-74BE-4D0F-9095-92DE2E3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6da6e7658848d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23130-2D9B-4251-BECD-D4CDA5E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Die Evidenz des unvollständigen Septembers bleibt in Anhang E; fehlende Bewertungen werden nicht als null dargestellt.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27B1E-3946-44FE-91D1-F10119F4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3587693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CC12E-21F5-45E1-9E39-E5C241B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4 — BEWERTUNGS- &amp; VOLUMENTRENDS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991FF-38E6-4FC6-A281-750D4DEC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9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Das monatliche Bewertungsvolumen zeigt sehr unterschiedliche Marktsichtbarkeit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651F2-89C3-4360-996E-DEE0A9F4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Apr.-03. Sep. 2026 · September unvollständig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273AD-9E4C-4A7A-9A1B-CA9D9FC6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1E14A-24C7-4200-96A3-7F4E7CC5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52d7e3480340b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57144-022C-41D7-9E97-716CBBAC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* September bis 03. Sep. Volumen zeigt Aufmerksamkeit, nicht Kundenzufriedenheit.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A86A1-1594-45FB-BD06-DB65F6E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6819029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42795-C9A9-4980-A7A5-768C2AA4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4 — BEWERTUNGS- &amp; VOLUMENTRENDS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17B7B-8239-4EF4-AD76-6E7C9EEE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Der monatliche Anteil niedriger Bewertungen isoliert aktuelles Risiko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422D-C914-48E4-87D4-5E981D96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Monatlicher Anteil mit 1-2 Sternen · Apr.-03. Sep.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36658-3186-4367-B36B-C3A1BBD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97DB7-E71A-45E3-B2B7-103C6428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28e25be56f471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2E323-7890-48B4-83C8-9706D90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72125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6F99B-29E4-4C07-AFFA-4B0CCFA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7212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AE5C-8DBB-4342-AB7D-7105E0D7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686425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9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September ist unvollständig; die 90-Tage-Sicht verwenden.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BC99-429E-43B4-9692-3C60D33C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5304996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AEB7E9-09A5-4904-BB7A-C404CFB7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5 — INHABERANTWORTEN &amp; REPUTATIONSMANAGEMENT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35D0F-62DE-4EC6-BF55-DEF146CA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Antwortaktivität der Betriebe verschwindet im aktuellen Zeitraum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5212-E8D2-476D-82F9-33AA4B1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Monatliche Antwortrate · Apr.-03. Sep.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D87AA-7871-470D-8FE7-782FCADE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D2D42-9E21-4777-A9CF-1189BAD8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1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c301ae4f5446c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BEC19-51FE-42F9-98AD-2068FB8D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244B4-6909-4EB8-B27B-EC6CCEA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E9BF8-8AE8-45EB-A5CB-296E1786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Alle vier: 0 Inhaberantworten im gemeinsamen 90-Tage-Zeitraum. Die Schwäche betrifft den gesamten Markt im Datensatz; Al Assiels 9 aktuelle niedrige Bewertungen bleiben dennoch unbeantwortet.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B8CCC-7C10-43C4-821E-488D298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717980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35A16-260F-4CF8-A3F0-4B4730E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5 — INHABERANTWORTEN &amp; REPUTATIONSMANAGEMENT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0F91F-0E51-44DC-8BBB-05EB1D75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9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Ist Al Assiel beim Antwortmanagement außergewöhnlich schwach?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B3AB8-E543-4FD8-8DE9-BDEBDA9A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Nein - die aktuelle Schwäche wird geteilt, das historische Verhalten unterscheidet sich.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30FC0-F055-4A0F-84C3-294BE05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4E941-B5E4-4E7B-8BE7-765A933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1005C-462E-4CD2-A42B-E95F0AF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A204B-36F6-422F-8BEC-0C2979E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88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97C56-BE86-45C3-ABAC-A3CF911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621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1A988-37B5-413D-8C16-1DF1F1E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28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Letzte 90 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DC32B-D833-4511-8DD1-7306F342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621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04A2E-0979-404B-A0BC-368DE9E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28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Alle niedrigen Bewertungen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0C927-A23E-4D1E-B94F-D1605CE2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114CD-7789-4FD8-B3F9-1CAEB7A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28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Unbeantwortet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F7206-DE49-49C3-A199-FF0B521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E4FF9-3A4A-4815-AA4B-BC64CA85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28825"/>
            <a:ext cx="145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Gesamtquote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25644-DA0D-4478-8795-98FC9B9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621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9833C-58F7-4B7F-A134-A58E9BE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288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Mediane Antwortzeit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1926E-EAEE-41BC-91FB-47F22CF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BCECB-902B-46A1-B60C-FC0EF7E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37107-1CE6-405C-A2A2-6345E8C8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F14C7-A07F-4583-9ACD-DBF8312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98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0/28 · 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57D5E-7139-42B7-878E-39C9FF6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622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613B2-A266-4F9B-9865-326054F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098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1/30 · 3.3%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1CD46-8BC5-4E92-BF84-13E36E40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326C5-5916-40F8-BC5E-D7538CB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98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3998A-FAE9-4444-8D95-41EA4336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6A3A5-6132-46E2-A668-A83BE3C9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98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6E910-EC7A-483E-A0ED-1F8829A7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622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E80BC-2F9D-4B2C-963B-4505AB9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98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5.3d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76B18-44B6-4A27-89F4-452A12F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DCE08-4B2B-4540-82F6-7C37CF4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F58D7A-F3C9-43CE-BF2D-DC96F4DB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BD1FA8-A0E7-421C-B7DB-3AC036B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194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0/52 · 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1F741C-F640-46CA-9DFB-2221D751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718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5C1F0-2E19-4BD4-B453-E43A1BF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194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3/39 · 7.7%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B04C4-3389-4802-9C6C-A7919E02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CD5493-357E-41CC-A46C-12CF7FE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CDFA6-CBFD-4334-8F04-A20149A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FE94E5-1782-4CE3-9110-A871798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194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18.3%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A089C8-12F6-417A-869B-0FC15C1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718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F80C29-5FAD-46F2-A0D6-360A6B50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194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11.0d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3FC81-E67C-4E75-A681-1628902F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55820-D2EB-48A7-9572-83BC0EB7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6ADC1C-2CFA-411F-A5CA-77B29C0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4002C-D4AB-49CF-811A-FD2F8E9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290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0/78 · 0.0%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0FD9AE-8B2A-4BE0-821B-801F64D1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814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C28434-1A85-41FA-BF0D-5AD8E3A1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290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4/35 · 11.4%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D0A9A7-0CE0-456F-8B06-9CD469C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34691-8175-47D7-A50F-D59538B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290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72AF1B-F9C8-4C6E-B14A-AC047BF2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FD2C1F-A97C-4070-9A3F-071EB39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290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88092F-3C39-44CB-8F30-78694573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814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BDC2D0-9B6A-447D-89BB-507AC5CD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290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4.5d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5A70F9-411B-475F-A1A7-81DEE130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56F8F2-246D-4C1F-98EF-3394451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0B1C86-E413-4665-8210-7F663E5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9A9A1D-EC47-4A72-99E4-35C0207D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386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0/14 · 0.0%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B9DEC7-8D72-4996-9433-9B6F83BF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4924AD-90FE-4B34-AB22-AEC9F75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0/0 · 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3B2D57-E8B6-4797-9312-E0DDCE10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CF60FF-BC8A-426C-9ECC-248053E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386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993761-22EE-4C9D-9B8E-2C627B2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541470-0FC0-446F-A6A4-89901317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386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E06C73-4CA6-4574-82F7-A707103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910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6D0FDE-C09C-4899-BEB2-04BE750B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386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0.1d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6B06DF-27AF-41F1-A702-AAF1180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E2FE9C-686E-4079-B76C-A404665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E42A24-6872-477F-9364-C4DC3D8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5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Handlungslücke: niedrige Bewertungen konsequent beantworten. Das ist Reputationspflege, keine Behauptung, dass Antworten Bewertungen verändern.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DD1B4F-7E65-4B58-A703-843E5A51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2428430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8855B-F21E-4123-B617-AFC6C7B1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6 — VERGLEICH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6CAA-FAEB-4B55-9F75-5960938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Was verursacht schlechte Bewertungen?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BB4D1-0A25-4EF3-93B4-53DEC16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Negative Themenanzahlen in allen schriftlichen 1-2-Sterne-Bewertungen bis 03. Sep.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2A51A-3221-4568-B6E6-B5FFAE6B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748F-4386-4BC5-B046-A791402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765f12f0d0443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EFBA5-57A4-4552-985D-E2666CF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Dargestellt sind Anzahlen, keine Prozente. Nenner: Al Assiel 24, Olivenzweig 27, Al Safa 26, Beit Fayrouz 0 schriftliche niedrige Bewertungen.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570D9-81AD-49BA-BD0F-6B0D8A09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046435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88F81D-302D-4E09-974B-B3A533BC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6 — VERGLEICH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CB863-8DBD-4DC4-9FD6-88AC22A2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Assiel: Muster niedriger Bewertungen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CE80C-CCA9-488B-88E4-D22BF8E1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 1 Stern · 10 2 Sterne · 24 mit Text · Antwort 3.3%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FA01F-3B8A-4A21-9F9F-F115E0F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4DB19-281B-4992-87F0-BA50DFB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018C2-62D7-4CA6-A55E-B3A19790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E3115-DA04-455C-AA6B-75A8971D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Negatives Thema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06357-AF17-4E9C-BCCB-EA46B61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EC41A-0852-40A9-8F82-147E8A2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9760D-DF9F-4AB2-8855-E905DC3D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00560-B2A8-4CBA-9E89-099013B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Anteil schriftlicher Bewertungen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AFF7A-3D58-4CB3-AEBC-8CF2F100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9ACC0-34CF-41D7-AD65-3FB0385C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4B278-8D30-4C61-B64A-0035CA6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E77A2-4625-4479-8998-CF38EF55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A7F43-DDD6-46A2-A766-580DAAB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BC84C-3F66-4543-9FB7-46EB19F8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4C07A-DA09-4771-B5E6-06B526EB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2D877-99CA-4E3E-9198-2BAF727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41.7%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18924-9A02-4DE8-8E9B-2964564F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77DF8-6805-48C9-8C95-6A87210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90504-2EFB-40F1-8CCD-20BCB91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E5D9F-2719-42C8-853B-EE5AE89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6AB08-3E40-4A5E-8826-41141E7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18598-86F2-408C-B793-28ADDBD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460EF-95B1-42A9-825F-9C993CC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F84BB-CF52-4062-BA69-6D9C49C1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146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37.5%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345BC-DD95-4E65-A1F3-1A9FCBB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1C8BF-22A8-47DC-8C72-8482885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CE5C78-0979-4BDF-A206-C6C74E75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62977-5BFA-4B4E-9817-D716AE0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Speisenqualität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52256-9885-4CB8-841D-56169F68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9A38D6-A528-40A1-822C-A4790A81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9D9B19-3A96-4C86-A922-0CCE608C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3B45F-98D4-4F96-B262-3BE74F01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7FE229-B763-442B-A32E-C33B7A92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8095C1-B6AF-4109-BD5E-51092474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6190C-7683-4996-9094-3F634428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034F4A-5566-4BD7-A4F2-CDD5883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6DE509-1684-423A-AFF5-7EFBB23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BB096C-5536-4943-BDCC-E5567D20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704E76-4B52-4678-B027-F3A6A8D7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2545EE-F95C-4F36-9F89-CAE475E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290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2F9289-004F-4FF6-8487-E7E5ACAD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24DA70-C4B3-42F7-A4AE-93DCDCE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6BC76F-87F8-443F-8087-058C0C25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4E8496-79C8-442D-8A9F-FD031354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Preis-Leistungs-Verhältnis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0965AF-B749-41E7-ACB2-451F0EC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812CF8-8DB9-4680-9CA1-E2137B0C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4B7C2F-E3F0-4085-91F5-AB86675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856C6D-0AF7-4707-971E-99E68F4F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862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20.8%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10688F-EEB8-4020-B6AD-0D4A7E9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357C55-5CC5-4E50-8F08-F844F2D0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4F816C-0E43-44F6-AA59-5C12F52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BDE4A9-12E1-4412-974F-5189E38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Frische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CAD01D-CF77-43B6-9402-BF19DB48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046B51-05D4-4CF4-82C1-4138D5F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CF4074-2ABA-47DF-A93B-BCC7F3D7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42E916-3440-4B60-8559-C83E71B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39990E-5BEC-400C-9B35-C90C3C21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14A163-839E-481F-91E5-467CB699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2CEC38-988B-402B-8AC6-9455810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BA3C0B-7954-414D-BC7B-3F14B41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C87FA2-178B-4930-A740-0973B958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31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Wiederkehrende Konzentrationen: Speisen 10/24, Service 9/24, Speisenqualität 6/24 und Geschmack 6/24. Acht schriftliche Fälle nennen ein erkanntes Gericht; 1 von 30 niedrigen Bewertungen erhielt eine Inhaberantwort.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385760-1596-4D5E-A6BD-3229732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Bewertungsfälle →</a:t>
            </a:r>
          </a:p>
        </p:txBody>
      </p:sp>
    </p:spTree>
    <p:extLst>
      <p:ext uri="{BB962C8B-B14F-4D97-AF65-F5344CB8AC3E}">
        <p14:creationId xmlns:p14="http://schemas.microsoft.com/office/powerpoint/2010/main" val="6371611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26B4E-9EF7-4DC7-B5EA-E1F432F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6 — VERGLEICH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E3B61-06AC-44A4-9378-F300547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Olivenzweig: Muster niedriger Bewertungen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4F2AC-6D1D-4DF0-AD95-63CD662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26 1 Stern · 13 2 Sterne · 27 mit Text · Antwort 7.7%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3A3B4-5FBF-4460-871F-0CADD5E7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90864-9F40-41F3-BAD0-3DC1EFE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09D7-1620-40A4-8FB9-AE1353C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E2FBA-E00F-44E1-9DBF-E8A85FC5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Negatives Thema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F8FE6-1800-47AF-A0C5-ECF14CDE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F74C8-3737-487B-91DB-0E1FEBE2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749CE-F661-47D4-94E1-89BDF145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77DB9-4182-471D-8D2F-9E60E00A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Anteil schriftlicher Bewertungen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C1CAA-D0C8-41CE-AF3E-1FF5EC7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D96FF-E494-4DB2-B0FA-42FFC7B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CECD8-244F-4865-9D6E-CF1301AB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67D24-2D7D-4FD4-B988-85603C8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Wartezeit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CD23B-931C-46FA-8F71-D6990CC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65EF1-1AC4-4449-A145-BEEBB2B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BA7C5-1F7F-41F3-9129-2C4A0277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39D70-EA32-48FF-9148-79B55E2D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48.1%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D3AC0-40AC-4EA4-BD38-F2964310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EA286-15C6-47A4-AC93-20B30C4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343C8-470A-4B62-8D32-024ED4BA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3471E-6979-40E9-93D0-F24EB6C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CE392-D732-4B5B-B139-C0CB16F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EF02F-DCBE-4F35-BE15-9D2F3972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6C282-09C7-4547-B2A6-D777AE60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A16D6-6E17-4190-9328-F4DA889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146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44.4%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DEC8D-F2A6-4D08-B8F3-4976F54A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6C308-7C70-4A58-B151-ABC204A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8E55A-B0E9-44C8-929F-16FF08E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71BEE-A834-4E9C-8104-73145165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25430-3F2F-4C19-A612-AEA65DC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4F2165-D55E-4B1B-9D80-1BB4CFE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9B91ED-45DB-4197-B396-15BD088D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D2461-8EA4-488E-92BF-90653AD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AEC15-1F6C-4094-B783-3BE6019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A36162-2847-40B8-A065-1F24EF5F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424BF9-632F-41C8-9E35-81767E9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F36F77-73D7-4AF5-9223-F8BA4920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Preis-Leistungs-Verhältnis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CD1782-8167-4A07-9009-69B92046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4C588B-2F75-4325-A510-163F9132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1881C7-9935-4D12-85F6-18F6AE4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57CE15-ECA3-4651-B58D-F268892F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290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25.9%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EB11C5-DFE5-46C0-BE81-1C0A1112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57A4B4-27CF-45D6-9FD2-3F7CCE6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660689-F31A-4E2F-ADDD-33ACFA66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A0DF8D-19BE-427B-82D7-F94445C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3E9910-B26A-4850-BF60-36EF890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97E35D-B917-44BA-9BD1-73689CF8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C37FE4-F8D3-4383-974B-922B464A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4B3F43-6C5B-4B0C-B4AB-FF4B1E47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862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18.5%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A26C76-00FE-4489-8474-F6AB7EC1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BE0B99-0684-4BB2-90EC-AB0D8E2D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5377AA-8F25-4CEA-9B95-DC1F2E3D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FAE7F9-88E3-4593-AF5C-112BC9F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Aufmerksamkeit des Personals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D65C44-8101-4E50-BD6F-5025772C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5299D0-EFB9-42CA-BFF2-EE26CC2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846597-BE54-462E-BE6C-D9AAB1E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AB1123-FDD1-4D6A-8E09-84D14DE6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14.8%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B8F028-DB1E-4C18-85F2-BB6564D6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707240-856E-43A7-A1B2-0B6BBA3F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6F8E37-490E-43F5-B461-2B1069B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24CE49-05FB-4FFC-9997-8783DFB9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1EB7D6-2F7C-4C4D-8137-A6ED5C2C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31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Die klarste Konzentration ist Wartezeit: 13/27 schriftliche niedrige Bewertungen, daneben Service 12/27. Speisen erscheinen in 9/27; Gerichte sind mit 3/27 seltener beteiligt.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D012F3-666B-4AFA-A36D-D18E083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Bewertungsfälle →</a:t>
            </a:r>
          </a:p>
        </p:txBody>
      </p:sp>
    </p:spTree>
    <p:extLst>
      <p:ext uri="{BB962C8B-B14F-4D97-AF65-F5344CB8AC3E}">
        <p14:creationId xmlns:p14="http://schemas.microsoft.com/office/powerpoint/2010/main" val="4432520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5F517-9D25-43F7-9B43-753DEC89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6 — VERGLEICH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C691D-015D-4E56-88AB-82DA37E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Safa: Muster niedriger Bewertungen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5C537-63ED-4A70-B173-2217F7E4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28 1 Stern · 7 2 Sterne · 26 mit Text · Antwort 11.4%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CBB30-6337-4112-9A59-3E31F801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7151A-2867-43D2-921D-7491FAE9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5964-CBB7-4039-ADC5-84C0878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B8FB2-02D3-4FD1-8C39-64F1F65E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Negatives Thema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5328F-BD57-4EFC-8DE1-66ED9025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8A744-04CA-4374-8AC8-739C404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B1BE5-4C10-4557-9196-7CEC3508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D0A17-AFB3-423C-AC7D-5AA9781E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Anteil schriftlicher Bewertungen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86222-615B-49CD-9086-94AB9EF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3AEAF-AC01-4F69-BE47-44424173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9CC95-803E-4B16-8E9D-24395D7E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537C4-7888-4338-A0EC-2C3D1CB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1EF9C-EAAC-45AF-95F3-0DC3D2AC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36A47-06D9-477C-858B-739C8614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82A3F-ED9D-4412-93E6-9799F13A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5C908-A5E7-4D7D-927E-4706E85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16ECB-BBF7-48F2-86F8-BD8AE5C5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3C55B-8710-471D-88C9-EABC8DF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0B375-E5A3-4B94-B32C-710AE61B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97F0F-5D1D-4B8E-A081-B04D2913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0EFA4-F651-4776-8824-94411718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A6F10-1089-450A-87B0-B5547246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B4BB5-4A93-4B37-8235-8E8890D3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0EECC-FB4C-4F02-8AFB-8749AE94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146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D528D-6067-464E-AA9A-C1FF7C02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326EC-3351-4876-8F42-0893E50E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9C6784-8D0F-4BB1-8986-97C82F4D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614C7-775F-4DAA-ADAB-52C6298C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Speisenqualität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7CDFF-6CE3-4F28-AA4E-FF87BC64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41A77-A588-410E-A7ED-5E9DC02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21C4A5-ADDD-475E-9761-F10BD00C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0EC8D-ACE8-4C79-A28B-1BAFEC6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0D2058-B938-4C38-A332-0519234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F6DD5F-D074-408F-88B1-73A3945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176BF-2FBE-4BBF-99A6-36EB818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79ED68-1297-4F6F-A102-2E3C61E0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Preis-Leistungs-Verhältnis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81B8FB-DCF7-48EC-956D-E957A1A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260B4-5779-4EE2-B633-26FDDC57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C6982B-0B92-434F-AB9B-FDBF940A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447B9B-ECCA-485F-8E09-6B45DBE4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290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053281-87DC-4155-839A-86FEE70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68A390-C028-468A-96F1-B40A1BDA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1B7EA1-FF51-4882-8460-CD15C4D3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0DE56B-46EB-48DA-A072-0C75C68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Freundlichkeit des Personals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526138-7445-4F76-84D8-995DC6DC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16B116-CAC5-4226-A69E-8866708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2C7610-857B-44B3-954D-9107C8EB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6B2B6F-B636-4374-A53C-A21F7AB1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862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959B98-2E41-4AA7-B8AC-7F6CDBC4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4E455A-246D-4C36-AD73-059B939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F61896-F376-4C01-A9FB-8BB4E475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CA7185-EC15-44F7-9C75-4290EFEF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Fleischqualität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5183A5-9FB6-4B2C-9FBA-B37E8C43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699037-458A-4079-BF5B-660D47D0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1AE98D-93D9-4F66-93D6-BFE75A1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4E415C-6655-4AAF-9B04-2F227A1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19.2%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B2CA48-0824-4ADE-85A1-1326F98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08F160-837B-4CDA-932A-F8AFE1F7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3EF670-3B32-454A-A512-41AD1E2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3DD69B-66AC-43BE-B37B-03B4CA61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225DE8-D9DE-495D-81E9-966B7D1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31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 führt mit 9/26; Speisen, Speisenqualität, Preis-Leistung und Mitarbeiterfreundlichkeit erscheinen jeweils in 6/26 negativ. Beschwerden zur Kartenzahlung liegen in 3 Fällen vor.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134B6D-D289-4FB9-86CE-C9FB006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Bewertungsfälle →</a:t>
            </a:r>
          </a:p>
        </p:txBody>
      </p:sp>
    </p:spTree>
    <p:extLst>
      <p:ext uri="{BB962C8B-B14F-4D97-AF65-F5344CB8AC3E}">
        <p14:creationId xmlns:p14="http://schemas.microsoft.com/office/powerpoint/2010/main" val="8763403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176AA-A0FF-4D43-88AF-745C5062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6 — VERGLEICH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5E675-C293-46C7-A48A-D77EB30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Für Beit Fayrouz fehlt schriftliche 1-2-Sterne-Evidenz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7310D-BB95-4AA0-A029-630DF193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Null beobachtete niedrige Bewertungen bis zum gemeinsamen Stichtag sind günstig - aber kein Beweis für null operative Probleme.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9ED61-BCAC-4C1F-8260-702DE5A3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2F7EF-004C-4250-A7D8-376FEB76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EC469-6B22-413B-BEB9-A6801A2A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EBE45-9090-4F39-893D-E793B62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7B883-1650-4336-A7C5-76BDB1D1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Bewertungen mit 1-2 Sternen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4CCED-8615-4D56-B580-EF70254A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66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92C48-C7D3-4FCA-AE6B-5BCB39DC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bis 03. Sep.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B07E5-1E95-44A8-A603-5F7CE96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07397-C92C-4DC8-B505-7BA867C7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F4902-530A-42D6-B371-86EF35BD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71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Stichprobe der letzten 90 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57DF4-72C7-4272-A15E-2C7B4B24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66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60F45-BA64-490F-AEE6-7422AD59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9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mittlere Evidenz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747A5-5FA2-4C7C-9A97-367A0FA0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12D98-F71E-47D6-A6D9-609204D7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F573E-5455-4EA4-91FE-2B1CA229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Aktuelle Bewertungen mit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23DC9-2035-4802-8E14-24B10A10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66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38854-1D4E-4B88-921D-D179E5C2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Themenevidenz bleibt begrenzt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5456F-D215-4A20-8957-A3D2FB92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09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CE7D1-F943-41EE-8858-4D02028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F09F8-F617-47B4-806F-B66397B7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9791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Managementeinordnung: Das günstige beobachtete Signal beibehalten, aber vor einer stabilen Benchmark durch strukturierte Besuche und eine größere künftige Stichprobe validieren.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FB102-26B0-47D5-B3AE-A3DBA4C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5911896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821B9-BD85-4DC5-818E-0CB4E7A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6 — VERGLEICH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107A6-7C4A-415E-93B4-2724CBE3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Gemeinsame Marktprobleme gegenüber restaurantspezifischen Schwerpunkten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3EFD-EE0E-4E0B-9942-6C4B5A8C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Die Präsenz eines Themas in einer schriftlichen niedrigen Bewertung ist nicht automatisch negatives Sentiment.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E9CD-CD7A-4DE6-9A1F-D790D18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2488A-8D67-4548-9F72-067D802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59001-1BDA-492B-83B5-A5ACD35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1911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C0AEB-DEB2-4C1E-8A4C-1DE806F8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GEMEINSAME MARKTTHEMEN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85C14-83C6-4268-8B83-37C6ABA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429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Speisen: wiederkehrend bei mehreren Restaurants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Service: wiederkehrend bei mehreren Restaurants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Geschmack: wiederkehrend bei mehreren Restaurants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Preis-Leistung: wiederkehrend bei mehreren Restaurants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6EE60-E046-47DE-8685-6201E25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47687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B2041-4334-4CB2-B770-D47F440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THEMENPRÄSENZ | NEGATIVE ANZAHL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E57BB-68A5-484D-9B65-3346C75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46672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Assiel — Geschmack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 Nennungen | 6 negativ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— Wartezeit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 Nennungen | 13 negativ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— Fleischqualität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 Nennungen | 5 negativ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— Mitarbeiterfreundlichkeit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Nennungen | 6 negativ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5D602-81AC-4B2C-9F67-99E5A307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7047946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92265-574C-46DD-9514-84E018A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7 — SERVICEVERGLEICH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59A5D-8545-4873-A8D3-85E22D23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Servicesentiment: Al Safa hat den stärksten beobachteten Positivanteil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AE09D-EB2D-4576-83EF-2CDB63DD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Letzte 90 Tage · nur Thema Service; Anzahlen und Evidenz bleiben sichtbar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1227D-E8E1-4313-8C13-64E0BCE6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765A9-D54D-42A8-8638-22E99642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C4818-0877-4A44-9D20-B4F48B6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3FB0-7AD6-46EA-A537-8578178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8E5E0-31E3-4FAE-87A3-9501BD04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38E73-400E-4F6F-B5F8-0638B6E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Nennungen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046FD-7192-4C74-AEA5-3D65A2ED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C1415-D976-4187-A8CB-0A51895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B03DD-E466-42C0-B60E-8422A90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FE936-5F73-4112-A6C9-C6815A23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35CBB-B97B-4F33-8379-156CEF28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15A97-9647-40F5-A75C-6113DDA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7B9FF-F2A2-4BA1-9A4C-94B4EDA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6A122-CA0B-4A90-8240-CD0B8A5B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24C1E-6825-44A8-8C01-C8FBD5C5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64069-A603-4DA7-BDE9-F99AFDF5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E5456-47C5-44AE-8C4C-7EA20F0E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526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3208C-F86F-4003-9D5E-61A9AE8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DC143-011C-4045-A4EC-B9B640A5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24A5D-45DF-4E3E-8B62-ABE69FF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 · 70.6%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9AF1A-582A-4A7E-856D-4C6633A4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FE778-3DDF-4A4D-8A76-2EF1FD00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17.6%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BF02C-B4CC-4E21-8443-80D15BC0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6E177-FCEC-4F1F-9CB0-005737D9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89EBC-EF52-4A6E-A016-8782C3FE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BC23A-BF1F-49F9-9FC7-2869EC9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D63E2-6AD5-46A1-87F4-FD70336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3A474-4B13-44D6-80AA-BDB80911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70B9EE-C4F7-4ACC-B464-5F4137F5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7231C5-C1DA-46A9-91E1-ECBED1F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650399-3540-42D2-9B31-B4125FCC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EEF07-872C-4C0B-9C9E-35D4EAD8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 · 72.2%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654CBA-51AC-485F-B83C-2034A35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F0AF46-3956-4006-B072-D519D556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· 11.1%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992CDB-7E56-4841-AEFF-62571A1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622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B10D5A-54D2-438E-8E51-09FDC4B8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737921-001D-423F-888B-9E25648F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E1EC87-728F-42B7-8208-686284A7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BB885E-D654-4622-8F6C-DA70834F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A8A7E8-BF95-414B-A9D0-078E185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2DA4AD-1389-40BC-9E56-B269258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8C07B5-FE95-4A85-89AD-B8904B3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4D0900-9AF5-458F-A10B-168ED47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BF706F-10E8-47AF-950A-AD040988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 · 78.6%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445BE-B1DE-484A-A854-565468B8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7EED88-8B15-408E-BF37-668423F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3.6%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883704-6699-4DF1-B928-6541140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718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0B87D8-F758-40F9-B026-87529D8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81DC4A-A072-414F-8CC8-F7F251A5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589B31-4C86-471A-BDC6-1EF2F66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22F077-29C4-41C1-8309-BE1E7B9A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3B4B40-D464-4D54-9B8F-859A74DB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0E7474-4D61-4E8F-A761-B920661C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91F658-EBCE-494B-B25F-EB49C28F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F008A2-2128-483C-9302-0390235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814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C93EDB-FBAF-472E-A57A-0FCAC89E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100.0%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D77122-88F1-479B-8F70-97EFA95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77E018-BCED-48DA-A8BD-2F9E3E9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9772DC-5820-4A67-887F-9246EBD7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814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AFC876-9310-4F0C-A90F-F7DDF4D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882786-563C-44E2-A362-09FE3904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8A4A67-FE46-4B53-B030-D9644500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51D56C-05F6-4450-84BF-C3865EB6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858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F98A9F-C344-43C8-A087-ECD4D108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F04C59-EE4A-4A56-82A4-D2E0CB9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5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Beobachtete Führung beim positiven Servicesentiment: Al Safa, 22/28 positiv (78,6 %, hohe Themenevidenz). Al Assiel: 12/17 positiv und 3/17 negativ.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4D0A37-FA87-4B22-96A4-5B272F23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5758208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01488-04D5-4D5F-85BE-A72668A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8 — VERGLEICH SPEISEN &amp; GESCHMACK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E3158-9797-4FC5-9C77-1194990D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Speisen &amp; Geschmack: Al Assiel hat die höchsten negativen Anzahlen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CBBEE-E012-46F4-B4C1-2C274B10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Letzte 90 Tage · themenlokales Sentiment; Sternebewertung wird nicht als Ersatz verwendet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F8C0D-8231-485C-B077-0DE99B0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E4BA-BC29-4072-A9A5-A33B7546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82880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52ffa07cf3472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075C-DAB9-4DAA-8F36-ADEE44A3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FF22F-3354-45D8-A507-5A16C28B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027A1-4F69-4AA2-858A-5975A0D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4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Assiel: Speisen 10 positiv / 5 negativ; Geschmack 13 positiv / 4 negativ, jeweils aus 17 Nennungen. Negative Evidenz ist mittel für Speisen und niedrig für Geschmack.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F33A3-E29D-4BF7-BDB7-D4EDAAA9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0953860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19C995-FF9F-4E86-AC05-D130136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8 — VERGLEICH SPEISEN &amp; GESCHMACK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30695-2F51-42E0-AAF7-7EE8394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Speisen- und Servicesentiment über vollständige Monate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9A017-5B65-4216-8869-7C1E13A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Positivanteil · Apr.-Aug. 2026 · Lücken bedeuten keine Themenevidenz; September ist unvollständig und ausgeschlossen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948E0-BC64-40C6-9E56-2C1F3D68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88E5F-27C5-4864-BCAF-426BFAB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32437-4677-4CDB-BE5A-D61580C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5477F-E16E-42B7-B8BE-AE4A5D1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C53A5-1776-4727-BAB4-DF7E3F03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0F58E-006B-4587-A7FE-730110E2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7F308-2429-448C-9326-136638E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786F5-75CE-4394-9416-ABF45C0D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2FFCA-E62C-467E-AA36-C43DFE3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1DEB5-5722-4598-B7D8-A1C8AE9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85B92-285D-4C86-96EB-35D460E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FDAF3-B9DE-4E18-8E33-76801AFC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E817A-97AC-47E2-9689-4F18C2DA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70214-D0DC-4A07-8FE5-E554D53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3BD0F-A9C2-4877-B316-F080A34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E7F6B-7302-4367-B095-0005C58F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3E31D-0DDB-48F4-9289-9E571AA8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919F6-4E74-4965-8DC1-0B34B9C3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154E3-6A9C-4F15-BAB7-F2C0A768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6CB9A-5FB2-4092-92DF-D1A0F8AF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2005"/>
            <a:ext cx="1250156" cy="118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61017-3295-44F4-BE62-7C03BF3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950369"/>
            <a:ext cx="1250156" cy="70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61423-0A81-4E32-ACF1-FC266507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21330"/>
            <a:ext cx="1250156" cy="9934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A639D-EE23-4883-9766-C18293C0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832005"/>
            <a:ext cx="1250156" cy="1182782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2122A-BC7C-4D52-B886-BDF1BC43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015EF-98DF-4BDC-92A7-2360092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921794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79C6B-ED6E-436F-9149-87E4D74B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99275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B8140-BAA7-4659-9EF1-8C50417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3986213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637D6-488A-4BB6-A1A1-7905FA77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2B2BAE-9B25-4927-9213-3B6DC42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4315"/>
            <a:ext cx="1250156" cy="50865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17E8CD-460D-48BA-938F-6355790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1885950"/>
            <a:ext cx="1250156" cy="37836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87010-C650-424C-AE1E-122CA32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1064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EA6BFC-F70C-4D9A-86DB-B15E629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106441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C96A7-0419-42FD-88AA-4A5C792F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4391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68C79B-4459-4115-A0B8-C14FE962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23574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4C42CE-C0CF-4E57-A539-439D802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A82FA6-8244-4F1E-999F-BF349A7D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921794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CC46BB-6647-43C8-BB07-744D768B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F76167-622F-4EF1-A7C6-C19ED24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1565"/>
            <a:ext cx="1250156" cy="1013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20C682-8C63-4377-B34E-702365E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1885950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93061B-8A9B-4D65-98DA-F65D2C73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4731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7C450D-2855-458A-978F-A85F32A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359120"/>
            <a:ext cx="1250156" cy="7096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0BBEAE-C021-4AA3-AC5C-FB9CDAA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8DE3FB-4809-47E1-B664-8C5F3E74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357DA6-8832-472B-B458-E9F19698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EC5615-189E-4575-9459-3B4B9DD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3305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562C20-610B-4470-AEA6-67DF791A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015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6FF365-BB97-4E15-8365-2B02015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0756"/>
            <a:ext cx="1250156" cy="275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D17D2B-B3E8-4AFF-A024-B1C96817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516654"/>
            <a:ext cx="1250156" cy="22077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B438D5-4073-4FAA-8641-98807663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283845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2718DA-354D-4C0F-BF5F-A9DE6D3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E7BE2A-C468-4906-BB5F-3FA2727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12181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C4DB48-48BB-40E2-B579-E07369A1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488079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90561C-2E9C-4F1D-B445-B6BB8673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931282-8385-436E-A730-254A2C1B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2A47E7-0500-4458-8BF0-D07FE144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71913D-47D8-4137-BE7B-572C6EF1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9B75EE-331C-41B9-ADA5-43EB10DA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FC739A-46B2-46D9-AB71-73957D39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90F49B-0D63-4285-80C1-8369FEA8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BDF87B-0ECD-49B6-85A7-71010506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17085B-5C38-47AF-A3E0-5A67F3C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0A9B31-731B-49C6-9BDB-614667CB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5B29F9-4920-42CF-921F-4E62FD61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A8FC85-EB8A-41A1-9BE2-EE0A6345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Positivanteil Speisen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4C4DA6D-189C-43D1-89F2-E56D106B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A2FDA3-1BA1-400A-83AA-DECE5435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B0E192-FC6D-4A7B-BE41-0F6D4E11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2E1CD1-325A-4116-B6BF-E326B2D3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338C6B-83A4-4DAC-9BC2-47A34F7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6A4991-20FE-47CE-91B3-E8B3AC5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831056-BB52-4CA0-B0A9-DAAA4E0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2DFE76-41F5-4DBB-8884-FC6152A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1374B2-0BDD-4AD1-B9FA-82CF1D9F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F9AD1E-3FBF-4269-A6E3-FFD9666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F7258D-1801-4217-A44C-A20A98D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FD1C6C-76B2-4C75-8367-42DE3EF5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1E9820D-E34F-4BA9-810C-04E5CE88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4049EA-BDFE-4565-A345-EEF8ED7E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Mai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8290BA-F8AB-46F9-83A2-3ABB675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3DA615-6A80-4415-8E63-AADD3EC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E88C71-EE48-4976-80CE-52A98387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850821-8A37-4495-B269-A161800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1250156" cy="1216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232FB7-F95F-46FA-B470-B435421E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1885950"/>
            <a:ext cx="1250156" cy="121656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55B27E2-3F4F-4B02-9878-D5A9BAC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85950"/>
            <a:ext cx="1250156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982FCB-676D-4008-9CE4-B9C31F6A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737485"/>
            <a:ext cx="1250156" cy="56769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A12C78-96DE-4BAF-B6A0-E7B7AB56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F0FF3C-E8FE-4220-94F9-594B6343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07393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09C24C-4E4F-44BB-B984-A4CA8892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C82846A-B7C1-475B-8756-0EC9542B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053CB2-EB7A-4C55-BB55-62A64D43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70891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921D01-1EF2-4331-A840-726BBF3E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1330"/>
            <a:ext cx="1250156" cy="8118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88B72CD-BDC7-42D6-A84E-4F128B5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2291565"/>
            <a:ext cx="1250156" cy="72976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FA0FEAD-BA60-4A5B-8582-41F169B8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291565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E273C6D-5434-47BB-9337-FA23194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291565"/>
            <a:ext cx="1250156" cy="129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F33CC6E-8B49-4D9D-80F2-2DADD899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7393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68983C5-9E0B-4C26-AF37-6FDABA27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99275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4128F8-F0B1-49CD-97AF-67C6555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B7705F3-875B-4A76-92D4-38C163C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0E7171-6CC3-428B-AE50-1D67864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5604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45384C-BB6E-4E9E-81CD-8121DECD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5563"/>
            <a:ext cx="1250156" cy="101333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D9231E1-D89D-48D6-B629-FA7F0C8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2516654"/>
            <a:ext cx="1250156" cy="7890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715452-3696-45B4-B903-E8617D2D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143965"/>
            <a:ext cx="1250156" cy="372688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C71B38-C86D-4BB7-B29F-FED54D1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143965"/>
            <a:ext cx="1250156" cy="5160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535E85C-56D9-4A14-89F7-F513A64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6832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CE234E-6A3A-4013-9373-CF248F94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566988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5375B5-D291-4C74-9131-B55F5EF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488079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2B0AFD-CC14-4419-BD43-7AF64F18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21153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F9422C-AC40-48D5-A435-004A11D3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63142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2AF694-14B0-4D06-8CE5-4F5721C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5252"/>
            <a:ext cx="1250156" cy="1844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EBDEB5-0F18-4438-AF33-D3219F42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F29F5E-C5DD-482A-8801-71EA765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667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7E9E14E-8345-4B61-AF85-6371883C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19117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92BC65-7764-4DD0-95D0-77376AC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727134-FC7C-4C28-9E29-A2907EF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8AD1BB8-29BC-4A3F-B4A8-ADB1DFDC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9D93BB-E337-475D-9AB4-5D4C2188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E50348-9BF3-4719-BFD7-270B9351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B0E8D4-78AD-4361-B9FF-72019FC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3BAF448-1236-4299-9D79-39BDE295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E947410-28DA-450A-BE18-D500E11C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C2B64F-2868-4A81-B4BA-C9CC33F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84B578F-1A79-4DA4-A1BF-43AA7AC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D6A79B-1C50-4DF5-AB87-AC94D786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Positivanteil Service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97E715-35CE-4CB1-8131-0CD9E3CA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2150761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317E5-A8F7-40FA-A102-B615CCBC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9 — PREIS-LEISTUNG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C6D1-4C5F-4864-ABBD-9C6766BE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Geschmacks- und Werttrends erfordern Disziplin bei Anzahlen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EA507-53D2-4E12-81B0-8DF46AD7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Positivanteil · vollständige Monate Apr.-Aug. 2026; Lücken bedeuten keine Themenevidenz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74CBA-D0ED-41B8-8972-50986CD4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968FB-21A7-4EAC-AEE8-468B29D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D907F-050B-4B9C-8298-66391185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FEBEC-D71E-4599-9889-DE0F9499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01FE5-77C8-4B01-BC45-5545630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8AF01-D646-46DB-A186-B29D4F0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E3CAD-4701-4177-99CB-68E507D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EC914-54FD-4705-B936-7F58E052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D36F8-6F6D-4087-908E-4215B108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66E00-08E8-4D0A-A41E-F83D245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204E1-515B-45D1-84E2-8E90D046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3494D-D796-418B-8117-34327A6E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C343D-CB03-4F6D-83C3-B45A03C0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65F18-76DB-48D7-BC63-33C7F8E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82C40-0B34-4D92-8428-E7BF6733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48E56-32CB-405B-9467-8DEDFCD5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C7264-8498-4EBC-A70B-77C43168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21C68-4644-4F74-BBC8-FD1A5DB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C996D-CF89-41DF-B6B2-459FA5F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4F178-2276-45E1-A4B1-21DCCED4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250156" cy="9460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17D38-56BD-44A1-978E-E48BEA7F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832005"/>
            <a:ext cx="1250156" cy="7570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24042-B852-49D6-A1DD-0E339B3D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595563"/>
            <a:ext cx="1250156" cy="993458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4BFB9-19B1-4BFC-85C7-057732D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240756"/>
            <a:ext cx="1250156" cy="354806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B3EE1-53AF-4FD6-92E5-FE64FFCC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6B304-91DA-4277-9942-3F798B08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788E8-0DC6-4DD5-95C1-5A58443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5604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502B02-749D-4AAB-B994-EF7E36FA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566988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19351-73CE-45E6-97EB-41FA2569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12181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F0194-67A0-42A4-94A7-7B8B25AD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2393"/>
            <a:ext cx="1250156" cy="7890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B3A1DB-DA98-41D1-9C28-9A79495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122393"/>
            <a:ext cx="1250156" cy="169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F1118-7679-4FFB-8897-15E793F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291565"/>
            <a:ext cx="1250156" cy="540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12660-22DD-471C-89D5-7CB06A0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359120"/>
            <a:ext cx="1250156" cy="472886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0BC380-4865-411E-A040-E2EC1180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7272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0F419-0090-4832-8258-339ABB1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093818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E57561-BF73-4B98-A0C9-7A9DA3F9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D32EC8-7639-474B-B2D4-1A460E3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50212E-0600-4DCF-8DC7-2DA2B6F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305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29621-284F-43AA-BDF3-A7613C70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8F1470-C355-4DCE-BDA9-9B777947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1D6597-25EC-4164-9175-94EEDE6B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D9D863-917B-4C17-ADB6-EC16B8C1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315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3C43B7-A6FC-43AD-AFF5-C235DAFA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2B6036-986E-44C1-B533-2EB51117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E8A85-EE08-4410-8E80-2E0449EC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A45DA6-AE3D-49BB-918C-3FD0EA2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2181B2-BB75-47FD-970F-7F36D975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272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81E200-FED6-4D35-B637-D1820E4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250156" cy="12914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E72659-4308-4BEF-A926-93E8C3F1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B3F3F9-4915-4DEA-84D9-00C4189C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86524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B66412-0703-471D-993B-CF7B9DC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DF6F93-602F-4BA9-86F0-76BA999F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52E521-5B5A-46DA-80AA-EEC9757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541CA4-3D73-455B-AAA5-2DF5D0C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EFA83F-4756-4FBC-B188-9CB1A7DE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04A618-0368-4A53-AFB4-13FC2AF0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734581-B4CC-40D3-B282-63AF590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36326B-6258-4DFC-8C96-C8D2F3E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053AAF-DD61-4C60-9B41-1EA3FCB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3CFF55-5E22-42BD-B4B3-F6CA671F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ADE814-EEBA-4DE4-A286-8A749CBF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51FAF0-C2D9-407B-995E-68FF1C60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Positivanteil Geschmack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A0E49A-B061-41D5-AE4D-D665BE1D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71011C-A4E2-4568-891A-C26B83C7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6ED057-A5D2-433E-A4D5-211D8CA9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60F40A-4260-4EE0-81EF-CB1EE24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D11B4A-F549-4220-AA58-5D9D5CA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1939E0-99CE-4E35-AEBA-5C68D6E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2EADA9-B076-43EC-83BD-C8788711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0EB09C-5AC9-45D0-84BA-8C5EAC93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4EFF30-8881-4C34-BDE7-6BB2814F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94507B-8718-4630-AFCF-17050D72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19D870-2583-43C5-9A8A-733308B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B54B14-4C46-485C-B975-4834210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A8EB2E-9332-499A-BF00-449249A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C94D2D-DE76-4E8B-BB5D-3C51FCF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59E620-782C-4088-A34B-7E780072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9998F7-2885-4D9F-8F08-37BDF12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B74707-0BFA-4E72-AB0E-EC2BA47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4EB9A-ACC0-4082-9AE2-5D056B13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9020"/>
            <a:ext cx="1250156" cy="113538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EAEC66-D783-47B4-9955-64E73239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1885950"/>
            <a:ext cx="1250156" cy="170307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CAE060A-B687-47ED-99CB-4AE39B8F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85950"/>
            <a:ext cx="1250156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3D20E8-BD1E-472A-8682-4CFAED7A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1885950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9F61C42-1A14-4A11-B598-AC9D4EF5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57F45F-6069-4023-88CF-D0DB16A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5604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8CC070-EE85-4B56-AD76-B928FF91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CC1E43-CDC8-45DC-9B7B-579FDF3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20FED9-6663-4592-97EB-761174F3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8B966DE-7210-4420-93F4-D93082C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8345"/>
            <a:ext cx="1250156" cy="94605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DA5B03-4786-4041-AC35-F2D6CCE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3305175"/>
            <a:ext cx="1250156" cy="47317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9F86D2-F79B-4CC0-9C73-129F0C9C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305175"/>
            <a:ext cx="1250156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B30FD9-647B-497F-BE6D-60848F4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3305175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B87C38-60A7-4A20-B4D9-72D41E8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F4D1A2-DDAE-4550-AA2E-4E5FA1D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74977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B05F63-1835-44B7-8376-FF4697EE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0D76D87-85F2-4572-84D5-403D5D9C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9032C8A-6591-43FC-8400-20DA1AA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224EFD-0D26-4805-B1FF-F974577C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2005"/>
            <a:ext cx="1250156" cy="1892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C590FC-A5A2-4F99-9CFD-A78C9E4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472440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1E3005-DCA5-4D31-A9F1-B0279B8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305175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B75EFE-3221-4F48-B5C8-4D981F74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832005"/>
            <a:ext cx="1250156" cy="47317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00C0044-3E8A-4F8F-891E-44200EE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572394-4067-4C49-88BD-EA17BFB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8BC20D-F180-47C7-B048-77B0B0C2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6F38DCE-0374-49AA-BECE-A292A93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8EF32A-6B07-4B2C-8752-3B41345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FC536C8-2CC1-42EB-9461-843CF259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1250156" cy="94605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D7ECB5A-B489-4FF5-8F65-8965C940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DD0DA99-8F9A-4258-983F-55B5A9F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0EFCCE-F2E0-4CF5-B173-BEA08E17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C77114-E447-4CCD-8B40-34B65A43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AA0D14-B229-4D7C-BC9F-49B1226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96E2FF-8082-45AE-BA49-6D80DA3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AE0AAE0-9FD7-4DE4-BEB7-DD11D261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E152D4C-F82B-43C3-A363-85B5666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9500E0-DBEF-4E12-9E01-3F6A586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5372E4A-90A3-4D0C-9F5A-535D4D54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4ED088-F966-4AF9-BBCF-8CDCA83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0675345-74AD-42C0-B8A7-63DD2726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Positivanteil Preis-Leistung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5FF5375-D1A7-4C22-A9B3-E514FDE5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2387609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C8632-879B-4F80-A651-C5B1B80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9 — PREIS-LEISTUNG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37B6C-7D54-46AC-A5EB-3C0BB5F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Wertsentiment und Kartenpreis sind unterschiedliche Signale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9D872-44C4-403C-919B-CB45A58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Bewertungssentiment der letzten 90 Tage links; ausgewählte vergleichbare Preise rechts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3650-2CAC-4917-9B73-2513647C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64737-B2CA-4071-98F5-5D9A17BA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69A9A-5DCC-4413-9943-9B17BDE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F722D-82EA-490F-B2AB-94A0C7D0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F1297-EE0F-4968-8B3D-CEF0A87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804AC-C0F3-4063-A5DB-2F7332C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669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5666E-99AB-45C9-A1F3-F5078C83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62AA2-8106-46E6-9F3D-79405C81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669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A1FCD-1892-4116-9331-E22DDCCA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BBE92-4171-4379-910C-892E3D6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669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4E475-B894-4515-BC28-B7EF3E2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26DE3-9797-4371-973C-61AA343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669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98208-2C92-4B4D-9A42-D120F8E0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C6AA6-BCAA-4B9D-9A93-02AB6D3A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73A54-3FA4-416A-B7E2-5EA12F92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15E72-7A11-40A4-B385-D69275E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479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6F521-D2B5-4CCE-9875-8652F3D2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29741-C27D-4CAD-A12B-F0A74AEF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0A303-9C05-401F-AF07-8B8D9D3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34E9B-0E0A-4C25-9587-842D1318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479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5E0F4-C96C-4669-9F96-C9F6DE7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CB8F0-1F48-4962-A867-CAE31242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5040C-8324-41BA-A777-B6A2E1C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48ADF-3BD6-4552-B3DC-7A66656F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5A0CF7-42A8-4D94-B653-7282D455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F685C-5ED4-412B-B674-642EBB0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CC560B-1EDF-42DD-9ED6-50CD79D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110CA-ED7F-4E99-BD02-A8D2A75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813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C60E5A-21AA-45F1-9D59-B85FD6D3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337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E6FA2-30FA-43A0-8845-B7B9FA1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813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0B4331-F411-4ECF-8540-D4CBD06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01C71-DBC4-4E45-B354-A6E08610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813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88DF7-9FD1-4F0F-8585-FE34220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84E233-A5D0-46FD-913F-78F5D7E4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C79E5-CA62-4B7B-A372-7483B4A6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B15B4A-8082-4E93-8730-09F138A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147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F459A4-4B75-4493-96E2-067228E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671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D3A2DD-A14C-4D19-9FEE-A9E2EA59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147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CB3BC-7F6A-44A4-8600-6F640683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8D74EE-F730-4F7D-AEBD-C41F8C51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147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8DAF91-2CF7-422B-BCA4-505EA6E5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2E6801-3101-497E-9F82-DE755B08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147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673B32-83AF-4418-9DE6-7458A554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B6E580-C72E-41AF-A55A-E715F6A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00B81D-BFAC-423D-964F-803B205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9F66DC-A231-42FD-BFFC-C5B66112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481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BD6A30-16D4-4883-8760-BFD7058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F0E9FB-9522-4037-9859-6527FCF0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481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A93E77-DA94-42CB-8A3E-DB26A6FA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214AF2-8556-4057-BD42-10A1182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481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221292-F8B3-42CD-84BC-8C83FC2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CAA5D9-496E-49D4-AFA1-FA64E97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481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AA8BA9-4D8E-48AE-80F2-EF06464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F34A5F-9D75-4913-B2D5-900220EB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66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AA5E0B-27E8-4864-BE8B-452B83C0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94ABC5-F16B-4D29-BFAD-44E64F6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66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33AD8D-2BEC-4326-B132-0F3F8DE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02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66E80A-4239-4732-A351-77426C3D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669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70C6FE-D60F-4E4D-9D79-74670C3E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00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385502-D500-49D3-B173-3CD76BC0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0669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Zuordnung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EAE059-96CD-4DED-BB1E-E236B60C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0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1675B4-2A48-4DF0-9B2A-FB984DEC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479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6D0C37-ADB7-4356-AF5B-D1C53A36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0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ADCBA8-F092-4583-8926-83FEB52B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4479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B8F0B5-3F2E-4FD8-9F2E-AF6C3D92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003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64A01C-22BE-4D6D-8FE5-590B2146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479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E48F85B-3872-4BD4-84CD-872505D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03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D95566-7C76-4010-9EF2-A446238F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4479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840D12-C836-47F4-8CD6-A1AB9E44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19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0A4EB1-4FA0-406D-9ACF-6A9D7194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670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106F57-F15C-4629-8B5C-A353EC18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19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53802B-20F8-417A-9524-A688D369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670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39CD95-2E1E-4F6D-9067-3EA6DD22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194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7239B1-65C0-4F7A-9C73-A283BA24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670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6A7B7EB-7541-4755-B157-B218DA2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194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C1020A-244C-4941-93C4-1E8107B1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670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770494C-A865-4012-83A4-AE122F1C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D5F259-5067-4EAB-ADA0-434D4D2A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861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4A11A9-DAEE-44A5-BFC6-24B8324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6EA204-4727-4543-83D3-EF87A24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861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A9ED442-33FB-4BE8-9A71-07025C5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95A3E2-47B2-4EBC-97EF-B488BFBC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861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074266-F162-4D46-9E61-6BC99E3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2385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CE8D04-6904-411D-BDFE-E5928E2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2861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E2B6F5-EDA2-4F16-BCEE-4DEF263D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57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8B9521E-E439-4803-9D12-A034EB1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052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33FB61-4FAD-4313-9856-DAC1523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A5C4DA-628E-4AFB-BE96-62BAE53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052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6E10BE-3582-4BE0-88BD-5EBF7FE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576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7D5F29B-A1DE-457F-91C1-CF6FF93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052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8363DE-7373-4F3F-8797-0DEBE86D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576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EC7F97-E143-4AB3-AF18-857F12B2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7052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8CEF46-4B9E-46A8-8E2D-43E9DD7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767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E93D43-81AD-44BE-BC26-ADE7FD26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243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8B99409-0C25-446C-AAB0-7CAE27E8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767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FEE96AB-3BE1-4D77-B3E8-B660F242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243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CDDFBC-FCCF-4EDD-9FDD-6516DE06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767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158E6C-CDF9-4F88-A6FE-2EF40AD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1243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13AD9D-7387-4F97-9453-3E063E6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767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CC91429-5BF3-4EB3-BCB4-6ADA990E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1243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E8FE2C-0857-4B98-8B52-B7E0DD26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95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CDB5A6C-B61D-4769-A931-F685E58D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434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479B82-18A6-40C6-84B0-92F2333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95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19692B-A4D4-4416-A7CC-2D02C717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5434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7B360CA-D2FA-4B27-B0CB-6E335797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95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FAEECEE-8264-4DEC-917B-C4D5731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5434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€9.50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1A7D3E-EE11-4840-B696-E0599C1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958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F5D5DE1-D3B8-4812-9A54-A174CB2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5434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CBFA7EC-982F-45B0-B80C-925FF00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14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2B5003B-2362-4E1E-A19F-2185DF5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9625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4AE939C-4920-42E7-B91F-17B79DF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14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BF0E25E-A5C2-41E0-ABEC-8B02FC70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625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1150E3F-5460-415B-A2D3-FF9ACA9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149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565E37-2348-49FA-95FE-E6D503A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9625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EB54BC1-86E2-4257-9B3E-5F8766C4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149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24750DF-2549-417E-8424-3E77663D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9625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1CC0386-4476-4676-B807-8B52567F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5429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7578D89-04E4-4433-B666-52E3796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2620EB-CF59-4AC1-A40E-D31B046F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Ein niedrigerer Preis bedeutet nicht automatisch ein besseres Preis-Leistungs-Verhältnis.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8F75939-C4EF-41CB-AADA-AAAC5B08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Preisdetails →</a:t>
            </a:r>
          </a:p>
        </p:txBody>
      </p:sp>
    </p:spTree>
    <p:extLst>
      <p:ext uri="{BB962C8B-B14F-4D97-AF65-F5344CB8AC3E}">
        <p14:creationId xmlns:p14="http://schemas.microsoft.com/office/powerpoint/2010/main" val="19825913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0314F-95DA-4821-8FA2-C9A5C612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11 — KÜCHE GEGENÜBER BAR / GETRÄNKE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D60B8-8920-4E3F-910A-15C54B1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2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Küche vs. Bar: Olivenzweig hat das breiteste beobachtete Getränkeprogramm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C516A-DAC7-456D-AEC2-FA7BC71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Kartengröße und Bewertungsaufmerksamkeit sind getrennt; beides sagt nichts direkt über Verkäufe aus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E3485-98B9-4282-A6A6-DAB350D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8DEEB-2E4A-4A40-9EC7-626D2750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62291-56E3-4810-A309-18C54129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3B2D5-A73C-4E81-A237-96EF4F13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CA43F-6E4A-4492-AEC0-AE9C9DAD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BBF1E-616A-4B98-957B-863D61F3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907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Speisenkarte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B4C5B-CFF4-4ACB-AFAD-55E69932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634CA-2ECA-4305-8F78-94E59EA6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90725"/>
            <a:ext cx="145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Getränkekarte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99289-557D-43FC-93C1-98B04CB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24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FC97E-9593-4C5D-A537-766B66E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907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Aufmerksamkeit Speisen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C605A-43C6-46D8-8B0C-C5E0610C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24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A14DA-8A65-4643-9687-DD53A04A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907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Aufmerksamkeit Getränke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C86D9-6B9E-4962-8989-4B8B1061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594C4-5EBC-4C4B-95D7-39BA9F0A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9907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B8A72-D2FB-4AC3-988E-AC51A060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94B21-44FD-44C4-8276-AA7CC01A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0845C-C0F4-45A4-B48E-7742DE0C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6FCED-52D1-4A01-8D93-A0D411A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717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E5868-1C88-4851-A731-EB46B33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DB6FB-D5CB-4D22-B882-EDDA47BE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717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F23C51-41E9-4CFF-9EF5-DE77EE72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24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9F02C-A47C-42B8-A0FF-361B864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3717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 · 81.0%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283C33-061D-429C-B538-5053A4D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24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EAAAA-EAC3-4040-BEE1-408816C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717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14.3%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22E58-B1BA-4F84-BCEC-4729918F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241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9162A-6B8C-404F-BFE8-1E2994C3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717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96863-9E33-4C2E-8718-3B022E9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995C1-ADB2-4521-93DB-E3CA6721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551B7-8FF6-4527-B310-BAF02BFA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337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81CD68-0B74-48E8-ADD4-B2A315F7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813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A2D91-B012-4522-A3A3-DA09BB2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4C8BC4-1E2B-4380-B06F-E519EF0F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813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92C1D8-B94C-45CB-B848-8E87FDD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337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0C4BD-0F7D-4CE9-B519-EE755BC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813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 · 69.7%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E19E17-BBF4-473C-9EC6-0F0286EA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337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F13BE-1D4B-41C8-9A65-D4933304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3.0%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9825C8-09CC-4E43-A4A4-DC680E9C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9337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54E9C2-267B-434D-B0E2-612951E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9813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34F638-3FA5-4C40-A03A-3506D29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8E79BF-016C-4647-A1AA-319767D4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6BC8DE-E9D6-4B64-A6A5-CFB8EDFB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E88F10-F81C-4E0E-9F3B-1C773248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909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6385C9-3D77-4BAE-9DE4-22F1DDEC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83E132-3328-4ED6-A46B-6CA476DC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909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C09C1D-7AC0-4C68-9A14-E5767FB9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43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71007D-8BD9-4836-BCA7-80A3AF6E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5909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 · 68.9%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98B4D0-35F7-4831-9856-7637EB1C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43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56C947-749D-447B-8F33-02FEB750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909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B514E2-3AC9-48AB-8905-F47655D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433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85BEEC-D17D-4785-BFD7-0B4240E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909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3A6742-2846-4900-B83D-015E9270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529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724807-0739-42CD-843C-78A3A1E0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6829D7-7FD9-4CD9-AB70-D93404B4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CF32C6-C0FE-4684-A1E7-69D4CA86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005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93C389-9BBB-47D2-981B-6DD7FC5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529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0E9388-EAC2-41D5-A9B4-0A41905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005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76C3B3-E303-4436-8615-8B9979EC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529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F41568-BD2B-49FA-9369-94FFED2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2005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· 100.0%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860CEA-FDFC-4AF9-B47C-EC3A7723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F86C36-4DE7-4238-B835-3BDFD0A2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005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D43ED8-991E-4F9C-AB96-AABDECC7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529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9434A5-E57E-4BF2-BA0D-82E722D3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00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D3A8AC-0594-4951-82F4-C362487E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500AA3-0E19-473C-9358-6BCBE30C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D27437-842D-472F-88CE-19B81C1E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5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Korrigierte Anzahl Al Assiel Getränke/Bar: 34 Artikel. Olivenzweig: 48 beobachtete Getränkeartikel. Bewertungsaufmerksamkeit darf nicht als Nachfrage oder Absatz gelesen werden.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AE43F4-8E65-4FD2-B8F7-06AB992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3596895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7543B-618B-4E79-8FAE-86C36B7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12 — BUFFET / BRUNCH / SONDERKONZEPTE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AB4E1-D7A9-4E7C-A461-6501450F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Konzeptvergleich: Buffet ist nicht gleich Brunch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B67FD-7DEE-48DF-A32C-AF29B889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Unterschiedliche Konzepte bleiben getrennt; unbekannt bleibt unbekannt.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129DB-9224-4246-9E97-8EF53988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6150D-5E19-40A3-9150-05F73CA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3BC00-7463-40C6-8BD9-06A50DC3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66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E9A64-3E4A-41DF-9845-4E8BD80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335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5F100-37C5-4A89-8B21-CDD10F3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669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96DEF-5F7D-420D-80B0-7325013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335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Konzept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7E1D8-D12F-44F8-A7F8-806A3BA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E5FFD-4672-44A1-A8CB-4B414C02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335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Kartenevidenz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9AC30-AD9A-4C14-A22A-3E9A6A29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3476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EA112-BC55-49EE-A189-A96E1DD1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Beobachtete Einordnung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8755E-588E-4C52-B6D4-F7CDDD4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669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6913E-0F83-484F-8754-F6DFDA86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3357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89756-AB18-4FE5-BF9D-89D1F98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669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834E8-49E3-4EEC-A8D9-0734AC3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145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A9C75-ED0A-458B-B17C-79081683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3CE3A-08A4-40FA-9940-6B60B9C9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145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Buffet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5541C-E34E-48CA-A59B-EDCB1E9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E3DCD-F0A1-49A8-BC42-BB071139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145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Beobachtetes Konzept; keine Summe einer Kartengruppe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83D30-C50B-47E3-ACCA-A2A2A4C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B55DC-AD37-4A2D-AB1A-30E2781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145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Insgesamt überwiegend positiv; Evidenz zu Unterthemen dünn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7D584-CA2C-4010-90BC-F1C9326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669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5F9AF-305C-480A-8508-52A51529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145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je Unterthema gemischt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1AEC7-74FF-48DA-B5A5-20099A10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46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61004-255E-465D-9944-667F80A5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622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B3E13-B0A6-469B-BBED-564AF983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146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9A788-04E6-4F70-B1DC-96F1F73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622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Wochenendbrunch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0BE21-D8DA-4663-899A-6213B71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48677-C187-459B-98AC-3FDAF0F8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622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 beobachtete Kartenpositionen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CCF73-EFAA-41E5-820B-4D83427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7575A-5E01-4146-B142-AF32B6E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622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Eigenständiges Brunchangebot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303A0-6ADC-4089-9F3E-291BAAEC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146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D151D-968D-44C1-BBD3-D775BF4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622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Kartenevidenz hoch; Bewertungssignal begrenzt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91FB7-3BED-433A-A9E4-90D55FD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623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33E4B5-5D92-475F-AFCA-3FEA6004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A22A40-F501-4855-89CB-0CE5BE9D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623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9026AB-5CE2-4885-A578-75CB563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099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Kein bestätigtes Pendant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F6EC12-3E97-4601-900E-712CDE14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4646DD-80AC-4922-ADB1-B8ADAAA6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1AE94B-2BCF-44F4-B385-44241C7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10BD13-233E-4E93-891F-BA15588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99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in den Vergleich gezwungen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A46D00-3364-4433-B359-054EB94F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623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DA763E-130C-4760-B4CB-0D0B5FEC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099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915266-CE0C-4AD0-B2AE-F5EB118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E72B35-1A54-40B7-B25C-1E783DD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576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A6823C-AAA6-41F4-84BF-331C5F24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4594C2-B755-411D-823B-78049B1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576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Frühstück / Gerichte zum Teilen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19E0F0-72CE-4531-8A1A-C1FC5751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4D2EBB-3F6A-45BA-B3A5-0CAEE798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576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Frühstücksartikel; 3 überlappende Artikel zum Teilen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E5803D-AE5D-43FC-BDD2-28F9727A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8ACF98-6514-4AE1-B7E1-5FEEF8A0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als Brunch bezeichnet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77219F-4B11-4EF4-9701-E98432D7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100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BAD9B7-9D3E-4B9C-8D9C-3E906C1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576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Karte beobachtet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B0ECBC-6743-49BC-9DF5-B9908215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009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6D39D8-5757-48D3-80F2-E57E8FE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7249B0-169F-4A30-B3CE-C138587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Al-Assiel-Buffeteinordnung: „Insgesamt überwiegend positiv, aber die Evidenz zu Unterthemen ist dünn.“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CF2AFA-A5DD-436E-8920-641A4BB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20090072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FD90D-4692-4BBE-B785-90D8C53D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13 — SPEISEKARTENSTRUKTUR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81AC2-9DCC-439C-BA25-EB634A3B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Speisekartenstrukturen unterscheiden sich deutlich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1B1B3-44D2-43D5-9A14-F09AB3E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Beobachtete Kartenschnappschüsse; überlappende Attributgruppen sind markiert und dürfen nicht summiert werden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4E1B4-8B1A-47AD-888F-296DA4C9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CE2E0-BE61-4278-BB54-B6AF0819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C5310-EF16-4D06-AF3E-81A1B9C6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24E81-B977-40C6-BB6C-2204AEF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192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Normalisierte Gruppe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86352-E651-4661-8CEA-588D632D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9FFAB-C98D-43F8-89D4-98B625E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CA8A6-C765-46D9-82BD-511989E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DE20C-879D-4660-9BC2-9606979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433F9-EC55-4BB3-B2DF-770851BD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0D80-CE0E-4969-A41E-04D58DE2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AC104-2BAA-499B-A77E-D087359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3E1B5-FB5B-4B32-BAA8-F242F0CC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6A652-FCBB-4DD9-8B49-85BC0B3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66A4C-7DDE-4E5E-B7EC-C93BC8F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Vorspeisen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FCAFD-7BBB-4702-8BE6-687D98D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6D606-46C2-427F-9B38-A78C46E8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442AF-BD6C-4BB2-8FE1-E6E566A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DCF4C-5770-4A48-8EAA-E58AF7C1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F9BBF-DDBE-4259-B41E-E08A64D8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B1559-2284-4B76-B0E2-4217E6A8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1CF85-B574-4391-B99D-80168A06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53E97-D89F-4A39-A2B4-B13AF51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FCC24-847E-4BFE-90AE-59EC168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D1295-F395-4958-A8D4-75499F6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9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Grill / Fleischhauptgerichte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658ED-B98B-4A18-A652-24D25D84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A3857-66C9-498D-95A6-3C4B049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31222E-F002-472A-A287-D1439F8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117E5-F2DB-43F4-98FE-DDDAA40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D5331-E8D6-4E8D-B39B-82B6DBC3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A2F0C-22E0-47FF-9C61-09E8C59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1324E-01ED-43F2-9E56-15130308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1BBACB-3214-4D08-A866-3F3CFF4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2BDE53-A719-4C35-A76B-FBB6003C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7180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32BF73-09C2-4E5B-9ACF-C176CC6B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194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Sonstige Hauptgerichte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897433-3ACE-4D10-A234-C232F107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D93E91-87D8-4829-8C96-ED6C2FFE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5E1CDB-DF6B-4149-8809-3EF0ACB7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DACB7D-0BE1-4765-B88F-A811251F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0F10F-DC4D-4F31-BA4A-9291E188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C96D4A-9EAC-4D21-9F53-9EFA689C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62584-5A9E-4E49-A98C-AC39BD5B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708BAA-DC17-4AB4-9B9F-56C0EC2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D63288-8FB3-4E58-8DA4-A061F5E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B90EE3-F387-44D6-906B-B319480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29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Frühstück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00347D-156A-4EB4-A568-DF4EC149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83D200-C242-4256-A3EE-5F846AD0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92186B-9FB0-4541-9D53-F0A9C72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6BDBD6-51AA-456E-93CA-607CE228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F91149-7255-43FF-9EB4-E3D6E455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AAAFAD-D62E-4F3B-9069-079C2219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C37800-38B0-44EF-9632-DD1C277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E5D051-3F1C-462C-980E-1C70FA9D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280ECE-61AB-454C-83A3-DE51E54F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E8E993-9C8F-47AE-82CA-0B629A16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38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Brunch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A5BAD2-D562-4D05-ABA2-7DCFB1A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1F384D-1F4F-4B7C-B00E-18D88BBB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38CA6E-F91D-4603-B8E4-F72C176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C0FAF6-7D24-4A44-BE19-299FFA00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D22BDD-1BF5-4BA2-A495-E2AD3437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8C843D-8B41-46FE-862F-E74722E4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9A2973-C181-4D9A-9813-D65E9BA3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ED8BD2-31E0-4F2C-9E93-1D7D68D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D8A995-C115-4DD6-B1B2-1170A3A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7A5346-4B95-4333-BF3C-D23956C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48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Desserts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E26B89-C763-4666-A048-2DA58280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79CD67-AF32-42A8-A8BD-8B70E6DF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A874F3-2EAE-47CF-8D65-E0CE2155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4523C7-D06D-45C3-8DD6-BAD2194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DC749B-F96A-428E-ABCF-BB6C8F35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F0BBF1-1FAB-462F-9439-962A6FE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2BC0C9-3D69-4D04-B871-BF1FEF30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142368-C415-4E9D-A458-32B28547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7D5208-35C1-4A72-A690-11575A75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F1283A-E115-45E1-91C1-1104F34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577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Getränke / Bar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1B5175-5EE0-40ED-B2A9-FCC392F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7AE6760-127D-4BB9-BE00-7769280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FC0CF7-D711-44E1-92A3-B66C122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90648E-74EE-400F-8335-74DBAE30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769848-30B7-44F9-8E41-5E4F8FF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3F1D62-42B4-4DF2-A49B-D3BD122F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65745D-149F-4A23-9857-74B420A5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4609B6-8A8F-4B70-898D-10CB3B63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E5EA61-7453-4F4E-9CC4-A04E0D5A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6E3E3F-632D-4E34-B64C-F647DCC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67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Beilagen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E2F4D6-E304-488E-96E7-1DC94A2D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D07952-DD48-4F47-ADFC-BBCBA0A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896FEAE-8C8F-4C91-9F45-72DB089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5F8713-C35B-4B38-9EE4-4B08CB8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0C8B3E-B943-4C11-A6FE-1D2B0B8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EF02C0-5C26-45C2-A4AD-D69EACD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EA85B7-ECA7-4FF3-8D8E-35572A22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235742A-5DAD-42AC-9650-4D4285C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86A94F-BE0E-4541-B46B-AC40C982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0B1FDA0-8873-4D1A-BC1A-A21F6F1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768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Kinder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B763A12-9975-433E-8157-9E80D53F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AF442A-DF7E-4CD7-8E4C-4EBAC629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6648804-36D7-453B-B0A2-2A14A8D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D703178-8163-403F-9670-54B27015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C1805F-8F41-41DB-BFFB-A8D16FE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6FE7D0-6013-4F9C-B4B0-A8C9E91C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6B69A71-5C8C-4893-B3EF-68A07B2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12A3D09-DDD7-4916-AC38-35A8550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EC3273-906C-4E1E-9838-1F4712D8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8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Olivenzweig: Beilagen 5, Kinder 1 - nicht sonstige Hauptgerichte. Die 8 Quellartikel „Grill &amp; Hauptgerichte“ von Beit Fayrouz werden einmal unter Grill/Fleischhauptgerichte gezählt.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87B1EB-BF2D-413E-9BEC-FCC4B704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14741820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3A3FF-F28B-41E1-A0F6-2952E4A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15 — GERICHTE- / FAVORITENSIGNALE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39425-40E8-4734-91B3-03A1D55A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Gerichtssignale zeigen Kundenaufmerksamkeit - keine Verkäufe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8310-62F1-491F-8765-78789EC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Nennungen, Positivanteil und negative Anzahl bleiben sichtbar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7F9C9-15DE-41B6-AD71-54EA5772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356FC-CA67-42E4-91CB-966B35F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05D0A-00BB-4B1F-8C61-9E84402C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B9901-737A-4856-B06C-DDAED205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8EA51-3A38-40C8-9916-5446D5D8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907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66BBF-955D-411D-BD5A-FA1D406A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573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Gericht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977A9-D788-46DC-A7DB-FE377332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90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A37AE-A71D-428C-BABB-E06F45DA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573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Nennungen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25C60-934E-4093-801B-FFCCD331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90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58AB7-DC5E-41F5-B631-38684BB8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573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F1A8E-CF2F-478D-BC8E-DA78020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F26A3-7BE2-4781-BD6E-FC05815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8573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9B020-5DF0-43FA-9A4F-E600333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90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08B57-A749-433F-A6BE-C92E3664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857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F3A52-EF03-4945-8947-C354F0E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F9FFB-FCC1-42BE-90E9-9EB97D0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383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FC661-6F70-4368-9E04-66FABD5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1B211-198B-4022-BEE8-070A5032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383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51898-6B40-4E4A-83C4-DC26F3CA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7F73F-28B8-44A9-9C7A-7CDB8AC3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383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3FFCA-C454-4D9A-AF40-270F6B5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6CA96-946C-458C-8B75-C5098518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· 33.3%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4B2F2-B2DA-4B5D-AF91-EC5E889A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410A0-3D33-45BE-8188-4F49B68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383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21517-0EBD-4726-830D-A96AEC3D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717C6-D1F1-4F4D-9614-085E5F5F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383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4B4A1-ECA4-4AEB-9DAC-190A10C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2B8D33-2EDC-444A-8DDC-D389C2C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574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A3C68-7BA7-430B-BDEC-19D5D59D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09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883CA-E5FA-4187-BB80-3D0DD54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574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0D93E-8016-49B1-A34B-444CBD3C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098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C2E49C-EB5E-43A6-A8D8-59C9378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574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7E48E0-3C51-4238-8A71-CDD06C3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098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84A51A-AAF4-45A1-82EC-6805BD1E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574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60.0%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71B50-3FE6-4CF6-995B-863913C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49A005-DF00-48B2-8635-515BF168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574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2D0181-E236-4344-ADCA-2FAE0064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09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7D4C3A-1CB2-4B0A-8258-38BA3BA6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574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2E0C96-21DF-42E7-BE2C-4347D74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9F65BC-4F13-4DF7-B833-C2306F7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765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F37D7F-6364-444F-AB0B-43055074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289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71A80A-63F5-4551-8C92-BB14783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765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F90503-55CC-4828-80AA-139DFB2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289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214122-5AA1-4B99-8A4A-2164A46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FBE794-CBDC-46E4-ADA1-9C4A216A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289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5FC6B5-D1F2-4269-A138-0877444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765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 · 60.0%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BF96E1-28DF-4DAF-B03A-CC77B5D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289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A52929-4EDF-49B6-9045-0575DA8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765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D59183-CA01-4A00-8716-A4B6D5C8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28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0EFA3C-8574-414F-B54D-89645AA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765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320979-BF59-4756-9AA2-8718DDF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CB3546-5A8B-4E47-B3D3-C777E9E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956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B152A0-2CC1-491D-8590-E016C124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48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5B31AB-ED57-4448-B2C6-E5562D4C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956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53C68E-68C9-49FC-9BE5-29FF117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480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94C536-DD19-484D-AA1F-DE5CB84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956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7846F4-EB69-4B12-9B77-ABD03A9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480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825D23-16CF-4B50-9623-76F4E34E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956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40.0%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7D9550-BA02-4BE7-8F00-9010F05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18DAA1-1FE6-47FB-8C0C-7993BCFD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24CE79-A03B-4123-B240-450CFA6C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48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BC56C7-91AE-4449-B4DE-7E6FEAF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956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F37028-C0C0-4BE2-8E84-AF07958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67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055734-3B1C-4414-9059-C8E801D9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147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986F66-2F49-4F46-9064-20B5B8C1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671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109642-9200-4B3A-9224-2970E2EA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147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CB0B14-E9F4-4F17-BF2E-3E79271F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671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066DED-E88B-47BD-B76A-61CE78C3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147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4CB3E6-1982-4BE3-BED6-EB82C082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0A8DF5-C462-418B-A1FA-7A42252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147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 · 31.4%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8D8E70-F61E-48A6-8D05-9BACE41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671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C528AB-0C47-477C-A861-02679688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147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FC57B2-845F-4EA3-B39E-8F91F78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67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01ECBF-A4E4-49E1-A15F-2ABC829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6B7A81-E297-4D06-8EDF-538CBEB3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CAF2D0-3271-40BE-AA0C-8C9329CA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338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29B07F-893B-4C7E-9F2A-47DD2C1F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A01C7A-62A0-4D79-BD8C-FEFC5B87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338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Grillteller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FFFB67-5F6B-47F3-8126-A706A040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862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B3E558-138B-40C8-8DBC-FF0DED31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338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82D188-BAA9-472A-9ADE-2AB1E85A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95F9A61-B9B8-4819-B7F6-FD45D2DE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338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 · 50.0%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57E521-598D-4151-912B-1CB2891B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86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F078EC-392D-4710-A76E-188A3A47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338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69CB12-3A76-45E9-932B-C3FF1FD5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FE9A90-C593-4BBD-87FE-7F9DDE7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3338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128702-C3E7-4126-B6E9-2CD21CE2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D430B66-FF0F-4C0A-8E68-75B5EA57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529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E8766EB-F74B-40D3-8C1D-E4031F00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053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EC3F47-0953-4502-A00C-94C49E3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7529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78662E-7393-40C5-9902-85C6508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053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4ED20F-C465-488F-BC24-7F26925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7529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5A94A45-6022-43FE-BB3A-A8BF9D5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BA65D5-3FCC-4311-8741-B3E652B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529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100.0%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933382-D295-4967-8F21-5D1FC2FF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05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05BAEB-620D-4898-9733-0AA56F52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65174A-BB14-40E6-A886-ADD505DA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05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0D3F664-7B4C-4E30-BA48-FCFBA0CC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7529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B873ED-5976-4AB3-ADC3-6C2988C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9C4342-9EA1-4908-81E7-92948BFE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720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07589E-780D-486F-A355-D897FD78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244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3CC759-C4B4-4D8E-B79D-E1F6414D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1720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Kebab Teller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88B9CA-9A4E-4287-89AE-4202B177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244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5C8FACB-3EAF-43DC-B8F3-9DB40FF4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172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3127F0-9F5C-4BD6-A1AC-9A33FD2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244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455EB9-0FED-459D-A354-9399916D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720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A2E1915-5A16-4972-9A6C-6453CD9E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244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3CF5E79-6565-4F4F-8532-4475A63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720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7E0E54C-5BBA-493F-9A14-7C72942D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24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0B7DA66-9577-42CF-821B-2EFFDDD7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1720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891A17-27AD-4505-8299-2262A641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2D232F6-11D2-4E66-B47D-1949F73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D69E86F-0C63-4C34-ABB3-277F9CE6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9120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Beispiel-Leitplanke: Al Safa Baklava hat viele Nennungen; für die Einordnung zählt jedoch der Positivanteil, nicht die Anzahl allein.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536FCC8-9A47-4D2F-879C-3DBFAE8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Gerichtedetails →</a:t>
            </a:r>
          </a:p>
        </p:txBody>
      </p:sp>
    </p:spTree>
    <p:extLst>
      <p:ext uri="{BB962C8B-B14F-4D97-AF65-F5344CB8AC3E}">
        <p14:creationId xmlns:p14="http://schemas.microsoft.com/office/powerpoint/2010/main" val="6133830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85225-26E3-4979-A90C-C8BC5D74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16 — AUSWAHLLISTE WETTBEWERBERVERKOSTUNG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A1217-283C-4AE2-912C-1396AC81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Datengestützte Auswahlliste für Verkostungen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92945-5F98-457C-905B-AC09B8BA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Kandidaten verbinden Bewertungsaufmerksamkeit, Sentiment, Aktualität, Kartenposition und separate Plattformsignale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7A86E-D9B2-4E77-BC39-B615544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CE7AD-7E2C-4762-A395-B9EE7130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5D779-E3BC-4F02-A47B-68EA8EF6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0676E-168C-41DF-B7A7-56CA1BFF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192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9F313-7152-4279-9535-FC37BFE7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526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D0972-AD02-4F22-822F-B51250F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192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F47C7-C366-4F1F-A4E9-11AD8AF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52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DC76B-C5AB-4516-AC61-8DD645E2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81927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AD15F-A8E0-4CF6-B9E5-FCCC07C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526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9A84-40CA-4BC9-87E9-C192C34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192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Anteil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CD6F5-87C1-468F-9960-49DD41F8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20BF4-033B-435C-A553-52B1ACB7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192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FB6D0-61B3-4D8C-AA37-B6AF236B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89E03-B2C2-48B3-9935-FDBF340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1927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F5912-0A2E-447C-8572-FE09089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52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D13A1-CB87-4A50-842B-9F48942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192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A169E-2696-479F-9C83-237D309E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8BA45-BBAF-4692-BFE8-A927DFF0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D5366-B543-499C-9B04-404AC56F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526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EDECF-7E73-4AD6-A50D-5D25D5AC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002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3D48C-5911-48AA-B148-D49DB3BE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52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EAAC4-B107-4608-9482-85F082B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002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2AC0D-7D5C-45F6-85E5-8593C86B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526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E950A-2F92-4D83-BEAC-B1436706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002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93C6A-B5D9-4F0E-AC61-5C56E30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FA13C-E6AD-49E7-B163-AFFEE053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002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81699-5F1B-40AA-8C9D-477D557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52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582F04-EEA0-41CC-BB33-9365EF1E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002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C3F30-DAAA-4916-ABB7-6D58818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526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A286A-AF05-4C13-A128-9C46014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002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2BBD76-E7DD-47C6-86F1-B6FF24C8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14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748A3E-A8E2-49EF-A6DE-8B3FC24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622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CE56B5-897A-4B2B-B1A7-90B1A3F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14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2132B-26E4-4457-B439-5DEE2AC7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622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2F2DCD-DA84-4908-8C45-EEA7852E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146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A50166-D51B-4F5E-9F7C-86651CD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622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6E2C9-3205-425A-8D82-A52763D6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44F7D1-4A7A-4F70-8DEF-84E9FBCA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622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53D95C-3BBD-41FE-B099-9FB5061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146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08724C-1495-4B48-A0B2-6FA7FBD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622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7D8446-7069-4852-A460-5722C51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146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954F44-D924-47C4-BA46-B86D7508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622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€21.90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07F9A0-DC20-4DAA-ADDD-DA393575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14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EB7E1D-E749-4BE7-8B63-BED9DF7E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622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83D6D2-EC99-4E77-82BD-F02C0C4C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631DB6-C491-4C26-A2CD-05040936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241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B7923D-F3EE-4965-AD11-095265C8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775840-166F-4F71-AED6-85916CD3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241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0D069C-DA95-4646-B182-F454F240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765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8E9180-FD85-4847-B57B-52901636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241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07BAFA-4ADB-4A90-A25D-91A6EA8F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6C16B2-36C3-492F-8688-0C182E3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241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DDD115-0B14-4D90-8951-F989A640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20D59C-2C40-4C11-A813-5D8AE9F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241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622032-1F28-42B6-BD9F-182FF371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765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425E90-6B4D-47CE-BC9C-DDAAE14B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241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F69E35-4958-4C06-8149-98049ED0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765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DEF51F-4BAB-4F2A-904A-3BAB36D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241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90D85C-ED78-4088-941A-84AA6B3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1C51FD-30CD-4345-ABD0-77CF9889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861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39FFD7-2A69-4309-A29D-B1061C06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25FB10-1D82-40D9-91EB-124AF59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861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E4AA05-0485-4D7D-B91B-A9EB81EB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18AE3F-9B6F-4CC2-80FA-8E1BB03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86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49230C-71AB-4BD6-BAEC-2B85EE2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C23391-7D9A-49E6-B43E-C540256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861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31F4BA-295F-4EE2-891E-7DCB498E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0DADCB-FD52-443F-BCC2-95F3D783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EC950A-F9FE-4C24-8D1B-D54A1C02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4A01F6-4C49-4C8B-BB5A-CD1B510C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86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€4.20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8668A4-AA10-4A09-B77E-57212153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4BDB79-CF8D-446D-90A1-0744C7D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861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3FAC37-B570-4693-8D5E-DCF5D9B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165066-3D28-460E-9550-F098A655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480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FFE7BD-E158-40EE-BF4C-72EE0635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0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D53A3C-EDCF-4D5E-8ED1-276EF380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480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BF946B-EBD8-4D08-AC59-90379C0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4D05A2-9AFC-4942-81E1-7FB6497E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480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6B54006-2DA6-4E73-B142-05BE76D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00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0E0E5C-627E-438F-857D-8339776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480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AFB45B1-63B0-43DC-A8E5-EECA2533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73EE93-286B-4412-96E1-9D48A09E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480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E7770B4-6BFA-4216-9BCB-E61E04A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285FCC-0275-4989-85C7-FEA7FBD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B62B0E-BA94-4AE9-8A51-1A320D3C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6B194F-2F8D-4B4D-B113-EB37FC0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480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D660754-990F-469D-A025-0A9F57ED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624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AA1D2A-BFD6-4B16-9F25-9373E34F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100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67ACDA-503F-4953-BBE3-0501C3A2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3E766D-22FD-40DB-9FF7-02C25C9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100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Grillteller 1 Person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B30882-4BFD-4864-AF19-6B8A7729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624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F4AFD4-B50E-489A-A556-7641CABF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100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7B658ED-6A6F-4D42-80E9-B7F0C1D2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624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925C82-1005-497A-9272-D8F2029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00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F148E7-4AD6-4F44-914E-27A08EC1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38AD082-CFA8-4451-91EE-2E162B9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100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8655F0-D287-494B-913D-C2DD9D86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624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61BCB18-7B86-4ABD-ADDA-6A03767F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€28.50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B084445-61EA-4EC1-A88E-EC3C513D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62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42E376-3BDE-4762-B581-059CA63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100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A1BE63-5B3E-40B2-BD4C-7DEF1FB4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7B26911-1096-4B5B-B8D2-2FD7F31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719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2A4A30F-3E2C-4FA7-88FE-16934AEF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A88E3C6-E750-4431-A1EE-5B495880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719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2FB303-2EF8-4AD8-856D-82822E45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243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902A46-11B0-48BF-9BF7-EE3488D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719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257EE59-FFFC-45A5-A687-20C273AD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243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2D986EB-81C7-4BE4-B696-99D2B69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719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31.4%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6F763D-483C-426F-B5DD-34DE3286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243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9B8E550-86D1-475B-B35D-A5162FD3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719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E61BC7-AA43-4149-99BF-324F8F6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F09A4E-F0BD-470C-B15C-9D9A104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719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€1.00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B0746D7-81EF-476C-9EBC-53FD016C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243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0DC0AEA-01F2-4915-B13B-A9A22257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3719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F4493E-F4EC-4A9C-B0D4-CB1613A0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A0F897-74D1-4F03-9BAF-D5CED722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339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A5A8EA2-A2DF-45DE-9AE2-646E3A08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863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36DDA41-79B3-4E09-B454-C3861A5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339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Ayran 0.25l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2B17942-6B53-45BD-8FA7-3C38E6E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C193435-B19C-4C2D-B746-F8EB722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339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67D5328-103A-4C14-A616-246F97BE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1D8A8AA-C54E-478B-95EA-EEE1226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339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61.5%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406CEB0-E2AC-480A-AD23-73FFC915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CAAD835-1FCC-4D06-BF98-12BC865D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339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FA69DA7-06B7-4F18-9569-2589419D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6065011-103B-46B2-8E3B-2CEB8E2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339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€2.00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F7677C2-1EF4-4FB1-B897-0663342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86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8520F1-AC12-41A7-BD14-88F8846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339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E8E8E38-EE60-488A-A8EA-ED4C622E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93129E6-B031-4727-9F87-C6C8A8DE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958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104A998-96C8-4A7E-BF3C-090D5A7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EE50FD4-2EC5-46C3-879A-DFF00E6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0958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Grillteller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5D810B2-21B2-49CB-BDC7-A304830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4920366-2C99-42C0-BD25-5F48ED59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958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1BA2F85-4A1A-41F6-BF37-1939F01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048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25B6A65-7CFC-43A8-8E1A-7CFE1D34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1577322-9248-4BAB-8155-C71751F7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482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4691A60-4B00-4F48-BC5E-B3B7D3F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A88C79-5FDF-47B6-B71E-D8F8528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9137116-BCFA-464D-A343-DFDC07D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958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€12.00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F7E1F1E-9274-4B45-AE2B-8CE0EE50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482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D8F8851-E9DD-4D64-98F0-E8F15E27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0958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91AD3D5-0834-457D-9984-A5848DA1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02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01F16F-6F54-4EA0-B6A1-B2B615B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578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F900489-EE97-4770-AAAC-046B7569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102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57BA092-F149-42C3-9684-8DC63ECD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4578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0F774F1-6178-4DEC-A506-39E09B5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102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E4BAEE1-370C-4D03-BC00-F43ED7F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578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82EC030-C565-4BB2-B5D1-D173B970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10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0594900-EEF6-4198-89FD-2E44F3A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578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AFD5925-1C66-4795-BA33-16BE226F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50330F4-9D95-4227-8292-A507AA71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4578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3DCEF6B-059F-47BF-9AE2-DFAC100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102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A9C9E2F-288F-4115-8809-9DA5BC2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578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A4FC17A-28A6-4308-A33E-D8AECA2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102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CD22813-1B85-44E7-9AC5-7FEC88B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4578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821AA13-A6FF-441E-B733-F75E454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666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D5CF3E4-00C5-405F-A7C9-93C1EC8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Kandidaten für Feldforschung - keine Aussagen zu Bestsellern oder meistbestellten Artikeln.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86C5D43-DCE3-452A-AB62-D13EAB4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6402103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55AFE-4358-48F6-B674-D5AE7BA5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17 — DIGITALE / SERVICE-PRÄSENZ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9C1D7-BDB1-493C-8842-04C90B7F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Digitale und Service-Merkmale prägen die Auffindbarkeit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E99AB-8C46-47AF-A3D7-871CB243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Bestätigt, beobachtet und unbekannt bleiben getrennt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F077A-5578-4489-A769-BC711D2A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EAAC7-4462-42F7-A80A-DE844DF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7572-0C05-4CA6-86EF-CDFF3F8B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E977D-1A53-4032-B1BA-3F6BDBF1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192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Merkmal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9E3FC-8EF2-4AD3-928B-6F95C30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3185D-BFF9-4375-AD4C-DC1A4C0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C0F71-53CC-4A7F-BF2B-452D52D1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A5673-D125-480F-B5C7-8A9F79DD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1EB4B-7465-4A06-A001-F1947C74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04DFA-9046-40BE-9F0C-467F06A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87A00-EB3B-45A0-8E39-C9E18B55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B0AD4-8104-4E32-8C8B-67C8908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EE293-7FBA-4876-A19B-EAFA9EEA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F9482-B4A8-432B-865B-96769C0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Offizielle Website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46EBA-6CE8-4295-9010-E144DFD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058E6-174B-4648-BDFD-3D46FA43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https://www.alass…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20345-687B-4EC0-B6C0-BBC3492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EA28C-3D0E-40A7-8067-13CBBBD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https://www.olive…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AB3FF-9772-43E1-8872-8196BC09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BA000-7220-4608-B9E9-36C22CE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https://alsafares…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338D0-0E37-4343-B135-4C60D11F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CF8DED-7500-491C-BD63-FA4309E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2364F-1DBF-4A6E-9593-89BA94B1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D5ED3-B4A4-4679-A9E4-7F063DA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9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Vollständigkeit der Speisekarte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D60DD-96BC-423C-B032-9FD56D4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E1997-36E7-497F-B28B-979ED29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5213A-EF25-4788-B9E1-FD6EB18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EABD6F-E484-4E59-9E26-5BFEFEB9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7BD45-25CC-4D57-B7F4-423ECCA4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CE0DCF-225B-4BB1-92AF-14E53959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FE2CD0-8B6F-4991-9A6F-563497B0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BCF12-B388-41E1-8E6B-A6A6222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D30537-D098-4D8A-8D1C-D365381D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7180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059377-D437-44F9-8307-DD80DC0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194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Lieferung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0B662F-4463-4536-B024-DC197FC3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3EC3AB-8E54-446D-83A4-86992772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FBB6E9-E98C-4D34-A1E6-8F0099A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5C0DC7-8428-4C74-9899-3809FEB3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B55E9B-ADDD-41C8-8A84-7182EDE4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2D6DBF-DBA2-440A-BA84-44C6337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9DA066-D341-4264-8B95-B7308EA2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F49691-B47F-43CC-BFA9-786A156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8D3AB4-3711-443B-85DF-AC20E1B8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320FEE-6FA0-430B-AE43-CF0375E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290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Abholung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97C3C2-03FD-4779-9779-2CDFD56A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7CAC97-71E0-46EB-A6C7-89C9074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F1E05B-644C-4995-A89A-F98294C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37B2DF-FA1C-4D4B-B0E4-FCD6BA17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6AA984-121B-4F14-A748-E5F18D6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3986D4-AEB8-471C-B862-A69B5BCA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FA7124-E992-44A9-BA0D-F0D77C64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7C000C-2A98-4886-A149-7FA3E48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3DA96B-BDB7-415C-BF67-52513B95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7187DC-0457-40C8-8DCF-4778610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385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Online-Reservierung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03C53D-15E8-402B-AA12-E671A3D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0B509F-4AA8-4F78-9D44-A6C13F8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DB86B5-A77B-484F-81D2-ED36F886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35846A-DED1-4BE0-A030-955338D1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D1040B-DD09-432D-9CB4-5E588E4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A7F062-19BD-4B2E-8F80-C6D0AAF7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C0B493-A127-4FC1-89FF-A68DC752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8A57DF-B3EF-4655-985D-7C34EA56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FB79D6-DC8B-4704-897B-8ED3E03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78DCD3-A4E9-4711-BC53-141B7BD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48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Parken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D5B3E8-D46B-4721-9353-29C9BEF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9B4370-352F-4B1F-8502-5AF0C7E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F8B525-6C91-48BA-8951-2AE5C749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138D2A-07B1-4CAF-9A12-138FB5A7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1B776B-BEE0-4953-93A3-7D6788B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2F547D-14BC-4B2A-8722-44101295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231798-BD75-4AD8-B703-A838833C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28A0D4-BDF0-487A-9076-E523087C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9C60BD-6635-40F3-906B-06DB53BF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364E28-1254-4201-BC08-BFB01694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577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Außenplätze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A563C8-DF51-4F9E-9F69-5A8478BC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CE5BD9-552D-4951-AE70-51CB5877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39B8F26-10FA-4C8E-AF86-33482C8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02AFCD6-5688-4470-A20F-73AD6B49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61ADC0-F037-4D16-8F7D-9AF3FDB0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5F4360-E615-44A2-A6DD-7FC7D8F3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5AB1C4-DD03-4B89-B187-2F1EE47E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951D492-4683-4A6F-972A-F31F7B0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0795568-8465-4145-B504-328C7B3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BB873A-0084-4CE2-A383-43FC8942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67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Catering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C97274-98DD-4DE7-9B65-B1CC14E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0AFF81-78F7-4020-9F32-E8B9D5A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B43993-65C8-42BB-80FB-5DE6479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1776E1-3E52-4C0E-AC0C-3C99F1F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ECFF170-B328-47F6-9385-5D0E578E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668398-D6A9-4B3A-A1EF-C171C87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B863693-8654-45BF-82F2-376DC15A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BE656E-ABF4-4A1E-9998-04B1152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33BE95-5875-4B93-81D3-56D923FA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9F70C7A-740D-4E2F-9573-6EAB0F2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768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Veranstaltungen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AAC6FF6-92D8-4B65-B75A-2312159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789A76-8CE0-45C7-AC7F-1C6B0D42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86250E-E100-4DDC-AE56-A436CEAB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D71064-66E7-4F87-8A14-4A4C6654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8B6A22-2ACF-4476-9030-56AB177F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927BDF-1A4F-41FB-A30C-CD5EBB02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C3E7BD-C025-4138-A1FD-80DFCFFC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7FEA2FA-7E6C-4B7B-A0E1-2B9D5C91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87075CF-7193-4E12-B380-D8C3B8BA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Unbekannt wird nicht zu falsch. Plattformverfügbarkeit und offizielle Bestätigung bleiben getrennt.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F68652-9F57-4700-B52E-9E4C3D7E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Belege anzeigen →</a:t>
            </a:r>
          </a:p>
        </p:txBody>
      </p:sp>
    </p:spTree>
    <p:extLst>
      <p:ext uri="{BB962C8B-B14F-4D97-AF65-F5344CB8AC3E}">
        <p14:creationId xmlns:p14="http://schemas.microsoft.com/office/powerpoint/2010/main" val="3839626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D98FAB-227E-4E54-991F-ECAD6B86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KAPITEL 19 — PROGRAMM FÜR WETTBEWERBERBESUCHE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AB64E-83D2-4946-B7E9-237C376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Wettbewerberbesuche in kontrollierte Feldforschung überführen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4FA4E-7D56-4D08-A47D-B2451E4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Nicht beliebig besuchen: Gerichte vorab auswählen, Evidenz erfassen und Erkenntnisse in einen Test überführen.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8432B-6A36-468F-9157-38F86E08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DDE00-5B92-46F3-9EDD-92FC4DA9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A20EC-464B-4CC6-96BB-D001DF7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762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 Drei bis fünf Gerichte aus der validierten Auswahlliste wählen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 Vorspeise, Haupt-/Signature-Gericht und ein Getränk einbeziehen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 Brunch/Buffet nur bei bestätigtem Konzept testen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 Ankunft, Karte, Speisen, Getränke, Service, Umfeld und kommerzielle Hinweise bewerten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  Preis, Zeit, Geschmack, Anrichtung und geeignete visuelle Notizen erfassen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 In der wöchentlichen Prüfung besprechen und ein kontrolliertes Al-Assiel-Experiment auswählen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7ACA3-A463-4BBD-9B7B-B0FDFAD7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F7D81-BF08-4D5C-8C5E-79232C87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BESUCHSERGEBNIS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FC9CD-9D4D-441C-8046-DA8E3D02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8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Was übernommen werden kann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Was nicht übernommen werden sollte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Ein Al-Assiel-Experiment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Zuständigkeit · Kennzahl · Frist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4BF7-1A32-44A6-8075-89015133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Scorecard öffnen →</a:t>
            </a:r>
          </a:p>
        </p:txBody>
      </p:sp>
    </p:spTree>
    <p:extLst>
      <p:ext uri="{BB962C8B-B14F-4D97-AF65-F5344CB8AC3E}">
        <p14:creationId xmlns:p14="http://schemas.microsoft.com/office/powerpoint/2010/main" val="1482245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E3949-C9F1-4749-AEF0-6285DD46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4A7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A72C"/>
                </a:solidFill>
                <a:latin typeface="Aptos"/>
                <a:ea typeface="Aptos"/>
                <a:cs typeface="Aptos"/>
              </a:rPr>
              <a:t>KAPITEL 18 — WAS AL ASSIEL UNTERSUCHEN SOLLTE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C44CE-75FC-4893-AAA2-78882C6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Was sollte Al Assiel als Nächstes tun?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ACB65-6323-412C-A39F-2A246D58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BD7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7E4"/>
                </a:solidFill>
                <a:latin typeface="Aptos"/>
                <a:ea typeface="Aptos"/>
                <a:cs typeface="Aptos"/>
              </a:rPr>
              <a:t>Fünf evidenzgeleitete Schritte; Ergebnisse nach 30 und 90 Tagen prüfen.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DB4F5-829F-4CF7-816B-041CAB3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3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7E9D7-0EA7-432A-BFA8-8007E6E0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91A4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6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ADF9C-9134-48CB-969A-07949E07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AFE40-6F87-4D7D-8DDD-FD21C994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SCHÜTZEN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B7B1-C4B7-4C7B-92D8-F7FB908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192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 Nennungen zu Geschmack und Service überwiegen aktuell weiterhin die negativen.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CB719-75EB-4A67-99FF-400E47E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08A0C-A70E-487E-97A7-EC56A2D1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PRÜFEN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91AE8-6DAB-4A36-BAE5-E8E55782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Speisenqualität, Geschmack und Service: 10, 6 bzw. 9 negative schriftliche Fälle mit niedriger Punktzahl bis zum Stichtag.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C8DB4-A88A-4572-A070-9A5A63B8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B2E0B-B794-40B0-A93D-4CCAC6D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E9513-0D6B-45BA-A4B5-8BA1A8B0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194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Ein Service-Recovery-Protokoll und eine Konsistenzprüfung der Speisenqualität - jeweils mit benannter Zuständigkeit.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1B239-B5CA-4A81-9F19-CFF451F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67D1F-D1D5-4FB6-BEF4-8ABC4B9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BESUCH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46A72-D196-44C4-8745-47E46F42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95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 Brunch/Getränke; Al Safa Wert-/Grillsignale; Beit Fayrouz nur als vorsichtige Referenz mit kleiner Stichprobe.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784E8-7FD2-457A-B713-5FA851D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F09CD-3DDE-4394-9CFC-5763A76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F12A0-F2D9-4DC1-A851-69D9AA4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96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 Bewertung, Anteil niedriger Bewertungen, negative Speisen-/Geschmackszahlen, Antwortrate und Bewertungen/Woche nach 30/90 Tagen.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EB643-2D1F-4B13-8989-A1AC5C6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 &amp; thresholds →</a:t>
            </a:r>
          </a:p>
        </p:txBody>
      </p:sp>
    </p:spTree>
    <p:extLst>
      <p:ext uri="{BB962C8B-B14F-4D97-AF65-F5344CB8AC3E}">
        <p14:creationId xmlns:p14="http://schemas.microsoft.com/office/powerpoint/2010/main" val="6704953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9B991-B3A4-46A2-8D52-D5A31DF3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A — ZEITRAUMDEFINITIONEN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189A5-5AD0-4F3B-AC69-03348C5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Zeitraumdefinitionen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70DAE-6BBB-4B5E-A83F-FDFD293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Identische Grenzen bei allen vier formalen Restaurants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41AB5-2081-4243-ABF8-1C679EE1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9157E-68AF-474D-A283-DAD0104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B1ACD-E0F0-4ABE-9305-F2ABE2B6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4B8F2-3EC9-44F5-BDDD-C2A251BB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62C3D-54E4-4DC6-A27B-2EE88555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71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Zeitraum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3FD58-7982-459F-9A63-2A90E9D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05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23CF5-EA9B-429F-8E8A-1373ACF3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716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9E087-019A-4EA6-99D0-BB1126E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2ABD8-F87C-4455-8818-A8669293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716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5208D-EF50-40CC-8EAA-3AEAB7A9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8EE05-371E-4058-B861-2C3E16B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716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Calendar 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0474D-3723-4848-9D19-37E829C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E5F75-013C-4758-A606-0D49A16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letzte 30 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6837C-0549-4A61-9E9C-BF59D73F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05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A95E6-42D7-432D-B931-4704FB26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52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2026-08-05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73876-473B-4C37-878B-BF1457F0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05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66F53-038A-4FB8-9345-5E6EB73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52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5D737-0227-4C34-8B5E-8B99EE23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FEF3B-BAD4-4568-A962-9CA66C8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526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06A02-EEAD-421F-B9C0-4400C7F9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AAE71-2BE0-4C7F-B3CD-9E7DC3AC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241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vorherige 30 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347AF-3557-4620-A276-0F4E0F5F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76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6DDB5-E49C-4349-988B-6D3F5C7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924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2026-07-06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1805F-C564-41E9-8257-866CF12D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A2D94-C8D5-4D87-BFA7-C3083ECB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24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2026-08-04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4C5A9-DB1F-44C6-B36C-1B56D9C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93DFA-7E2A-44A2-A494-408BE227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241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E3DDC-C6D5-4F8A-B274-74960F42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23939-A2EC-472B-9B0F-71CF1D08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956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letzte 90 Tage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CBDDE9-2EFD-45DC-BCC8-3F5821D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48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30787-F1A4-4431-A439-F4E5A7A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95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2026-06-06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B9F70-4DD4-4A29-8FC8-9354072B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48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C0E18-0697-4CF6-BD70-EF9F00B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95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4FC7AE-185C-4803-9800-6CBF74B3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480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DE6A16-5F85-4A08-A515-1984C77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956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4C6F0A-E9C4-4ECA-9B52-4289732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DFEE7C-1E42-4FB5-9B96-358B61CA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671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vorherige 90 Tage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A0EBD8-102A-44D6-84AA-B9C2F1F0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19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24AE3E-852A-43B7-97E8-3B9D851E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067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3617A2-98C2-4AC0-9C89-8085FAF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53B9B3-3A0F-4E52-A8D4-76E091C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67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2026-06-05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C0DB1B-0F15-40EE-A46F-94427DD0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195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DF09D6-BEF3-4A1D-9075-2C5600F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671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4334C3-A4B0-4563-BED2-33E3337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43E4C3-A68D-4A3D-BC91-9D732C9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386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historisch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E2084A-0A63-434D-A007-E116EDE1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91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664A71-F96A-486F-83DC-D7F2278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638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Datensatz start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0BD20E-E85D-4891-8251-9A5F5BA9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91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4366E2-0826-4267-B15A-75AC586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38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2026-03-07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69CF42-5962-4E6D-9220-074F774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910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0ED2F2-F374-417E-9602-406F4D0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386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C3594A-AABC-4F1A-B220-3DF552F7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A137A9-6F87-4D6A-96D3-809BADA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F88FB1-A547-454C-B7EB-84028B0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Formaler Stichtag: 03. Sep. 2026. Spätere Bewertungen bleiben in den Quelldatenbanken, sind aber aus formalen Wettbewerbskennzahlen ausgeschlossen.</a:t>
            </a:r>
          </a:p>
        </p:txBody>
      </p:sp>
    </p:spTree>
    <p:extLst>
      <p:ext uri="{BB962C8B-B14F-4D97-AF65-F5344CB8AC3E}">
        <p14:creationId xmlns:p14="http://schemas.microsoft.com/office/powerpoint/2010/main" val="13732235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38071-9E51-4A5A-8816-A794741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B — DATENQUALITÄT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5696A-0E5E-4739-9B1A-2BE55CF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Datenqualität und Quellenabdeckung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4D776-6C68-48BD-833E-3841432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Bewertungs-, Übersetzungs- und Kartenabdeckung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23A1B-DE66-4970-9371-444293B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08C88-BEC6-4CA0-899F-9E0387BB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05EDC-B7BB-4556-93B8-6C22A4D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86BF6-8C96-4E12-B7B3-78A45D71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A6985-395D-42EC-8E67-8BE84CA4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7E674-3202-4917-96DE-11952D67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61843-F834-4ED0-B3B5-714E7C9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669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F2437-FEB5-4A5A-A96A-1B724654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19ACD-0409-4185-9979-9897A1F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669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041B3-D982-47CF-BFDC-3113252B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733DB-DD58-41CF-8371-C29C1954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82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Nicht englischsprachig, übersetzt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F21D5-0451-453B-A030-CC2C2E9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295F2-51A1-47D9-9E1F-F106943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669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Nutzbarer Text / alle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14677-69EF-4C6D-BF88-DE89F992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1A3CE-1984-41CE-9ABE-28D309CE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Speisekarte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8624-FA1F-4635-858C-70CA3E06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4158C-0A85-4FA0-9241-2712468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669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BE01B-6BB2-4F9F-BEEA-4C043592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C57AC-02A3-4547-A05F-113AC68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ADDAA-C121-4A34-AB71-4B1DECD9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003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2A3F9-D95F-48C6-90B4-85F53C1A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479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8FD2C-FCBF-43F6-AFA1-59799420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E7FBB-E284-40CE-AB19-11BA7F0D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51D77-09EB-45F4-89A8-88D5BDA8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8ECB6-1D3A-4BBC-B231-687AE83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479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99.5%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BF958-99AD-444E-B57C-EBDA4F3B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D3E6B8-7064-47AE-9E11-D2F22BD6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479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73.8%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99DFF-5A81-4E49-B969-86C8F01B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F179A8-FFAD-4C42-ABD3-3C3F56D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118 (118 mit Preis)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0883C4-542A-4644-9545-BF82E2A4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003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25DA2A-F2DA-4DA7-B2EF-008415B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479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BDC151-4189-476A-BD14-BF09CFA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C04DA-FB6B-4503-B2FB-AC8399F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C265B8-19A8-4698-9260-76E136A6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908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53C57A-C1D9-4F54-BA92-647949F0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384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59DEAF-1714-416B-B533-B0E4CB4B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B2F6FA-4487-43D1-A936-A45216E2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468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ED8C24-EFE6-489C-A70A-FFE6213D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F9D402-79C1-4313-866F-6181EAE5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99.5%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CD5173-207B-492C-B1E9-4C26072C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F304DD-9107-4338-B912-831E3DB6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384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65.2%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AA86DF-D790-44C6-AE40-AEB0183E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A5D225-CA1E-4DAD-9FDC-4C56F45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384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128 (127 mit Preis)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F8F60A-2D03-40F0-B3E6-1A5FC127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908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43E994-1BCE-4CDB-82ED-E3F1A46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384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12ACD4-093F-462E-A460-BD20D34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95F4EE-01DA-40F0-8693-8879256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A30125-0AC7-4F94-A3EB-426E714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B3D685-19A4-467F-9D3C-513B56C9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290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2696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63F1F1-BC56-42F8-A5DE-F56266CE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58C7B1-1634-4BC8-AFF5-C366E865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290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1630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BD17CC-DF5D-4C05-B982-85334C5C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12C4D9-4EE6-4E03-B361-B10C92D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290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98.4%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E9AB54-79F0-4026-981D-1899DC3B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EB1242-0E01-496E-9C59-C0C6963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60.5%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0E63B3-73EC-4A53-AF19-8A8DCB41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77ADF3-93F4-490D-94A7-7F91281C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46 (40 mit Preis)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D5FB4F-8A82-4514-8FD7-3228E464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814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DA7059-00BD-4E0B-9AA4-0EB5057F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290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8D316A-41CC-4B38-B33C-E4B5494A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55884B-8732-4FB7-A715-1BD9CEC4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725CA9-7D6A-4D5E-82AA-597F72DA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9E5657-358A-4C31-B7B4-CC4E6D0B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95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55A6D8-2566-46FA-8B0D-4B8D762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719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15922F-4AE6-4880-AB32-0F6CD14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95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81CA54-E1C8-4DB4-963C-C67C3C4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C0BF66-1BF3-4876-9A58-4368BD1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195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98.3%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9255F2-DC8E-4512-9BDD-766F894A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719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4CCBC6-10B1-46ED-9676-AC4B7890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95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74.4%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769CD26-89FC-4324-868D-6AB783E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1AA4B5-C226-484E-B86F-1E279FF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95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 (34 mit Preis)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7C9D64-313F-43B9-B951-06CA087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719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CC0422-EF2C-46C1-B821-50B88C5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195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A6EC33-2100-4EC9-8CD6-49E94C2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28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C19BA6-3F08-4867-ACE0-B0F10CF5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AC8B90-6F5E-4299-8128-89AA5729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998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Die Übersetzungsabdeckung wird nur über nicht englischsprachige Bewertungen mit Text berechnet. Englische Bewertungen benötigen keine Übersetzung.</a:t>
            </a:r>
          </a:p>
        </p:txBody>
      </p:sp>
    </p:spTree>
    <p:extLst>
      <p:ext uri="{BB962C8B-B14F-4D97-AF65-F5344CB8AC3E}">
        <p14:creationId xmlns:p14="http://schemas.microsoft.com/office/powerpoint/2010/main" val="3839855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123EC-605C-4D09-8CA3-BFD9976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C — BENCHMARK LETZTE 90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B2612-89F9-42CE-A18B-3A78944B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Detaillierter Benchmark der letzten 90 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55799-0E30-4C2B-A720-A91DAE0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06 Jun–03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33D5E-24F5-440D-852E-78CFC089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9148F-268B-4F78-AE2A-B5E83347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67AF1-E504-4C07-AF38-763726E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2EBC9-314B-47DC-80DC-16AB2273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526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4E5E5-8A32-4EC3-9FAC-2D12C16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D342D-3121-4636-B2B9-5DFAEF4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542D8-F1AF-4576-9F70-12399D2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19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CC07B-5337-4D6D-93FC-E647CB33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C290C-710A-41F4-B1D3-1F006500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193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801E3-F8EC-483F-81FA-C45D395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526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9FC6B-2AA8-4B07-A6B6-5F617EAB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193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 Woche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C388E-0FC6-421A-8F03-561D188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5DE6B-E940-4F2D-9812-456B1A33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1930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Sterne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AE408-0D05-42A1-A865-0C49B9A5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279BA-E989-4BED-ADCC-7A898CD6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1–2 Sterne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52122-DB84-4743-8695-D2E35E20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6ABA7-B783-4036-B148-18EA5BB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 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8AF91-9440-45E1-86B1-5BAF35B7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F2176-13D5-46F7-BD6A-A312A2F2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193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Antwort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ADF7D-50BD-46C6-A99F-13B516F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5262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DA7BB-E2B6-4540-A179-EA5B0798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0193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41DCD-8F4B-443D-8876-9AA8A41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526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B070F-A68A-4946-9B59-593D330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E45E0-5CA0-46B8-97CC-D0B5D57A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526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AC1BE-BCF5-4B20-AD27-20AB3A0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003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7D5F9-F173-46F7-BCF0-567F8ED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526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2A5213-DBF4-4404-8DB6-8601F88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003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3.679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28D671-54C3-43C4-803E-CE42556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526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85842-6943-47E2-B155-50EE6B6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003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2.178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64A6C8-BF03-429B-96A9-73C4EE7E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526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7FD2AC-CF49-4D2B-9B09-AF7CE1D2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003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 · 57.1%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5D6E4-B46E-48F1-80D1-FE04FA1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BD8B5-833E-477F-9177-CACBD1E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 · 32.1%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C5B8D-9422-4BB5-B149-C214868A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B9544-EE3A-4F39-BA39-1BECB4E5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21 · 75.0%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7DD85-8902-48D3-BE86-55F3D787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526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042B99-B50E-416A-86FC-56BC723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03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5FDCB-D1FB-4F34-812A-ACD60CAC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526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34F8CA-116F-4776-AE18-F7F937C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4003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B4A8FF-B991-42DD-ACC9-45CC4A4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622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1B902C-7581-4E84-A9EE-856B0BA6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AF8929-1489-405C-9010-980C6F87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622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F88541-63F8-4C31-850C-003089D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099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3FDCB5-91E8-44FB-9105-354711B0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622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94D741-9B4E-4E07-9BF5-151BBB3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099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4.346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8304F9-D4C5-45AF-9119-56276C25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622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D52325-807D-4197-A7C5-BCA6830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099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4.044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975717-268D-4D39-9271-D5DED178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622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94652E-4A96-4D77-96EB-EEF0FA38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99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39 · 75.0%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5804D3-2B27-4540-AE3C-14CB573F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622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0E84EB-AC70-42DF-AAFB-AF9AD3C9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 · 13.5%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77F9CA-D294-41A2-B5F9-A4394B99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C06FB5-4C93-4A9E-91EC-8031BA67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 · 63.5%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63C622-90FF-4273-AEC5-86053D66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622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F8A52A-0B44-4888-A352-2EAAFE74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099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D40A76-791D-4401-B767-CDB69E6A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622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64295E-38EF-45EE-A111-8F36C20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099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CA9D41-B58D-47E7-A057-13CBE551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5718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2415F8-1ECF-4C1F-AC95-5DD6871E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68FE34-47F8-48E2-827A-DFE201B5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718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BF165E-1235-4913-BFED-B8437788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195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1F45D3-73FE-4FB6-8E86-E9D2A77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718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607CE9-29A9-4878-9C42-AC154015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195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4.295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D22E71-4FD9-4C02-8DEF-81BC013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718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7D7946-3EAA-4784-B177-B1B24391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195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6.067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1840F9-5A29-4228-8FCC-19D8445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718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896D22-E6E8-46C7-B2ED-27C8D2DA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195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54 · 69.2%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D82C92-87B8-4C95-AEAF-7DBF9452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7B8D89-2795-4809-B4BA-03D282C3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 · 12.8%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F70B40-CF07-4213-AD30-2568483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C36883-5554-45E6-AB35-DD94E4CE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45 · 57.7%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3A37F3-895C-46B0-9D80-054549F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38A4A5-1FC2-4E01-8CAA-33D5537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195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881AC7-1690-41B4-874D-8A1159E5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5718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68BEC1-B6C9-4ABA-A4FA-1C1FE46A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6195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6D4741-E1A5-479C-897F-F91EDDAE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814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74EE55-B034-4356-9D21-441A10BC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069D60-F5A6-42CA-B5CD-92A973F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814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B455FB-3F73-4093-98C0-28BA0FD7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291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B43AFB-D437-4CD9-8B85-052FA43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814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3AA163-5940-4DB2-85C8-9DE47ED7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4.857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ECAA02-56F5-450E-A831-24F10A0C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814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C2A6CF-9789-450B-A239-7E73BBAD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291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1.089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13E4FA-479C-4C4E-A5A6-E128409A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814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87EABB-3666-47FB-A43D-898D659C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291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 · 92.9%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CC9CD0-1BBD-4FF3-8891-B480FE91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A0921B-20F4-4EE0-BB79-77E3C46C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C032CB6-42C8-47E6-9C57-44E25F9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071FC2-BD2D-4172-9A0F-ADFDB6E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· 42.9%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E8490D1-7A5E-4B0C-989C-F5D2CA29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814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E13B2F4-3C8D-4CF1-894E-8FB9FCBD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291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ED92B59-1ACA-495C-BDAB-42D375CF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814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A9F756-F62A-49AE-84B3-0201DFBE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2291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9D7088-C195-4EE6-8BD2-BAE60F04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A5E7334-79A7-4BD7-BAB6-C8F09862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CA7BA4-802E-4B4F-953C-E0955538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1026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Beobachtete Führungen gelten nur bei erfüllten Mindeststichproben; Beit Fayrouz bleibt in den letzten 90 Tagen bei mittlerer Evidenz.</a:t>
            </a:r>
          </a:p>
        </p:txBody>
      </p:sp>
    </p:spTree>
    <p:extLst>
      <p:ext uri="{BB962C8B-B14F-4D97-AF65-F5344CB8AC3E}">
        <p14:creationId xmlns:p14="http://schemas.microsoft.com/office/powerpoint/2010/main" val="18033456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D30A82-3FF0-410C-9770-081161B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D — BENCHMARK LETZTE 30 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96473-FEE7-40FF-A3A9-09FF7BE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Detaillierter Benchmark der letzten 30 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2DAFC-611A-4D65-A652-F5261E0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05 Aug–03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98991-957D-4E28-B28C-323CBF84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F08F6-FC68-4F80-8FA4-71CB9DF1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70FE7-DE7D-4CF9-AE10-377B4A6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C145A-F8F9-499B-A274-46E46AD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53F2-CFBC-4AFD-ABD8-76131AD0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193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BD68C-8BE7-40BE-B778-7A1361F0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52625"/>
            <a:ext cx="714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8AA0F-446A-4B93-B824-B8EBC19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193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D57B0-2354-47BC-8F3A-27C81D6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D5896-CB9D-4FBD-BFA1-AA30C477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193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Bewertung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3CCDF-0687-4B03-94F7-AB7B6BCE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526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B7E98-DCB4-4E0B-848B-7ABDF31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193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 30d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F5A04-EA49-464F-8C8D-33073010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5262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2E3E2-17C6-4775-B96E-F34597E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193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7BDA7-C8AC-4771-BE90-F2538BE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EA129-38FF-405F-AF4F-BC78354C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Sterne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7481B-6BC7-4418-9960-A01FA802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E36D3-34FD-4320-8484-B570537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1–2 Sterne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DFFCB-688A-4F5F-9A74-020813DE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565D6-83B8-4956-8125-151040E5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193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0A435-126B-4DC3-ADE9-6D44C710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526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9A9B7-6688-48E7-BA00-A2BBD00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D1F4B-234C-44CE-A8C0-310B7C3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526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38720-47FB-4474-B8B9-7711495B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6BA8E-6624-48A5-9978-4ED02810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036CC-E58C-4126-856B-80BAA7F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5BA1E-8559-4B4B-A0C2-A3B2E498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526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EA2692-FD69-4D68-9960-5879ED6A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003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3.929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786C55-90AA-41B3-B964-C34A095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526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699D1-74AC-44FD-A39F-BF66926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3.667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95A9EF-7226-406C-9FD8-55A3D177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526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9C7D16-3AE6-4C5B-900F-A398C32A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003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0.262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59657F-D1F9-40D7-A215-C24F87DF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41B39-CA69-446F-ABD8-B10BD3CD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 · 57.1%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ECABB7-8B52-47E8-8A72-F38449D9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5ADCB7-997D-44DE-9E47-75C7679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28.6%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70C339-08A6-48D1-BADD-22F86AD4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526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3B16F3-2209-4495-881A-D682C0F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FD771-63E6-4782-9C72-B88D0852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526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01E3D5-33C1-42FA-964C-AFE3CE48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003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6D6E29-72F5-4068-8F4C-0D01196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622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840821-EB49-4DDC-9E76-1009594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99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D40D7E-039A-48C8-BFCF-0BA8A2E7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622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B06C0-A75C-446C-BE94-D8E38FB6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CBBD29-1337-4AE7-8CD6-EE03C214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622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105384-EC1A-47F1-A4BE-6FF8E1A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99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4.933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534CB8-CA96-4EF6-8C09-7CB7A70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622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EA39B7-A0E7-4074-AC15-75CB064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99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4.238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749AF2-65CB-4A52-BE48-AC80822C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622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E724AE-EC06-4F6B-A884-4DCE5F6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0.695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41CD03-4F56-44CC-BC17-5719B10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D611EA-A796-4875-8AA3-7C301133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 · 93.3%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1C5031-12DD-4572-9F5F-C836FB68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C38F4B-0A08-4026-972B-6F34CB4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80F8A5-FEB8-4E05-AFB4-AE0F9FE7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622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6A9705-1BBF-4F1D-B0C6-7CCE305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7C2E51-1C19-47AD-B1C5-1419E0BB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622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FFEA41-FAE5-4DD9-BF0A-9C39555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099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39E652-F919-42CA-B507-657FE7AF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718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A7AE07-371D-4238-8091-C330D21A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C5DFB4-2D9C-4FAD-B6EB-5329876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718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0E2CB8-956A-4656-84B6-38AC3C5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195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0C6089-3007-41D9-A2DB-874D7422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718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4A70A0-1AC7-4F7A-8A19-0CD9BB80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4.222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E7DB3A-9AF7-41AA-BB87-5AFCE21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71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3190E8-1433-416F-8B9C-5F4288B9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195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4.182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6850E8-BE44-463E-9D90-32FB1118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718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D3DAC5-C1B6-4ED2-B57B-20347AAA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0.040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AACFBB-0B16-4CC2-8472-4269F59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F6F3E4-0911-4610-80FA-65D9392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19 · 70.4%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636C3D-A03D-49A6-ABB1-B038997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FEB4AC-BCD2-4BBD-9BE0-5938857D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14.8%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DFBF45-D421-4E88-B34F-F616BD2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718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BD2D25-2CCE-40E4-8BCF-B6D34CB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C8162A-F1CD-487D-8C51-32CD882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718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34D2387-8F7F-44C2-A780-3C96BC4C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195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810609-634F-4647-AF7B-514731CA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814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AF09DB9-876E-45C6-BF62-8822A192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E3B738-05C5-41A9-A3A2-EE328493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814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5BF78A-A3A5-47A1-AD65-7CA740E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291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1DA26F-0B7D-4F25-99B6-BA46D4F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814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6D13EE-3D51-45D1-9B8A-38A5F0B3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291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C1264F-8D6B-455A-B407-263262C3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1814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C5BDED5-1B48-478E-9F1C-552A14A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291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91F21C-7E0F-4D5F-82BE-7E280C1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814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05B01B6-0D88-4E53-BA6E-BD12E649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0.250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06226C-3329-42F6-8FCE-20219404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3E3120-0F01-42C6-8F5D-18CC4B16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100.0%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4B17309-8AD0-4A80-9353-85D6CA2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D47EF2-DA07-40C4-B8F4-E3AD418B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D6F081B-AE7E-4A9F-9D84-EE2280D2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814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8AF8EB5-9244-43F5-9801-278FEB3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9BC3764-D6AA-43E2-ADAA-5C78B399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814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E7B7A08-E9C4-493F-B3E5-84709FA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291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AAE7F0-0C8D-4EE8-9CC3-184BB7EA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066DD2-757D-4941-A9B3-22CADCFA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EEFBAE-54F4-4581-98EF-4328A48D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1026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Themenvergleiche der letzten 30 Tage können geringe Volumen haben. Die Präsentation zeigt zuerst Anzahlen und kennzeichnet Evidenz; aus zwei Bewertungen wird keine starke Schlussfolgerung.</a:t>
            </a:r>
          </a:p>
        </p:txBody>
      </p:sp>
    </p:spTree>
    <p:extLst>
      <p:ext uri="{BB962C8B-B14F-4D97-AF65-F5344CB8AC3E}">
        <p14:creationId xmlns:p14="http://schemas.microsoft.com/office/powerpoint/2010/main" val="203678928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FB2A3-ABB9-485B-91E4-E1AFC013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E1 — BEWERTUNGSTRENDS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B2F5F-C192-4F12-A10A-45A039DF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Monatliche Bewertungsevidenz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06CF5-8CED-4FF2-BA29-3C440EFC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Apr.-03. Sep. 2026; September ist unvollständig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43CEC-98DB-49AA-AE8C-0580698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9F3D2-9023-4054-B861-8DEEF24E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E52F1-BBBD-45F3-9F97-9A964B2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65A66-F1BC-44A8-80C2-0A8DACF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8DE49-E815-4507-A68B-E6836FAC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3EABE-D40E-495B-9A95-51C2C736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0D930-4AC4-4559-A288-59B256D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3AE79-5235-4A50-949F-F234A69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9A240-0CF2-4BB4-A7AA-1B5ABE8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DB911-C705-46BA-87EF-B2DE189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437ED-CE7C-4AEF-8CC8-9B5CABB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B8526-D913-43C2-B7D0-B2C4A5DB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E2435-DABE-424F-BF2B-C0FDE975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EF137-011C-4463-8BA2-675B628C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FBD69-DD45-46BA-BCA2-6E90AFFA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D1B09-5150-45AC-8C39-6F0D2446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AEB3B-C607-4315-8622-5A94745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A6BEC-5BEE-44F2-86A2-978A2F22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C4CB4-2852-40CC-AFDE-573C3A57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3.73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F3F0D-3BEF-41FE-8224-FC16D6F4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81175-E2B4-431D-A285-B72E364B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51FF6-4F80-4D48-A91E-563C82EC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F4DA2-CDC0-441A-B29F-DB36667C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54449-F74A-4FA7-907A-8791887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FC390-39E4-48DB-BC8E-73B8E015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751E5-5A37-4818-BE36-C1C53EC2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1D14D-B356-4420-A056-5E66E2E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39ADB-31EF-4481-B777-ED72BB6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548FB-166B-40ED-9C5E-2488C1DD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91D89-3DA5-4DA6-9954-17A63573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67250D-1C10-4B4A-BD24-33A627E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49A759-E3FD-4831-89B2-D0DEC107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E536E-0C9A-42B3-A7D5-9ECE666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4.96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F45C5-8538-40D9-A037-C5853581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EF2813-AEBC-40DE-99DA-FDC25988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4B664-1985-40C8-A00D-D861FFB3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AE5B11-E62C-42BE-A448-5F18733C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062A2E-F8D0-43C7-AABB-FB2BC4A8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40C417-2113-48C7-AC03-89A5A7A2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3.77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5F0AF-5181-4545-BBF5-61044E0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F49C59-E3AB-44EB-A0EB-93FBB87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4.64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D8E3CB-B1F8-4556-92DC-981C679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538064-E220-4759-8F31-9A39AE60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2F0E41-4BF9-4BBA-92A2-DDAB8CA3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FFF9C4-8F1D-48B2-A69E-1B6AC35E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DF9DD5-C3A7-4554-B094-EC58707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BCD08E-646B-494B-B058-91890749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2.67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97787B-3916-4247-96DB-517FE36A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607AF1-CC6C-4557-8184-85D28DD8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8F2440-54DF-48A5-BDE2-16B6F99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99F2BB-A514-4E96-A134-DCAD5F2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5546A2-2418-4C43-AE01-BC0C6DF7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AC93B6-36B3-45CE-AAB0-3952A1F5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17D2BD-AD14-4C5D-9215-CA7DE3C3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D35787-7410-4BFE-BA87-E599AE3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885CB5-0F2F-4E8D-84F2-A865CAB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ED8BE1-E0BE-4BC6-9BD2-65375FA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982B50-7CFE-44CC-8872-C1F1CF3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D2FC63-0D2A-46C8-A70B-D0AA1431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4FC56F-6460-4611-8918-705A778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CF68EF-975F-4A6B-AB1C-BCDDFD32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AA2FD3-D40F-450D-A82B-D43B3650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CA458A-A6B5-48B5-A314-C79A4DFB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8162B5-13C8-4B0D-A8EB-B351394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B9C12A-B1AC-4DD9-BE7F-2BE43E0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2026-09*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39EA26-76EA-4DB6-B7F9-67462667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CE7315-EE54-4222-8305-B2AFF3F7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A1FAEE-C090-4DF8-8723-2AC324CE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63D8EC-5D00-40ED-8A24-C0EC59A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597DB3-2A89-4D6E-B1F5-69008775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68E393-F8F5-46E0-B56C-97E7272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2E0150-67E4-4DB8-B638-4F634F49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AEE7AE-70EB-4719-A5BA-F542BF4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9277FF-B3A0-40AE-9C96-F52BD508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76FEB6-B49A-4907-858B-5B796B3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18D212-E0C0-439B-A10E-0305C7C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* Unvollständiger Monat bis 03. Sep. Auch der erste Datensatzmonat ist in der vollständigen Layer-03-Historie jedes Restaurants unvollständig.</a:t>
            </a:r>
          </a:p>
        </p:txBody>
      </p:sp>
    </p:spTree>
    <p:extLst>
      <p:ext uri="{BB962C8B-B14F-4D97-AF65-F5344CB8AC3E}">
        <p14:creationId xmlns:p14="http://schemas.microsoft.com/office/powerpoint/2010/main" val="20003077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55A37-0660-4D4D-9EB4-011D27B4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E2 — BEWERTUNGSTRENDS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D2D20-8880-4F69-9286-4BB3F8DE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Monatliche Evidenz zum Bewertungsvolumen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2B7F7-103B-4BB5-83CB-F149F965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Apr.-03. Sep. 2026; September ist unvollständig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66AD6-7B4C-4744-B8DF-39C23355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DBD40-6790-4D1B-950F-AE25FE7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8EA90-9AE0-4797-BF3A-227139BF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ACCE9-DB5E-4964-A88B-7A1C771B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49E01-3374-4074-B250-199FF92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4FD2C-4931-4E3E-BBBA-B310177A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DB5EC-014B-4FB5-9E68-F1B5930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F714B-0217-4A2C-B089-FA8C9E5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4A79E-A281-4F04-AC77-38A7D10E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C1C23-4A48-46E6-B09B-63406896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FD515-F79D-4034-AFDE-12A9C0EE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61588-2A06-4889-9350-38CAEFEE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34321-C83F-4311-91EE-5F1A4BF4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6A433-FCCF-4F2F-93A5-43B81EC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F4A71-D862-49EE-8287-505F260B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5C10D-8C52-42E4-8B97-03B46EF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3D70B-3B0B-4326-AAB5-DCD2D0C5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C402A-A90E-4B1E-9E99-6F588ED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0D5B1-6E40-4CC4-B03D-3257D2A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398AC-4990-4C73-8C48-076DB910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6318B-B2CE-43A0-BD98-FA6E94FA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D0C28-A99C-4BE0-9A59-FD990B7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40DC2-E0F1-4254-8F85-037C271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59DE9-CDE7-44BC-A891-BD920D43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19646-C01C-4670-848D-DCB4F6C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EA14C-B5E0-49CB-8854-DB67CDE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2FBEC-841D-4059-B0F3-682FD03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9B00D-D6E0-4B75-AF6F-BD5E19A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2A396-24B5-4D19-B154-8683609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05AC1-90AD-4694-94C9-8531FC7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378B89-2632-42A0-8DD7-C545A867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39F761-C5CA-439C-BB2A-A9EB3F5D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0CEFAF-7838-40A6-B048-19B5A9D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CD77AE-BF72-4815-A6BA-62563C7E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7FEAD-2627-415A-A3D6-5AED3CE8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5F8D60-99CC-4D2F-B69A-2C744097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70969A-0E9C-495A-8848-A0FB66C9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3E99E1-212B-4FE5-9824-EEBE863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6DF580-CA41-4938-9422-9DF3BC32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4C5C90-BC01-4A35-8EBB-A6A35B1C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999232-2578-4E68-B6F8-48246865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865A0B-DC7A-421C-9655-E8CDBE94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E31D3F-1678-4C71-A168-B127CFD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7C84B8-60E5-4957-88ED-2D52C06A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763C95-8938-4E5B-966D-885394F1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9DDCD2-B258-4D13-8083-AE97407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B100FC-020A-426B-AC4B-C5ABAE4D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A6646C-3DEF-4E0F-9C93-B564F5AD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932173-FE8A-45E5-8DBF-A0FD4641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4B4773-9CD2-4A60-9E7F-CEA1A08D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4AF48C-5CD7-4D5F-84AE-9DBCDF5D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4EE841-E60F-422C-AF3C-CC2002E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7D4809-579A-4469-8DFE-7D9E4F5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77C6C2-55BE-4DC0-BAFF-689C8E77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C4FAE9-C2C1-459B-BE3E-925B4B8C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0C1E04-601E-49AA-9C3D-76DD570A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5E0ADA-4CEA-4C6A-936E-18C29B40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090F4C-6CDF-4B2A-A153-9872DA3E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5202C8-5BC3-4C6B-BB3E-0ABA471D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31743D-660F-4D22-B12E-23C69FB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F0409F-AB2C-4719-AC07-4CAC08C7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692AB7-C9FF-4A8F-B1E0-DE423F5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BAF44A-311E-438E-AE15-04D0A513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68011C-3B65-4B55-9B5E-17A64CFB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65401A-961D-4405-BCC0-95C4993B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2026-09*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8B7AB4-FFAC-4D4F-A558-6C2AB21B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669C3E-BED3-41B2-A880-7DE5C325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11D41F-2BC1-41C6-A088-72EDA6D8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F98061-2CD9-42A1-9378-7CC77C57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0619C1-72CF-42FF-9DDB-B953D47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968F38-1844-4126-8C05-002EA0D9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A0EED12-4268-4629-882F-92601BBF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9237592-0AC6-4539-81CA-F1D1768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2B7885-C6B8-430B-A6D7-7288F9D9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29A74D-A520-4019-A7B5-1AB84170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A54219-9CD8-4CA4-8F79-C127D56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* Unvollständiger Monat bis 03. Sep. Auch der erste Datensatzmonat ist in der vollständigen Layer-03-Historie jedes Restaurants unvollständig.</a:t>
            </a:r>
          </a:p>
        </p:txBody>
      </p:sp>
    </p:spTree>
    <p:extLst>
      <p:ext uri="{BB962C8B-B14F-4D97-AF65-F5344CB8AC3E}">
        <p14:creationId xmlns:p14="http://schemas.microsoft.com/office/powerpoint/2010/main" val="315087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0598D-B48F-4532-B9C5-F7F8D0C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E3 — BEWERTUNGSTRENDS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87D20-E19C-43D4-9105-8999FA7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Monatliche Evidenz niedriger Bewertungen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E183-A0F9-44BA-AB36-85C5191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Apr.-03. Sep. 2026; September ist unvollständig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B230F-E963-41A1-A966-2193344C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8B6FE-A693-4AA0-A813-4DB135D5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D6001-9C77-4D3E-904D-39C2139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B3F73-49CD-4747-97A3-EC18AAB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800F6-7E34-428A-BA3F-5A19CDA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25339-542B-4A91-BAAA-88ED9A47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0D703-72F6-4A1C-9085-0820B74F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94A8E-C4B6-45A8-969B-4D036D95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5D524-FC36-4F79-A086-D364CF4F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ABE86-3046-484B-A6A0-D33CD94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5AA9E-543A-4CEE-9B1A-3A9FFC24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45A58-ABDA-436A-A7D0-D72926F0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E2945-F1D8-4A90-9345-F1E729A4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6047F-78B5-4066-9239-120E9ADA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1A3C4-6B9D-4432-8C19-2867E97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153B3-6A35-4977-8338-6DAF7D16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78528-5090-42A4-B38D-EAC96BC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DE6F8-4F26-4273-8C2B-E10A49D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1395F-14C0-4BBB-9B10-46C1860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0A081-2151-46DC-8749-8D143800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DD44B-FCE2-469F-9640-4A4FD7D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0D0E7-AB09-4BDF-AC5A-9EE74AF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3C5F5-8245-4C9D-9538-6E09B4F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E84AE-1A3C-4D95-A810-A15279D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14FBB-16CA-4348-81BA-BB606F7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DECDB-72A7-43A2-871C-2B44F0C1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613480-EB59-49F3-A7A9-0E71C885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28.6%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C06B2-AF6F-43E1-9C24-1410704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81EA9-5021-4525-BA97-1771942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ABCB57-D52F-486D-AB57-6429CE5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5BF69C-1593-477D-8BD1-D842EA0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9BE6C-61AE-4ECA-8018-8BF55EBF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DF226-D30A-4F31-BD06-8271147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654E3-B474-44D1-8D2D-A9A31EB2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7E163D-BBA1-41EA-86A2-0E507E8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783E8B-EAE2-4423-90D9-7E4D237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61A79E-0E0D-42F6-9BFA-39F1C4E9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F63684-A377-4A23-ACEE-0B071BFE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A8F38-D487-449C-89E3-ABCAEA1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4779B-9E83-436B-BC50-9B9CD1F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DD672A-9036-4F4C-925D-BDDDF9D2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380FA5-DCAB-48D7-BCD7-70A584E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827B36-6AD9-42F4-9991-AE9BB64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DF4413-6F6D-4283-9466-BB5217C8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11A58F-1EC0-45AA-BC43-1CA0901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014C2E-AB57-450C-A6AA-03699CA1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36B652-1A11-486F-8C3A-9C569CD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C47B81-0ECD-4A20-B76B-A22DFB59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0D214E-E777-4F3C-887F-670435C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16.7%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DCDC67-B3B6-49C5-A281-C9F0AF3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DE945F-AC4C-4444-9E71-2C485807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D4A178-0095-405F-99E8-3E8AAF03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70E86B-6F53-4CC5-BA89-E0EECB07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42F6AF-059D-43D2-9BF9-D3F93360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359C32-7F16-4C67-B7E4-B89CCD63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4F57A9-1CA8-4919-B61C-D979F84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2FAFB-71A4-41A0-A675-352FAEA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26.7%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1F22A2-ED50-474A-95A6-21C5ABF7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5D3EC1-8F88-4656-BC92-32D146AA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5F5745-5F8F-4FA2-878D-1F54B21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9117A4-591B-442A-A89E-47EE6750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17.9%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81C4CF-D57F-4D82-BD56-0631E8B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5B43A1-4B0C-4AFF-B7B0-819E0B6D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7C19DF-8184-44A9-973D-8C1FA70F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18F5D1-56F6-4C5C-96D5-F2578FE9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2026-09*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C87A0D-6277-4858-9FB8-5C7F58A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8003C3-FA7F-4836-A80F-5735566A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98F1D1B-93EA-481F-B13C-1F6C9A1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8C4A3C-CA26-4F73-A595-640F41F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D46FA2-C153-4412-8EA3-2F6F2710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3FE8C2-8CAC-4244-A811-DA00BD2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50139D-94B1-48E6-9BD0-99BABF3A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9BB920-5E1C-4EF4-B485-F5CE25AF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D386F3-E47E-4484-81AC-39F60EB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934A27-1E50-413E-854A-2F5E320C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14A55E-A55E-470D-9D82-83C0F27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* Unvollständiger Monat bis 03. Sep. Auch der erste Datensatzmonat ist in der vollständigen Layer-03-Historie jedes Restaurants unvollständig.</a:t>
            </a:r>
          </a:p>
        </p:txBody>
      </p:sp>
    </p:spTree>
    <p:extLst>
      <p:ext uri="{BB962C8B-B14F-4D97-AF65-F5344CB8AC3E}">
        <p14:creationId xmlns:p14="http://schemas.microsoft.com/office/powerpoint/2010/main" val="208438146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BA96A-8BEA-4FE5-940C-AA5C6632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F1 — EVIDENZ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A3EE6-CCF1-4A15-B54F-521EDC9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 Bewertung mit niedriger Punktzahl Evidenz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51971-EC77-4953-8378-DC8750D0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Anonymisierte Fälle · 06. Juni-03. Sep. 2026 · Auszüge verwenden gespeicherten Analysetext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A1EFF-6689-40C8-814F-DABA4CF4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8EFB4-D569-42C2-BC33-CB03D42A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97D55-53E5-42ED-B08F-8AF5C11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76BCE-0114-4BE1-B6E5-3CBC88D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C8BDB-9F1B-4535-AA5F-FAD4B9DE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12B21-DC64-4A47-8A2F-B8AB29D6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AL-ASSIEL-LS-001 · 2026-08-31 · 2★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511DD-7D69-477F-864D-AF30AA5F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Speisen, Speisekarte &amp; Tablet, Parken, Service, Kommunikation des Personals, Geschmack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160FD-A245-4BFA-96CE-1CD2B5E9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“Leider müssen wir unsere Bewertung aktualisieren. Die Qualität hat stark abgenommen, bei unserem letzten Besuch wurden weder…”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1B980-4383-4446-8FA5-53D65079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5462E-6F5A-4DCD-B4A1-74543B35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D6666-7621-4899-BA37-3BA5F2C2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B7C43-1649-4BEE-A281-DC3636BD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38A36-F083-44D0-A39E-D5B6CCFE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AL-ASSIEL-LS-002 · 2026-08-22 · 2★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3CEA7-CAFA-46E8-99C8-A095C175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keine erkannt / uncertain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D8873-D347-4B76-8352-4C65E6E7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“Köstliches Essen und guter Service.”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CAED4-1AD8-436A-A55B-BCE174A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D6783-B4E0-4116-9573-8ACC2F3E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9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E0A5B-7A95-4552-A4A7-9A642F86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47557-6BCE-4F1E-A25B-611F72D4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C2F72-8EEF-4127-B249-65D7944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AL-ASSIEL-LS-003 · 2026-08-12 · 2★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20572-AD96-49AB-B780-CAFCF610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Getränke, Wartezeit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7AA64-B478-4F29-BA48-F2230DC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“Essen kam nach über einer Stunde immnoch nicht war trozdem lecker. Der Service war okay haben aber das falsche Getränk bekom…”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540C2-585A-4F68-A269-8C51BFE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ED1B1-5435-4E24-8852-6723EEB0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</p:spTree>
    <p:extLst>
      <p:ext uri="{BB962C8B-B14F-4D97-AF65-F5344CB8AC3E}">
        <p14:creationId xmlns:p14="http://schemas.microsoft.com/office/powerpoint/2010/main" val="5702025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7EA24-5CC5-4B7A-9172-0E095E1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F2 — EVIDENZ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66077-D187-4C18-AD9F-A111E15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 Bewertung mit niedriger Punktzahl Evidenz ·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D6611-C9CB-466E-9B56-50E55894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Anonymisierte Fälle · 06. Juni-03. Sep. 2026 · Auszüge verwenden gespeicherten Analysetext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1EA5F-0A77-4CAE-9B6F-16BD1D30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17424-ABBB-414A-BC9B-EE7AD16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CA414-2C5D-4019-8303-04DF0530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CE4A8-C432-4C63-9F43-4CDB2E81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D404-2BFB-4E08-8B8D-9BE54588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73769-8BD2-4545-978A-DFADB86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AL-ASSIEL-LS-004 · 2026-08-08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3542E-C464-445F-8C4B-C6A5A07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Buffet, Speisen, Speisenqualität, Speisenauswahl, Frische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57CF9-30C9-4118-800A-516090F0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“Wir waren zu zweit und bestellten das offene Buffet. Leider waren die Speisen furchtbar und sehr abgestanden. Kein einziges 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DABE3-4717-494B-8ED7-F4288A7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CACDC-2378-4F99-A16B-D0E958EB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98F75-4B36-4DAB-9DD7-D6B2B69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073B9-C9A9-403F-BBD2-4D0986EB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54717-12B9-4886-A2D3-D7433ABD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AL-ASSIEL-LS-005 · 2026-07-28 · 1★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D3AEB-AF03-4593-B774-DEEBE06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Speisen, Speisenqualität, Fleischqualität, Service, Aufmerksamkeit des Personals, Geschmack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0D595-7FC9-4BD8-9ED7-6865523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“Also Burger kam ohne Nachos. Bedienung war überfordert und unfreundlich. Getränke kamen nach der Vorspeise. Teller werden ni…”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BCDFB-B420-44C4-B154-A7761F4C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68797-436F-4B51-9388-D0E5BD7A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9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7A803-8E46-4D71-BC5F-9E60A2DB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5C244-4A7E-4AD3-A979-6A627B66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6F142-2C77-4022-9D9F-07B77AF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AL-ASSIEL-LS-006 · 2026-07-28 · 1★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62734-D21C-4F70-97C8-A4589197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Speisen, Speisenqualität, Frische,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1001F-9E7C-4BEB-A74E-C0F4677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“Wir haben hier u.a. Burger gegessen, der war leider verdorben. Am Nachbartisch das gleiche, aber der Inhaber hat bestritten …”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67E0E-47EF-4EB8-801E-DF35DE3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06142-CDF4-4129-8F40-5B0B7EA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</p:spTree>
    <p:extLst>
      <p:ext uri="{BB962C8B-B14F-4D97-AF65-F5344CB8AC3E}">
        <p14:creationId xmlns:p14="http://schemas.microsoft.com/office/powerpoint/2010/main" val="2009217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BC501-07B5-4AA4-9161-05A9EA0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F3 — EVIDENZ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770F8-B765-4E26-BE35-438F29A7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 Bewertung mit niedriger Punktzahl Evidenz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C6770-2E5B-454A-B702-6B62043C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Anonymisierte Fälle · 06. Juni-03. Sep. 2026 · Auszüge verwenden gespeicherten Analysetext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A3BE1-039B-42FB-B871-C54FCCC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0A11A-B404-406F-93C1-400DE639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E60F3-BA62-4222-8BD0-530DFF43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2B9A7-545F-464D-97C9-6B1993E5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6EB8B-75C2-4CA0-80EC-975B214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A1DD7-C393-4A11-8BB5-5C12788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AL-ASSIEL-LS-007 · 2026-07-01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D2C66-98A5-4954-BE11-726D0236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keine erkannt / uncertain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33703-D1DE-4A26-B72F-2D97DD6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“Die Atmosphäre war großartig, und der Service war ausgezeichnet und höflich. Das Essen war jedoch furchtbar. Das einzige sch…”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07D04-430A-4D19-882B-E6387C44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35F19-2EDD-4791-AC06-EB2CC7CD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686D8-DA9A-4129-A301-967FDE49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2FA93-196A-46A5-8329-E5815C8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E0C12-EAF6-4DDC-B16C-30FA9CA8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AL-ASSIEL-LS-008 · 2026-06-26 · 1★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383F3-EF53-4466-9DBB-8C65422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Geschmack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D06BC-A74E-42AC-AFCB-91BD0EA8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“Wir waren zu 4 da und haben Grillteller bestellt, das war leider garnicht gut, es hat uns nicht gefallen es war zu trocken k…”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4C6B3-0EB0-44C9-8BEA-EA2D4038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EB5DF-FC80-45B5-AF71-EACEFF33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9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B82C0-C46A-4745-B357-9DE07ECC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0537B-CE86-448B-BB32-F4ED0EA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5E865-BE86-4C6F-86B6-6CB3A38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AL-ASSIEL-LS-009 · 2026-06-13 · 1★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20ADD7-3F7A-4C7D-B51D-09EDE92D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Speisen, Geschmack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C0E4C-D91A-4F34-BC07-7271EF3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“Die Essen gefällt mir nicht.”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9DC39-9FD0-452A-884F-AC3DFA36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7E465-BC2E-47E9-99D8-496129E0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Originalbewertung öffnen →</a:t>
            </a:r>
          </a:p>
        </p:txBody>
      </p:sp>
    </p:spTree>
    <p:extLst>
      <p:ext uri="{BB962C8B-B14F-4D97-AF65-F5344CB8AC3E}">
        <p14:creationId xmlns:p14="http://schemas.microsoft.com/office/powerpoint/2010/main" val="20252973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16F788-06BA-4470-9D36-A7A1F7EF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F4 — EVIDENZ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A101D-B712-451A-80EA-1B0C8B2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 Bewertung mit niedriger Punktzahl Evidenz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57D1-5BDB-4F88-A991-1788512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Anonymisierte Fälle · 06. Juni-03. Sep. 2026 · Auszüge verwenden gespeicherten Analysetext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F84DE-5FC5-4083-B6E5-9971641F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4AAD0-FB15-4A6E-B8FC-6F610B63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A4F80-32D9-4B88-8558-886C8C4E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9752F-E60F-441F-8493-B868A42E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61FC8-3254-4628-9C19-16B9320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2B9F6-ED03-4FEB-A342-9C8787E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· OLIVENZWEIG-LS-003 · 2026-07-08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54633-6425-4C1B-BC04-39B7B5B2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Sauberkeit, Speisen, Speisenqualität, Preis-Leistungs-Verhältnis, Geschmack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D21FB-3045-428C-820F-9107358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“Leider war dies eine meiner schlechtesten Restauranterfahrungen. Das Essen war nicht richtig durchgegart, und auf den Teller…”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CAF6F-42B6-4146-BAD3-E9B39CB3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D5F57-3D1F-41FA-A82E-A310FBB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1A95F-927A-4A8E-88CD-99DF7B91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78953-5D5B-4665-8188-B9D85FEF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74B12-9995-4030-9DDC-856DD63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· OLIVENZWEIG-LS-005 · 2026-06-17 · 1★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DAB81-C1D6-40EB-BEDD-269C377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Geschmack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00F51-D075-46B5-B2B3-0FD4E6A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“Nicht lecker”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84748-82F3-4F52-B2B4-28B63338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F4A7B-22C0-44CE-B26F-30292E6C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AFBAE-F04A-4EE6-A9DB-57025889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4AC94-B0CE-4D7B-AEE6-1761371A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EEC66-7A7D-466F-B6C0-13C38946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· OLIVENZWEIG-LS-006 · 2026-06-17 · 2★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F8B91-0519-4592-B03A-B5F8BF32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Service, Wartezeit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6AFD3E-836B-45B0-8D49-DAC340C7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“Der Service war leider echt nicht gut. Hat ewig gedauert und war einfach nicht aufmerksam.”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7EFC5-A168-4913-822D-3DB3DF6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72A7F-E544-455D-AECE-F35BCDF4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530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</p:spTree>
    <p:extLst>
      <p:ext uri="{BB962C8B-B14F-4D97-AF65-F5344CB8AC3E}">
        <p14:creationId xmlns:p14="http://schemas.microsoft.com/office/powerpoint/2010/main" val="33489787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EDCBF-483D-48C8-926C-D74DE43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F5 — EVIDENZ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EDE5F-9908-4CA1-A680-496DA24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 Bewertung mit niedriger Punktzahl Evidenz ·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BD731-6DA8-48CE-9D71-1C4F83C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Anonymisierte Fälle · 06. Juni-03. Sep. 2026 · Auszüge verwenden gespeicherten Analysetext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3CA18-115B-4C9D-920D-C3370D0E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A77F5-83EE-4F3C-B4E3-C0DAA165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F5F92-DAD9-4D01-9ED9-5551A53C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2AC17-94D0-4C67-9374-D003790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B5DB4-37FC-4225-9FD8-B522AE15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E5652-0406-4D36-B6E4-992B027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AL-SAFA-LS-002 · 2026-08-31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7EFEE-AF49-48B8-963D-E2DDB9D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Speisen, Speisenqualität, Fleischqualität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91AB6-8085-428C-A02C-5A9126C4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“Der Laden bietet leider nichts Besonderes. Ich habe verschiedene Gerichte bestellt, darunter Döner und Kebab. Das Essen war 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EAED0-F8F1-4A60-AAA6-1D1553F9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F06A4-72C9-47AE-AC15-ACBC3B72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5D92B-1D90-476A-AD04-EE8CF63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CC1C5-27C1-49E5-9ECD-DE763EE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7DE67-C4E1-43C7-AD36-62A5F33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AL-SAFA-LS-006 · 2026-08-04 · 2★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61559-9639-4BB8-B5BF-1A273E0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Kartenzahlung, Frische, Preis-Leistungs-Verhältnis, Geschmack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1FB81-0C4C-4737-8131-947E60CB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“Nach 9 Jahre wieder da gewesen. Nachdem der Chef damals sich unbeliebt gemacht hat. Leider wieder enttäuscht. 2 x Dönertelle…”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1ED7A-E468-463A-A9DD-D01E02E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6227F-61CE-40EA-A5BA-35D003E7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05AE4-32A7-47E5-A77D-1062B97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7AD85-A398-4826-840E-02AAA6B1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D212D-FA92-44DE-ACDD-5CF1B8EC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AL-SAFA-LS-008 · 2026-07-19 · 2★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0062A-D34F-4932-B058-9B4AE06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7E1BF-E293-42BF-BC07-1C7A4B70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“Schlecht Service bedeutet weniger Umsatz .. Bitte an den Kunden !”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91BAB-F875-41C9-B6E0-E834584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B3018B-13F5-4A83-8626-31232997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530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</p:spTree>
    <p:extLst>
      <p:ext uri="{BB962C8B-B14F-4D97-AF65-F5344CB8AC3E}">
        <p14:creationId xmlns:p14="http://schemas.microsoft.com/office/powerpoint/2010/main" val="5516613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D8037-599D-42AA-8986-F802795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F6 — EVIDENZ NIEDRIGER BEWERTUNGEN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89C00-BF60-4CE2-BED9-01DACFC5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Aktuell Bewertung mit niedriger Punktzahl Evidenz ·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BB31F-D84A-44EA-91F1-953B4276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Anonymisierte Fälle · 06. Juni-03. Sep. 2026 · Auszüge verwenden gespeicherten Analysetext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46147-2467-4C9B-8177-9522B928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0E4EB-012C-462D-8591-369162C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F691F-B154-40A5-A4E5-2F439D3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FD8CC-8863-4AC8-9FE3-CC07713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D1C6C-2653-4CE8-B823-32A74B0B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3C69F-5BE4-4D2C-99FB-F8013F0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AL-SAFA-LS-010 · 2026-07-08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02601-7980-4D5D-B6BA-1F53C48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Sauberkeit, Speisenqualität, Preis-Leistungs-Verhältnis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F770E-2EA8-4276-82BD-2E71BF52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“Das schlechteste Restaurant, das ich je besucht habe. Nicht durchgegartes Essen, mehrere Fliegen auf dem Teller und völlig ü…”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8A7C5-0D5B-4928-BFD3-577C1CD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516F-B586-4DDA-BA74-51C09667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0D537-8F05-48E8-ABB9-FB41881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A343B-4C0F-4B4F-9544-3AF09347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5BA5B-83A9-436A-A079-5B71220F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AL-SAFA-LS-011 · 2026-06-29 · 2★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63776-2F3D-41F6-811C-9D73368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Freundlichkeit des Personals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348BD-DF04-4EA5-B47B-9343F75C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“Ich bin Stammkunde im Al Safa und komme häufig mit meiner Familie. Ein Mitarbeiter hinter der Theke verhält sich mir gegenüb…”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D6DFF-F08A-41EF-BAC1-D1A160B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Inhaberantwort: nein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C65A7-EFE2-4B2A-BF1C-3DBAC5F7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Link zur Originalbewertung in den Quelldaten nicht verfügbar</a:t>
            </a:r>
          </a:p>
        </p:txBody>
      </p:sp>
    </p:spTree>
    <p:extLst>
      <p:ext uri="{BB962C8B-B14F-4D97-AF65-F5344CB8AC3E}">
        <p14:creationId xmlns:p14="http://schemas.microsoft.com/office/powerpoint/2010/main" val="169145109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004C1-9737-4AA0-A125-3EADFB0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G — SERVICEEVIDENZ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ACFDD-6D2D-4AF6-9276-C7171A8E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Themenevidenz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E055A-45A8-45FC-9E41-C39B27C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Letzte 90 Tage · Nennungen / positiv / negativ / neutral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C6F60-6DD1-4B17-A840-39A16F42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4E3B-1A0C-469F-B1D4-959431C8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9D743-796C-495D-AF7C-1F1EFB7E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9F515-8562-4DF4-AA6E-C04CC659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5AC5B-C168-4225-8F37-545BBEA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B9835-3832-4B50-9FEA-1959222D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7E8DD-B88B-4A43-898D-C6B6C321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811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61DEB-21DE-4FD4-BE71-E7104795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AD1F0-9B5E-4F5A-B4A1-968317D9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811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011DD-54F7-4E7B-AFAB-E3D3F7B2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C9A9C-388D-4F40-A5CF-AB69014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7C484-05CA-43BF-8E11-C17C4FB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7BC3E-D715-4A6F-A90E-2C9D613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7811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B615A-887F-401F-8A21-E5D51527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ACA5E-C6B7-4774-96E3-88DA2A6A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81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0E7E8-BEB6-4784-9F3D-630292B8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43AE5-21A2-4199-9170-A646A40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811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7E7E8-10D8-45FE-8BE6-042BF361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241FB-D5A9-4A33-BCF0-970D441D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621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D13D0-4EAD-4703-A733-F3E54051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145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E1DBC-C3A2-47AD-9D14-6E5CD2F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621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CC736-1E7A-452C-A227-F037A534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14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38D6C-D4B9-4458-AA05-1A3F838D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621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3C655-7717-42A9-8392-E1A11695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243CC-D8D9-43B1-8A13-818753E4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621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3A8FE-8038-4123-8EDC-34F0CCE6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14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3D5978-61D2-4244-A478-7AF6C43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621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1415F-A02C-42AA-B6EE-2A7FBC62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14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29387-F751-4EFF-B8F6-CECCD1F5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621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0EF380-C720-480C-A6FE-7F1B822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BD092-B01C-4200-8436-11199F9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621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C1A8C4-9025-4065-B45C-E209030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94E1F-53F6-4520-9433-D2B6ABF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812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7F2CE4-B6A8-4D42-A215-3007748E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2EA671-AC86-4687-B14D-F23E4003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812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7CEE50-5464-4EAB-813F-3F0914C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336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BF2341-7A91-4F8B-8600-7FD5476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5812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15C982-046E-4409-A951-A2DD15A4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336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DC4849-D0E7-4475-B225-40CEA5A6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812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6C9BC8-8B27-4E61-A781-6A4D8B2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0ACC6A-EAC1-4855-9B25-8BB219EB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812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F27882-720A-46FF-8C46-62F2C70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336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161196-0630-47AD-9314-92E9E22E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812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C370A9-F8F2-47AC-9110-9DA25B2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57B05A-64EB-470A-896C-A53256E8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812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2CA4AC-2ACE-4825-88EA-94465A6E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E6A0CB-62C5-4297-92FF-7CB721DE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CA2511-927A-4869-8078-08A1619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52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1F78DD-6A45-4047-A216-34E8F954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003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08E6B5-A3F3-4BF4-856B-B55652AB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19C592-8CFA-4F37-9A1E-93EEB28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003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2B1B18-B6E1-47E4-87F7-551B47C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527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64DBCB-2E46-4FFD-8470-CD7B5ACA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003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0E89D1-2692-4FF8-A00B-FCD85836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527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BDEABC-766E-4953-AE1E-BF57151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3F3638-432B-4E53-9A6C-AAEF9EFA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7D7561-DF85-45FC-8A77-13C97237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003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3F857C-E813-4146-B31B-A3B5188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5BC928-3257-47ED-87D8-D55B4F6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C787C8-F1B9-4113-A249-8AF8AA2A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4D241D-869E-465B-827C-3169C64C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ADBEC6-72FA-4BF3-BCB4-36284EE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718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5C7267-B426-4DC9-9CA0-38F8F9E8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194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Freundlichkeit des Personals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701767-E9EE-4BC3-B092-E61E74C2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718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8340BB-1086-4CAE-B9FD-4B8EE3F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4194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D25146-D50C-4D35-A197-3EDF536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718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CB8140-DD16-4300-AA55-E617F73F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194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404DA0-CB52-4388-A523-2820F578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566339-2DA8-419D-9494-850D8B9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194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A470D9-407B-4B03-869B-50CF4766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37489E-0896-4165-B8CB-F49352BB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194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CFAA33-738F-4708-8345-40E6E15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71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0604D1-B451-4495-9E2F-66B792A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194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730FA2-E5C6-4344-AD9C-65C570BB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4F8F915-D130-4E75-AA08-2C91B5C3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7F7B58-EC0C-47C0-95BA-11B57C5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909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95F690-BF91-49C7-A3EB-AC3A9066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385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Aufmerksamkeit des Personals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CC063C-F2DD-4A37-8FDC-4C679A26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909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362F0D-FD68-4697-BEA5-4515BBA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385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156626-341C-4ACA-9742-474CFBA0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909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0EAD92-CB97-4310-AD09-6D426B1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385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A8C5A9E-21D1-4381-A910-0F416FCD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909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8AB9A79-6934-4C8C-811F-D996C300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385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D758530-F83E-4B95-B768-563A3201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909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41BE3C6-8FD1-42EA-A1F3-743E65F4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385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7C9EEEC-A046-435E-B16F-830BB95B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90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987705-0E92-4D55-BF67-E12F0320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385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5E8DB34-A1CF-4D38-B8A9-56722C13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7AE6ED0-89EE-4079-B51B-BCBC1AAF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F33207-0CB5-4E8C-B53E-393F3ED3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00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5D50DCA-81CD-4010-897D-53A71B2A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576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Aufmerksamkeit des Personals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0E0136-DDEC-47A2-8D27-EEDC956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00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0EEEDA-D36F-4211-949D-4F4EE078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2576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D4B3D5-E4E5-4E13-9469-50954CE5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00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1F90266-AF86-4D9F-962B-563A3024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576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F22EA2D-5031-4F51-A7D3-31CD774A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100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EB72FF-A6FD-4379-99FB-9F53A690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576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D585C0-0D10-40DA-88E1-BE74FC20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308F9F-E81D-46E1-8268-9798477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576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09634C2-CA05-4064-9103-834080BB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0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2899B38-B422-46B3-B426-33FB125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576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CD44B5-5171-4040-A635-CCD1F11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FBF6BF-D603-4C2B-8110-2666F4E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9893F74-507F-48DE-9663-D0276E0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291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025BD0-0ABA-4ED2-8122-BF9E1473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6767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Kommunikation des Personals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2898EED-5FF3-4F18-A86B-80E199B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F7E258-4008-4978-BB97-EADFECD8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67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43E37F-F445-4D71-A79B-C51647AC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291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CFAA1B8-B5E0-471A-AA0E-28D72B1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7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C5B8AD3-C125-48FE-A8B9-32E123A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291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B997DDA-FAD3-4FFA-973B-5347EF13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7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4335CD8-BDBB-4FBB-A8C2-A0582BFE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291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605C1C-C399-4C0C-99E5-B0F76F89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767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61DABFD-F1A9-4BD2-A84F-E3E2426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69B9FE4-2B64-4358-9398-3A71295F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767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C617D79-CEC4-43D8-9476-21DD8886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57356F-3721-4F1D-B56C-68EECAC3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958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840E63-A544-4B6E-92B3-3D984E58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482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FECEAD6-8C4E-479E-B087-71E025EE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0958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Wartezeit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842F67A-F6D5-481B-9CE6-2688C6B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48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9DC78C-4067-404D-98BA-3840E6E1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0958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9C47CC5-B232-455A-87C1-F841F68B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8060269-FCB3-4ABB-97FF-6D79429F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958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E390AAB-E885-440E-ACF5-D841C3DA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48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C5E69A7-921C-40C0-9D68-50A48002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0958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5EF7825-10C7-413D-B4CE-542EACA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482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04F930C-8308-4903-9DD0-57D56CC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958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9A21EB6-86C6-4D9A-BEEF-131E9304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48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C23A1E6-59E0-4ACB-B722-87EB72B3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958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3C9D0AF-5EB8-4002-92EB-4493B7B3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AE7D7DD-C31F-4744-89A0-3A33950C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149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FC3557-1D09-444C-8A94-4545BB7D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67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2F41520-EF3C-44AE-A026-07A4441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149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Wartezeit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C32223A-35E5-4E07-9D87-3AC8747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67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61D0828-46CD-4003-A566-2DBF8411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5149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0C8B50E-405D-47A1-B233-9D861139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6B4B9B9-4960-498C-8E5C-CD5D3B8B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5149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1EBA2D2-710D-4F38-9D52-F8E4616E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467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6EA67B1-C0CE-47FB-BA04-7F4F7538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149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ABE6622-4F21-4102-B764-4EE6F977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673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F4A3FAE-26E6-4DA1-9812-6958178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5149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39AFECB-18E2-4D49-AC61-8EB2D55B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67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5B89426-FC19-4DDE-9F3F-63FE27C5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149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</p:spTree>
    <p:extLst>
      <p:ext uri="{BB962C8B-B14F-4D97-AF65-F5344CB8AC3E}">
        <p14:creationId xmlns:p14="http://schemas.microsoft.com/office/powerpoint/2010/main" val="186790152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2601B-4BCC-4B1C-8C90-10ED6A5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H — EVIDENZ SPEISEN / GESCHMACK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9F81A-39D5-48C3-A9EB-E0F6079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Themenevidenz Speisen &amp; Geschmack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272E3-5BCE-4269-853E-CD804FDC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Letzte 90 Tage · höchste negative Anzahlen dargestellt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AAFB4-C25B-4C74-85FB-26139A1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35CB5-AA3F-477C-B131-F212CA4C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67003-4B0B-4DAC-A8D5-F10D6DC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1D9FB-7AAA-497C-ACC8-079E4CE6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86828-7A79-49F7-BFA2-71EFDB6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78117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C91B6-1298-48F6-AF67-64FF12B1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D3101-645E-4AC8-8CED-B7E8907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811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DBE73-A690-419F-BA02-CFAB89C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53F2F-3123-4BD1-AC78-65BA216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81175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1BE33-9046-4B76-AEF8-54261409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B86E9-0D39-4B12-B761-B883E50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6C3BD-FE58-4096-9911-41974A3F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1CB58-1975-45A3-B0B1-83116A1B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81175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27CE0-4088-41DA-BD95-153F7DE9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2FB6E-427C-4C80-AD84-57B737D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811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 Anteil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409DA-1207-4199-8D7F-78262CA4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B2F27-0B6A-4511-B049-0A54D225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811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903E8-68EA-43B3-8CDB-9BE84B4F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145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4EAAD-3732-4C36-953A-FEB7DBD1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621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989C4-E900-4BD7-9954-365B701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03AC5-1148-4D8E-A601-E7262027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621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49E15-55DF-43CB-B140-2FA0BFC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8DA02-ED90-4520-8FC3-A5D3C31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621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8F1C7E-EC53-4CC7-B900-D7BA1788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E69EBE-36F7-4479-8463-FF29E599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621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EF1A9-91AE-4AA1-A83C-3A901818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8B7345-2F8C-4556-B674-218875B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621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404529-EC5C-4B84-98EF-28434C6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145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143C9-1E0B-4C88-AF73-F49B2C9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621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29.4%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CEEEA-31F1-4D4C-91AC-3F5926B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B554CF-2DF9-42F4-A803-986304C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621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A1DB7-DBEF-4937-86DD-4E345CF7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5631D-99C7-4A2B-8CBC-699DD952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812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15A79D-E213-4A9E-8B19-549A92EC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9EDFF-5D5E-4D07-888C-3ACD8A3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812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D82C16-551C-4F62-98FF-2681A306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69B22-884F-48DE-908A-637E9247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812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1A3423-68F8-48CC-8F08-67E7040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336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6898B1-8FD5-4D4C-8097-0851152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812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BF0978-FCC0-4BD6-8298-B634591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2493F3-F825-4193-BD8A-B4B7F611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812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6E78BF-2C28-4DB3-B192-5678996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F55DDF-A40C-4682-972C-CC0F4F2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812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5F215D-CEBD-4BFD-80CF-56F86FF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91D746-80F7-4DFB-B41F-DA3D46F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812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67A2AF-F3FE-4DA5-99CB-01F5C7B0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0645C8-60E7-41D1-9244-A7318BC1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003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503FD7-DD45-477B-B8AC-F28A83F0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2050DF-6F62-4EE6-B499-728648FF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03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Speisenqualität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740807-3B03-4377-B75D-8C6C80BB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1D33A8-F1D7-4C75-8540-5B68DD20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03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CA5B52-E47A-4D39-8998-10747602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527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4498F0-7FBF-49D1-8FBB-FE80788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003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1F6B56-681F-4CEF-A3F0-35F1A253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356D0C-BB70-4155-B049-BE31394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64C292-7D00-4396-9C6D-774AE6C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FCDF20-095F-479F-ACDF-D5C1863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003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B70936-3A18-443D-8152-FBDCFC5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2416DF-F78E-4AE4-AF15-9CFFE3B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1CEFE8-42F8-44D8-9905-596099C6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718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05856C-408C-4EB3-8B1C-880DB20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194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81FF8E-A0B2-4A86-9F65-EFE6A70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633FCB-C234-4AA1-98BA-7E4B9593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194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Speisenqualität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36E2DD-FA1D-43FF-81A7-940A4457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D6424B-5B00-436F-80DD-C4086E5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194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287864-E258-45DC-B86C-94B03770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718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3C4730-B48B-4D8C-873B-1B1DA4A8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194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E8D431-1D28-44B7-B3A9-085A3D1B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6CFA95-CD5F-40FE-B118-8FBAAC4D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194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203A94-3542-414F-876C-C025206B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718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115D65-E35E-4497-87E7-1CC4325B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194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75.0%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056F87-647E-4459-BCAA-E2F0477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71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33DBBC-35D8-4263-9349-FB148EFB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194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9D949F-EEC1-4F1C-8FD3-C0BAD99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909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4AE550-C1D2-4BCF-B1BD-569E82D6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385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2CC0AB-5532-4584-9A5B-F687BF3E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1BEC58F-8A2E-4E8A-A6FF-D15B754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385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6A1537-57C5-4871-9376-41D03019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7D0614E-6FC1-4FBE-ACAB-2F2370CE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385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B1FBA2F-FB38-457D-8D31-37354ED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909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54D570-EB3D-4552-88EF-2E5B92A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385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656AC9-F0E2-4D44-8C57-6F41929A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18756C-1DCA-4EE0-8BC7-FBA42E48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385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1BE3F7D-67B5-47BD-B215-2E680B2D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909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D512BAC-E14D-4707-A8C9-F597E5F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385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10.5%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DBFA733-8FBB-4043-A939-D3CD154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90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CC7097-3793-4787-AE57-31058D6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385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8DE4B3-FFA1-42B9-B48A-F698CDC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00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56919A-B3A5-4DDC-88DC-E3C316D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576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84BF51-377C-4B89-B5EF-51BF06D6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863BA22-BFD7-47A7-80C3-323D9C3A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576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Frische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9B5E5F-CEF2-4AA5-85F1-E428D47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E823AFB-2BD1-4193-AA3D-1BC8F718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576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23BF039-C8E3-4B8E-9D86-644F14A4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00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3C4CAE3-724A-4DDC-B1C0-D173292E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576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0EB52F-0188-4A6A-9502-A29F5568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F6A1C1A-9191-4600-BCD0-0925A808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576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050E4A-A9A7-433A-B973-121C31F1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100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D1DCBA-4FCE-4CF7-B94F-2F00C7C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2576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5AD8EC-FD9F-4EAE-8E3D-0C59A22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0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8060E12-6801-4D3F-9509-ED55729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576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85DC228-6127-4391-8E06-0699B571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291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324ED9-68B1-469E-9E7B-A7C5A25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767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9E2F03-07B7-422B-BD85-602B55F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291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D0B204-1AAC-4517-BCE1-CDD06382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767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49B144-A9C2-4464-AE0F-A3E5DA4C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7F097A-9DCB-414E-8CB3-258329E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767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0260D82-D9F7-40B3-AADB-CDB53007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291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8A8A9C9-B507-4DE1-8E9F-52AAAD2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767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F33B6EA-A90E-4E4D-990A-333094F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0284D83-026A-4757-A5B4-19B79B7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767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3837D12-464A-4B70-B4CD-8C77262D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291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1C4214E-D8A4-44C3-A78A-C338BCD8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767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3.2%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737969A-98F5-4D6D-AC64-9B34457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154143-2A7D-478C-83BB-7A820F63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767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B41827E-EBBF-41BA-92A0-FE1FF68B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482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2B5C5DB-4D38-45DC-97B9-CDA3A033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0958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F14C274-DA47-4EF2-BFCE-FD55B248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C12BC77-0ED0-4503-B4AA-1017A86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958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Geschmack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EB8D06B-4843-41FF-8638-2ADBBEF8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DF46AEC-32B6-4C19-B70F-B84AB5E8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958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F4F57B-DE64-4A91-864F-03C4FF00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452E9EC-B91F-470C-A599-210B4512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958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ECBE4D-8C41-4D25-809E-98E9135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7A42BD-E9A8-4CAC-A6CF-8C12C67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958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6DB83D0-DF00-45D2-A371-DD695717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847F37B-F358-46F0-8AD1-E8CAAB80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958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5CBC898-1E8B-4E1E-92D5-11510A2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48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F50D50C-2D5E-47F1-87DB-097F9C0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958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97CB0C8-9081-4BD6-97F6-1C17CB1C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673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B3B9EEB-2FAC-41B7-B5FF-C375F15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5149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7959CD-F590-49E3-8B9F-CA23E36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673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AF6CF4-3854-41F4-AC72-D21F86B3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149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215CB3C-97C2-4943-9E73-39FEF7BB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673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82826E8-6A6C-4497-ABCC-416D932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149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B167309-1851-4DB6-BA54-308F7EE5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F14A7AD-5CE2-4EFF-8817-6F122E0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5149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95D5113-C493-4054-B62A-30C96EDF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1266D5B-67CB-4396-8D89-BDED888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149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F4FD33D-83FB-4777-931A-D77CA595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673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6362E66-3B4C-481D-87AA-0399A63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5149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4.3%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25B9A0D-E6AA-4464-890B-EC965AE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67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A0A1D6-3173-4464-8045-09039270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149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</p:spTree>
    <p:extLst>
      <p:ext uri="{BB962C8B-B14F-4D97-AF65-F5344CB8AC3E}">
        <p14:creationId xmlns:p14="http://schemas.microsoft.com/office/powerpoint/2010/main" val="156227497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132A4-15D5-4B6E-BE8C-FC4EAA8C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I — EVIDENZ PREIS / LEISTUNG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9956-2FBC-4269-B58B-3767F35F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Evidenz Preis-Leistung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2E910-E51B-46F6-9CD0-F81A14FD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Letzte 90 Tage · Sentiment und Kartenpreise bleiben getrennt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8112F-2AC0-4241-A88E-A6C56DA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CE11A-B708-4E5D-A797-92F4ABB3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97BD8-6505-41AA-9E9B-AC9C8CD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3C0B1-0D5B-4990-8D68-31114476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8D52D-59AF-4B00-8280-00DC2DC9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145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E3B3F-6CAF-4813-A489-7E18B1B2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EF27D-D23F-4E97-8263-23F238FC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7A011-CC15-4450-BFBC-F65881F9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1F702-6599-48F8-9F94-CCC5D3D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66539-B808-4888-BC4C-C1F619A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18496-5619-4769-91F8-1D2EB46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7D95D-7D84-48AC-92B0-4E49380F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049FD-F71E-4E97-BDE7-03AB1B93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8993D-F360-4149-9323-2037CF0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B041C-3179-4B3B-80FA-E0A00B3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Anteil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A8A59-D1B6-400B-AD62-329D9F1F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3392F-620D-409B-9DBC-5095944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 Anteil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DCCAD-71EB-4028-98FB-53943634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D4337-F6FD-4809-B2CF-16766E6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BAD8B-C9F8-4C80-B9DF-202AD667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D8DEE-9190-4908-91DE-2AC008D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955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61CD9-2AAC-4294-BFF8-CBC9F37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728EA-9559-459A-886E-6E545098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A2979-5559-45F6-9094-AC03C103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4E99C-7A0B-45FB-935A-04A82F78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2BD0E-65E3-451A-B45A-6FC5DF03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73057-839C-4A74-9E61-C295DAAA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9BB5D-7DA3-4EB5-B495-4D2AA63F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ED8BD-E6EA-46BC-BC17-DDEA9680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C86A8-9FF3-4B51-81DB-0393B3E8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273587-E9E2-4F9E-9889-6EDF0C84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07C452-CEDD-4B6D-BD21-20F12D3F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07B4D1-C177-48B8-B6E5-333A7AB1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2572F-84A5-47B2-A74B-5C24C4AE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C36088-D0BE-44F8-8C4E-89E2850F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E3A8C4-4387-4CF2-A615-F6D75688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D95950-EEB9-4A76-83A5-A0AB50BB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861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A4F44-7366-4EB5-85D6-6D28C6B8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2CAE25-53B6-4FB8-B1B2-944234E2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AA69D7-1E09-4DAD-9D04-72D0E8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81D9D1-7027-4540-A05A-B7CD884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BE91EF-9E73-47F3-B95C-12050CA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0477EA-E913-4869-BFF0-D2DB4ECC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2403B3-094C-44E6-A9C5-B85F30B0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F00EA4-4FB9-4B5A-8A1D-9550F5B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C2D62B-301D-4C24-86D4-7F6DF5E8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866D22-D957-47B3-B190-F9C2910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992FFF-D9F9-4B2F-966C-7A54257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810B40-0B32-4D5A-8491-44C5673A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EC111F-3D6E-4D47-9780-9605CB4B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6EAE8F-BA23-43C7-AABD-DB34C543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4632BB-9EDD-4144-88E0-4E6E7B67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8A8099-F639-4947-A567-BD7ABD1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766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F435C4-1719-4FF0-B86E-2169DA77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8A2FB2-2918-4DCF-A66E-DA4C68C9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24D96D-FBB1-441C-9C7E-38A0808E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8858A6-8DCA-4CBB-9B54-AE2507E1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F4C854-8F80-4299-98DF-042826E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51B311-5271-404E-B970-8DB9891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A4AAD9-3335-4629-9684-3BB7BF87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24A65D-C472-4488-81B5-469B170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F97EC34-6F43-4179-AF97-6C8DEF16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907071-DC97-45C5-98C7-EC575AEA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C93B57-57CB-43CE-B71F-A6AA9F2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93470D-42FC-42ED-95C4-232C9CD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37.5%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03CC39-46CF-4A29-A313-7491F64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4BF075-2280-425A-9EE6-A10FE4C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DEBF4A-36B6-4590-B49E-1D96CE37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95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31D4B4-B4AC-462E-BCCB-67C785EE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672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8C741F-7947-4CA8-8D0E-C89F3B6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1718E6-491B-4D33-8FD0-0AF30F0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C3C940-113B-469E-BD2C-9006462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970EFA-8FAC-4C52-90A9-FAE22D28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783FDE-DEA3-426C-8819-D6B6D9C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BD994D-7AFC-4153-BA47-B54072F8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1B88F8-9100-4741-A278-A97973AE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6E543A-58CF-4F3C-A4CB-3BCD3C3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AD2E75-D841-4740-9F10-592C3D08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C2223A-6699-4133-9676-5D32E5BD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668A98-0B08-49C2-B8F8-71507E8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E2F0F5-56B3-453D-B80F-971E883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BC7C77-7C82-4EE4-A11E-4E1C7C29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9DB7A8-C6A3-42BC-9538-FC019B6E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E627AA-460F-4E0D-BB03-DCFC11AD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EE103D-DF48-402E-8D78-C047ED5E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E724A0-F95C-4A3A-9F88-295A1575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Niedrigeren Preis nicht mit besserem Wert gleichsetzen. Preisbeobachtungen tragen Quelldatum und Zuordnungsqualität in Anhang N.</a:t>
            </a:r>
          </a:p>
        </p:txBody>
      </p:sp>
    </p:spTree>
    <p:extLst>
      <p:ext uri="{BB962C8B-B14F-4D97-AF65-F5344CB8AC3E}">
        <p14:creationId xmlns:p14="http://schemas.microsoft.com/office/powerpoint/2010/main" val="154390128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BA10B0-CC68-4B49-A10F-C46B642F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J — GETRÄNKEEVIDENZ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AF88A-59D6-47BE-A76D-0E8F5799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Evidenz Getränke / 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1B2C7-3B58-43B6-B483-14A4236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Kartenanzahlen, Bewertungsaufmerksamkeit und aktuelles Sentiment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FCF0C-9AEC-427B-B8D3-7DADBC9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461C1-DC5B-4E13-B09D-90C93BAA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0418B-35D1-479F-B473-EF5F068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6EDC7-4612-49D7-8DC4-C5EE01FA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C7CC3-EC77-4B52-8636-2CD6932E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7BD3B-8B3E-46A0-9444-D57E4B82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14FE1-4304-4E84-A481-537D9829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Kartenartikel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14ECC-EB0C-4B90-B33B-683A0B91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677D7-4620-4E77-83AF-B4644D4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Aufmerksamkeit gesamt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561BE-BFC3-4B32-86B3-30475307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EDCD7-EE1E-4DF2-8396-D2C44CD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Aktuelles 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3D50F-4EA0-457D-9E96-9AF36528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75495-1E1A-45E9-9F00-B88BD72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E780A-ABAC-459A-BA4F-73ED156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E6182-86C4-4DAA-8100-2D3AA9B6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AE449-D883-4297-8499-6F956CC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A04A3-D4F1-4107-AB03-9191928E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4B07B-B8B8-4FCC-8F49-84F96496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4DBD7-49E2-4B9F-BCAB-61D2E63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79D32-2777-4850-99A8-AA92160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CB9AB-474F-4A99-A6EB-4521D59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92163-0027-434F-B875-59F840C3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479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8C77D-257C-45D9-9108-72C9CAA4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840FA-CB9B-4467-A9F5-0D7FD6B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B335B-C212-4D41-9EF9-367282DE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55C5C-923D-4431-986A-2D467E9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A7A57-6068-4C6F-BCFB-F1247C8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F2CAC2-115A-4A71-B1D1-1F347570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01102C-D540-456B-B6D9-42596D0B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87587-E102-4795-BA82-49F8F996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B5B74F-CB4F-4E43-BAA2-660CD3AB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DF8FA1-005F-43E4-BCCE-1BAAE81D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D789B-8F5C-4599-9951-5BF5598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EB7A3B-93F8-4D5C-924B-1D8798C2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C1E491-4698-4FB1-BD10-F1180DB5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1601FD-88C2-4717-941F-58DF017E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283F4-537E-42FA-968B-4CA30668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DE503E-E27D-4E1D-AE81-5D16FFD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8733B7-64C2-46B6-92BD-2B78FAEF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FFBFE9-A2AF-49D4-852E-0BA1A88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ACF91-62CB-495F-B341-AF3651C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18FB05-D02D-4FC0-93C7-D5413D1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F56DF8-962B-45EC-8D0D-282C664B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393BA7-60C5-41B5-BA7B-99A49684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3E48BD-4D1A-4880-A121-3416C1CC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E242D7-91BF-4F86-B909-24389FF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3959E9-B22C-43C4-90F2-8433384C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91B792-4497-4AE6-957E-8AC79C30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7C55D5-B8F9-43F6-976C-C086C67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5B79FE-1980-410D-875E-1B71A3D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290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DB43FC-29DF-407A-A2E6-90CCB94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2CB605-DE60-4365-9303-78F3A45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A5708B-91F6-4EBE-9BAD-09CA7F9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0008C2-7C96-4747-9414-95A233A5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592409-3309-48AC-943A-81FC00E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CC925A-8799-4AFF-9A91-B2AE66CF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678928-35ED-4262-A289-DFB5C8E4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AADD5D-1257-4F80-AFCA-B5A0CA5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D239E2-379B-40ED-8314-10C75872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keine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CE2047-C32E-470D-BB53-24398A4C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DE0A5D-0FA1-45F0-8AE5-D976B68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9353A6-9401-401E-BA7B-34ACDE1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E32D43-029D-49A3-91E5-1410A6D7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EB6B9B-7039-4681-B5FD-0D31B48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95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54A0AC-FBE6-484A-AD5C-7FA430CD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D53264-BECA-46F0-A756-D393B60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13F312-68B5-4713-B04D-32CA897E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7EBF85-2146-4313-B294-5503D46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7BBE81-22DA-49BC-8176-B865B8A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2EAEB7-9B62-4D06-9E07-4AE1950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9ECB27-FAD3-4BFB-A068-3F17708D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212151-EBDE-458C-B91A-CF7417CA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A5F098-9BA1-4ADE-AFDB-A09EEFB4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keine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701EA6-353E-44BC-813B-5F0E690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C8FA84-1125-40E4-AC3E-E6362F5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16140D-D0B2-4428-9531-460C0F9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Validierte Al-Assiel-Anzahl: 34 Getränke-/Barartikel - nicht 33. Bewertungsaufmerksamkeit sind keine Verkaufs- oder Bestelldaten.</a:t>
            </a:r>
          </a:p>
        </p:txBody>
      </p:sp>
    </p:spTree>
    <p:extLst>
      <p:ext uri="{BB962C8B-B14F-4D97-AF65-F5344CB8AC3E}">
        <p14:creationId xmlns:p14="http://schemas.microsoft.com/office/powerpoint/2010/main" val="77068387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8EF86-C39B-49D0-AB48-D41C37C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K — SPEISEKARTENNORMALISIERUNG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A6D3F-FF5F-431B-ABEE-17182A3B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Entscheidungen zur Kartennormalisierung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D53DD-A15B-47F0-A6E1-63CA5B3F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Primäre gegenüber überlappenden Gruppen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75DCD-3F65-4E78-9649-F1C46EAF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808EA-E65A-4A38-9C95-242E2843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E60F-60D5-448E-9D8A-EDB4098F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650A9-1AEC-48FB-9564-AEB4EB37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3F6DD-CDED-4230-B41F-08E95B95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BA046-73A0-4190-8AB2-80E231FD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4FFE-FA4E-4B30-B05B-621C9127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669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Quellkategorie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3BC14-A962-45AE-BF3B-7CCDC11F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2DF42-6D78-4FA1-83E1-F8D4AABD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669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Normalisiert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7A163-84F1-472A-BAFA-9ABE555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E7B9C-C350-49EB-AB40-C66AF026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117DA-B26F-4CE0-A19A-35FF1E86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D0296-23A3-430B-91F3-96EB1B0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669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Managementhinweis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5E46E-A74D-44F7-921F-4EC1F587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A86CA-F186-49E0-BDA5-F0367C7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479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1F9D1-E1B3-4F31-A73F-EA685A0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0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081F4-56AC-4D82-BF23-C15E81E1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479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Zusätzliche Beilagen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55F17-AEBF-4BB4-B5FB-20C2E3A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D0AFE-31CE-4ADF-832F-9BB75A2B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Beilagen (5)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75A06-2DA8-4CA7-B5D7-50FEC47E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29BF7-5C19-40D8-8002-7F2C3524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Primärgruppe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69875-260D-4CB8-BF23-D21D073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9A6A8-2C4C-4B78-886A-D36ACF65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479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 als sonstige Hauptgerichte dargestellt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93C82-1334-4C09-9A88-32BC9E0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099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265D6-CE34-47F0-816E-2B42658A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575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2C796-ED8C-44B8-8421-993D98B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31E90-63A8-43C2-9C16-07E0868F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575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Kinder &amp; Desserts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5F42E8-1B8D-4225-A0FA-8FF4909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5B9EE-AE33-4655-8F6C-35DCC804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Desserts (2); Kinder (1)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59C42-3336-4594-8C1A-6AF9B55C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6C39F-6948-4071-9B57-B0CACEC9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575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Artikelebene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82F8BD-3C97-40FB-883D-7BD736ED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3810A0-398C-4D77-A00F-2B6C7BAA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575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Artikel nach Typ getrennt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B0ABFA-B030-4FB3-9B65-52C2320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1954BC-AA04-455C-9710-B4959B83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671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3BF085-8145-413B-831A-B25FAB60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48C793-26C5-4C5B-9C85-8CD404D0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Grill &amp; Hauptgerichte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426C42-D18D-43E8-AEF4-CF6820D6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3D2E01-FABB-4298-9110-30B52DC6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671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Grill / Fleischhauptgerichte (8)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409CD8-4846-4476-B5AE-62FAFCB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663351-AA19-43C5-9F2E-CF40025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671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Artikelebene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83651C-5106-4CE2-9991-E60C9392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B15942-8C58-4B81-8DCC-208311A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671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doppelt als sonstige Hauptgerichte gezählt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18DEB3-0C65-4EA7-82ED-4B16A3D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291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E9A5C8-35FA-4ED1-87B1-101AA2E7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767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A64A3C-F6F0-4C93-A861-15A2359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75F7A8-03F4-435F-91B8-B511AEB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767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Geteilte Gerichte / Vegetarisch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8FEAEB-30D3-4AFE-9A9D-A0937E6C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9C3D12-511F-4179-9FEF-328B6B7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Attributgruppen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827734-9F55-489A-99F6-C983FAAD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279713-823A-462C-8781-B9E1B7DD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überlappend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943963-EBE9-4A80-8DED-B7767B1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EC1B36-0229-432E-83B5-6DB60F90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767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Anzahlen dürfen nicht summiert werden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BF7D8A-14E7-4C2D-824E-2AF2404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347A36-6BCF-4DCB-A9E9-E39EC27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CAC735-154C-4C4F-86FA-A6D2B85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998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Jede ursprüngliche Quellkategorie bleibt gespeichert. Die Darstellungsnormalisierung verhindert, dass Beilagen oder geteilte Quellbezeichnungen wie zusätzliches Hauptgerichtinventar wirken.</a:t>
            </a:r>
          </a:p>
        </p:txBody>
      </p:sp>
    </p:spTree>
    <p:extLst>
      <p:ext uri="{BB962C8B-B14F-4D97-AF65-F5344CB8AC3E}">
        <p14:creationId xmlns:p14="http://schemas.microsoft.com/office/powerpoint/2010/main" val="141581056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EB02B-2523-412F-B2CF-5295D7B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L — GERICHTSSIGNALE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79C4B-F34D-4FD9-9056-734D787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Details zu Gerichte-/Favoritensignalen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7569C-48D7-489F-BD93-6904B98B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Meistdiskutierter Artikel je Restaurant; Aufmerksamkeit ist kein Absatz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59163-3086-49AA-BA12-0CDE6FA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2B588-415A-4382-9F83-8098D00F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BC517-E9EF-4018-A8B3-AF8CA784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9C341-8198-47E1-8F4E-8356EE8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CE8C0-FA2E-4233-8500-1783FC4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145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6ADB3-F3EA-427C-9786-26FDEA4C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C19F6-6957-4E48-B697-8DDFE42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Gericht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515F3-FE49-49DF-BE4E-C240416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3D0E7-55DE-4687-86E9-A5DA142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D2EC2-F081-4231-AE7B-AF1FFC7C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52487-6629-476D-9FF7-D9FD8A3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BECE0-05EC-40AD-AADB-623BF33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D2B5A-1DA8-4CA2-9A40-13271327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Anteil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BB222-DEAE-4611-AE57-2C69E772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BF936-C82B-41D9-92C7-D096BE61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A86DA-6DBA-40B1-B498-04E8CF6D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DEA3A-111F-4B35-BDD8-D3284AA2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145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19DE9-51F0-4147-B639-6294A05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194C2-AFB3-4B14-A398-F8F66E4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9555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349E7-8C1A-4E5F-AF56-659B285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76494-BE4F-4AE7-9623-020C3C90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24256-4D4B-401F-B1E8-F6E13BC0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C612B-ED3B-4BAE-B266-9C73618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48F52-C8AC-4F80-853B-9FB9044C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8D6DC-B6C1-43FB-BF22-2A1BAD03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469B5-59D8-43DF-8AF4-6911FF5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4F095-0FEC-4707-9747-35AA0532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4694F-81D3-413A-BA4C-90FF6F2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655E89-738F-437F-8989-8FE49735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EE734-8DDD-4896-B0B5-4BD09D2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479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5DE49-D6AA-43EA-8841-94F9E377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BED9BA-D044-4FBE-834F-4B85F4A1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64304-2FD0-41E0-9383-381745EA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8610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72DE89-6151-44C1-B59E-9B286143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F6580-D4F5-41CC-9754-E494E501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8AC76D-E844-45E9-A509-005315C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2581FC-7F48-468A-8036-3F275FA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B5E75-18C1-4FEA-AB44-ABB81C68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9D8C66-CC45-43E6-8576-850713D2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4D1300-645B-4AB9-B38F-07F2FD73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CF69D2-55AF-41C7-8626-DEB6E5F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4BCE01-D2C4-4E9D-B402-21AE8F8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97180B-FF4C-4F9C-806B-5B9B577E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9CFF80-BF19-4FD8-A0F9-2A1340F6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384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936C61-580C-4564-B7C0-829BA65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E8B679-57D1-42D1-89F1-8C5F7D7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B8C5DA-6DAB-4E1D-AD27-4AE8E8C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7665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B139B1-AD2E-4884-A79D-7CCC4124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3B0C67-7130-42C0-B012-B440391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9C00D3-A611-459B-8297-36DB171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25B326-7C1C-4D48-9F35-24A3230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5EDF90-302A-4E1E-80A0-F130DDF7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75522E-904F-409F-AE4C-BC9BCCB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3DA7B8-C531-4916-949A-35EF7ABB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83BFB-9472-4F52-91DA-ABCB7092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31.4%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A09379-529F-476C-A1A5-8DC2F8BE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267A19-573D-4A59-9C50-3368A394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25E77C-ABC1-42A6-8A47-7EC40228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90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6BAF17-F106-4C0B-8EAE-1421A108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66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A5E106-1881-4469-A709-3A3E4E1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957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4E5DD7-416E-498C-A48B-1D9E2F88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6720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EB8654-790C-40FF-9DBC-2E1457BC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EFC76F-70FA-4438-8D87-BCCF46BF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B97AA1-0332-4DA5-9004-A98344D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69B406-9F22-44DA-BBA5-AA9C08BD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2BE871-9DDB-4171-BE6C-5AE750B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B1078E-E347-4FD7-A355-ACF5CB9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B743F8-E1E6-4918-8F24-0405F691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EEB4E0-F656-47A0-A417-5EAE999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6DEF6F-0D84-4D11-9B24-A4BF83D4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9BB643-24E7-4871-844A-4F959F4E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94E487-92B3-42FF-B5EF-914B1D9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195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A00693-5B50-4485-954C-11BC087F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65A009-DDE3-492F-A334-5258670A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009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3848C0-9207-4251-A6C7-E1F9D7E8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D3F964-03ED-4CE0-9665-A5F64D66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979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Vergleichende Höchst-/Niedrigstranglisten erfordern mindestens drei qualifizierte Gerichte bei der Schwelle von fünf Bewertungen. Zwei qualifizierte Gerichte werden nicht als beste und schlechteste bezeichnet.</a:t>
            </a:r>
          </a:p>
        </p:txBody>
      </p:sp>
    </p:spTree>
    <p:extLst>
      <p:ext uri="{BB962C8B-B14F-4D97-AF65-F5344CB8AC3E}">
        <p14:creationId xmlns:p14="http://schemas.microsoft.com/office/powerpoint/2010/main" val="203206410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7DCFC-8F9A-4AF6-BB2F-0444D638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M — VERKOSTUNGSAUSWAHL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48F1C-08D8-4E13-A5AF-885156A7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Auswahlliste Wettbewerberverkostung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ECB26-6B2C-4028-A1B2-0DB3DFC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Primäre Kandidaten für Feldforschung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FB20A-E279-44AE-A807-E1C447AF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7FA9F-92D2-46A4-B9E0-CB63FCE7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63470-D194-40E0-96B6-6E179C2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ED022-D24D-4736-BC62-9A7591D6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BA8D3-F323-438F-BC26-5335B483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0B8B8-1C9A-460D-A7B7-4C6FBEF3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9DCBC-7A47-461F-B888-AF3373D6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87642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C23AE-B2D5-4B62-9FE3-5947F983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12B46-BABC-4E7D-90C6-7B355E33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764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92955-BFD4-4A40-BAAC-351B6E9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4258C-7DB6-4138-B239-B90C9C21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76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Anteil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98A44-01A7-48D8-8814-12073951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5E977-BA34-415C-BE8A-4A925820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764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Aktuelles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95579-503D-447C-9452-D0B63C4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DEF9D-C1F7-4827-BAC8-419943C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764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18115-815D-4B0A-AD1B-7D83FB0C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3ACFF-5F2C-4DDF-A207-81F88EC6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87B4B-570D-4D2C-9F41-8B3CB00C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1C11F-0802-4ABE-B7B9-F4201182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CAC6B-079D-45C3-845E-4EA3C9D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09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21989-8A4C-4C6E-8315-17A29E82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574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A0140-62ED-4700-93AE-082397CB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F00FB-A6ED-405D-8123-E4D7CC9D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57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455D1-F752-4E7E-BFD3-DFF0A33F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5C2BB-3F47-43CC-993F-FFF1CFE8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574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04294-88B0-4568-8291-09E3511A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33601-80AB-4257-BC7B-A6F0644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57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08C13-E9E0-448B-B2E1-905C70A7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AE165-B4A2-4161-B739-0032CFA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57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97E194-FBE8-4F3D-84F4-D6B9ED1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09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4FA3A-B28D-4D1B-BE69-AB86AEA3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2574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BAAE25-6938-4BF1-BF13-D8711EF2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216374-8324-47D6-8E28-DB78D743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BCF60F-5D34-4D61-9C9E-12CAA53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67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081E41-BDA6-44EA-85FA-0145C02A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44810-AFC5-477D-ABEA-9117015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67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3335CF-F08B-427E-B802-35FC1B69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714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FA1CBA-C433-4656-B6D3-365B852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D814C8-9B8D-434C-8A41-7F592AA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146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42D359-F900-47DE-A69E-DFD02B2C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80983-8305-4AF5-9D6B-72C9036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14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F03A1F-CAA4-4988-8412-1966068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664ADC-B19F-403D-959C-B5E589E7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4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€21.90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BA0B25-4C5B-4CAD-ABC6-4996ADE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5618CD-50FB-40B2-8C57-37D9E11D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146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3D5F90-70E3-4032-B0EC-C874E600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B339C5-EEB0-4416-B812-C483C7A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CD9D0B-DDBA-44B1-9FF4-44E91259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42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9F46E9-EEDC-48FB-98C6-F7AE461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718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D794A4-FFE6-47F0-A238-A992A79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24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414724-B8AD-40EA-B542-0925F1D5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71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E410E6-9ACB-421E-8C12-14414E6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242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462F07-00C8-4638-ACD7-F1FBC48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718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BF3166-11AB-488E-8934-19CE08CA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1AEF12-257B-4048-9907-EE48B36B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171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C42F3F-B47C-444F-BABF-BA521A1A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24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A63CCF-5CCE-4741-84F2-BCB2C1B8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71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€4.20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75599C-3432-4822-9C12-5AE8F300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24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14E9D6-E25A-43C2-B69E-5D43CE21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718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86CDAC-BB97-4FF6-A0DB-91837FEF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4D9890-FC29-49E0-B8B4-43D1BF6E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63FACD-36A9-460C-ACD4-03F594D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814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96D248-4B66-4F29-BA2D-402EA93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290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AFE9CA-74A6-4BE8-88EF-B1C685DA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3D43D6-BD4D-4268-B211-4CAEB50E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290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7CB62D-E0AF-4C63-A835-CDDBDD97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814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A8C30A-8EAA-44E0-9E78-0D4BA01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290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B70F4E-5561-46AB-A554-43C81FBE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0191A0-2ED4-4FD3-90BD-38CD340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290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279448-819E-4D88-BC2F-84C20F6E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81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744902-619B-4E7E-B794-D1A4DBB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290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7B2805-A135-489B-B013-0126CCC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814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1108D25-4C02-4423-BFD5-F2BE8FC3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6290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D8E3C4-BFF1-447A-9A0B-0203C576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4861CF-18F3-4117-97C7-191A0F6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B8DFCB-064B-4342-B30D-DDAD9775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386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ED5A3E-FE19-4D47-AA12-C3827B90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862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0A839D-4BD2-48A2-91AF-BDE39EF0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38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B7E3AC8-661E-4CF3-80F7-72FD9781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862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E4D5376-4AC3-43EA-93A7-74DAE45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ED859E-BF07-411C-A439-78B21453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862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31.4%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3E39B45-A891-4077-A59B-C1FD552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38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BBFD39-0181-4F73-A7F1-07DF9B0D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862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FA42717-040F-4135-B810-48DB22B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38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DE2160-1B81-44D3-A334-CDF82B82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862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€1.00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6DF199-6EAA-484D-96E7-70A7ACF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38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C01E20-BB31-4A2B-AE90-6221EAE8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0862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5343A52-8C46-40B6-9059-2C61180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07E96BE-774A-4024-B082-5A44B64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E6E02E8-6F29-4DC1-A40F-5CD319B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49D0E0-6BEA-4196-9BB6-5E5780C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434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Ayran 0.25l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C609D7-7268-40FE-BD8C-0D75F7F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95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C37C3B-4E07-4B75-93EA-A8F0737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543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6DDEB25-2B5C-419C-8446-BE806AA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B6C3205-DD44-47A4-982B-FE59F3A3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434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61.5%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F7BF80E-7A45-4EF4-969C-1115CA23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95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AB70DAE-A6FB-48F3-98D8-739F6BC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43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F9FD71-2906-4A1B-A29A-CED1D038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FC447C4-7533-4D29-B4A5-DA1B42B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543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415765C-8EC8-46CA-A1E1-48756E8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C9C9766-CADB-48B6-97AC-46937C4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5434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9EEAB9-5443-41D8-8B7F-CBEEB42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89F7529-A7DD-4114-BC5E-87D5DE1F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B39A9F9-1D4A-4068-BEAD-4A02D70B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53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59E433E-8A72-4DFC-AEE5-98F2D13D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00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49DCDDB-D997-4435-89A7-0267C7FA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53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1B76572-7EE2-4A4B-B874-5CD95B69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42EB08-81D0-4A18-A09A-FB3306D9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4091B7D-5B2E-4E11-BA27-093A6C8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006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92207B-FCAC-4DDC-B2B2-50BE86DB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A10F93-FC27-4DD1-B240-E08E90A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00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7B67E20-EDE1-42F8-A86F-4C6E519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408BEF3-2030-4B20-B8FC-03C69E60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00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6DA0B9A-0633-4F34-B4B6-C8E5907F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530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8739E2-82D1-4058-941D-28FC5E8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006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8AD3321-3985-4914-AFA4-D7E2860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63EC09-6157-4E76-9AD6-553EA4EC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57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46631D-EFB2-4A98-A7D1-FFD9EBD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102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1F6F8AD-1A39-4C79-A1CB-4670099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578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Kebab Teller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E3FD748-66F0-4B77-9018-11A31B8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10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B0CF3A7-FC96-4480-BD3A-36A2767E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457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7024F45-C06C-48B6-8339-995E6574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102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8A2BD7-1D1B-41FC-BE7E-14980C03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578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B6572F-3340-4CB9-9667-876CD007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10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A4B3CE9-5320-46DD-95BE-2C4AB31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457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3F02420-B2AC-462B-A3C9-CF506414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10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B78976B-99AC-4296-91CB-7A69E0B5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457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€14.90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625A19B-F5CC-4351-B35B-5C4060B3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410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70B8A9F-EC16-4E3F-8A52-30DF37D2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4578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</p:spTree>
    <p:extLst>
      <p:ext uri="{BB962C8B-B14F-4D97-AF65-F5344CB8AC3E}">
        <p14:creationId xmlns:p14="http://schemas.microsoft.com/office/powerpoint/2010/main" val="133483152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BD22C-0565-427F-8E18-FA17239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N1 — VERGLEICHBARER PREISKORB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E6DE4-FEBC-482B-9C75-DC03D46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Vergleichbarer Preiskorb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FD60F-CACA-4802-9866-14727AB4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sinnvolle Entsprechungen; Quelldatum und Konfidenz werden gezeigt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26FE-5DA6-4CD6-90D5-230DB00B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1255E-2BDB-4B33-808B-24434B3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BBC98-A32E-480A-991C-95ADC75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0122E-D02D-4093-B97A-2A74568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148B0-77F0-4DFB-A1F5-EF3F73EB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Vergleich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1DEE3-098A-4876-B910-CE63A2F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BB20D-F5F6-4370-8773-777684E3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B1F05-23C6-4D15-AA63-9A1FE6C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D71DA-C219-4D01-8CA0-0AC835C1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Zugeordneter Artikel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9C88C-CD9F-4854-A445-B78D568F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0A75F-8A5E-4F15-BAE2-9648E15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29D43-0B5E-48F5-9301-68F59EB5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59B94-5F54-4D13-8DBC-9B2653E5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Quelldatum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EC872-DA55-417C-BE8D-1F14C8CD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39F54-2810-4C2D-B60B-3DB78CA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Zuordnung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EF6E3-15D0-47B8-8993-FF729D9F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43314-A34C-4983-B66F-0D0A938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CD403-3441-4BE2-9228-0151BBA3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43231-06F0-48A0-823C-AB2D911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CF95D-984F-4283-B1E3-990793B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8801C-04B4-4E81-935B-142474E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FB6F9-9DA1-4D30-8EE9-E81AC490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AD077-45E3-4917-B2E8-9B6E569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AB6EF-3B57-408A-A2B3-F47C7AA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BD538-E45A-4116-B322-E169F0A0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C792E3-D2A0-4BC6-9139-650ADC4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6F7C2-EA0D-4621-AF74-A3E03D9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C7357-E4AF-4648-A345-9B34FE4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3F73F3-84D2-4470-98A0-FD0CE5D6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72784-C68D-45CB-9BB1-5945BB6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2E994F-D808-46FB-A4F4-39661940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54BDC-A13D-4A35-A3CC-3BBF86AF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350BB-59A4-428B-A9FE-F281B6E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C79B84-FD68-4737-99CF-BC76A2B0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B6924-A62F-43C4-B4E8-9A398B95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C4274D-1F21-47D0-97AA-2CBCB7DD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F7FEE0-CF56-4E84-9786-2207FC2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C245F-F1FE-40B4-A596-2B74A4EC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0A2A4D-D2F7-4056-B512-01A68666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07371F-F5A9-493D-9E4D-0E2824E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EE8C34-B0E1-4D4A-B310-C6FE93B9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750076-A07D-4321-982F-0F5F3574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7EB6AE-82E3-4A5B-8A96-54057FD5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F079C4-0F91-4E9C-B481-0EB7B4E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306B11-980A-4600-B48C-31BB63D7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6539CE-F433-4922-972F-1D14C81F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5D513A-929A-437E-902D-C467CE2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87E283-C305-4EBE-BBC9-F13C1D3F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366FB-312A-42B2-9C30-9E4C2DF2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F62A32-1227-43DF-9B1D-CF18593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E26439-FB00-4A1C-B9D0-8B44AEE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671CE9-33F0-43BE-9C2E-FC8A344D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2F6097-EBDD-4AF1-962E-EC605A30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C37030-E254-4D95-BC98-74874AE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896FE3-7742-407B-91B9-32AF4F4D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694098-187F-41BE-8F2E-E5C1767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7BFCAC-A209-4111-88DE-315A5F87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600A14-1F60-4D40-B68C-F7CC303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833D3E-4FF1-4BBC-94B3-360F446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11FE8F-2877-4123-80FC-C4B1E2DD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120FCB-1A28-4F0A-B425-AA86A2FA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4FDBEE-AAEF-40DC-BE82-AE12EA2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E39283-5712-496B-89C0-1818F0E8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2B71F1-97B9-4C69-80DE-C8EFE34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2E315D-4BE5-4B72-B7C7-33BC7833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A8E961-1F72-4728-B26C-54DB3FF5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694AE3-77C2-4DD6-ABD3-F588EC0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AA6A32-2511-43FF-8F68-BDCE59B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E1852A-D376-4303-9CEA-4A5E2CE8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2C9D6F-2AAD-4C2C-981F-A4D1EF45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7AC2CA-1427-411A-8DAC-09C4BD5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DE615C-31BF-47A6-AB59-C7E6F68B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2EAA41-E8E6-496F-99C7-C89E050F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2F8692-12BE-42AC-93D8-32A953D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176BE0-3E5A-4146-9228-F764F48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D7C255-CA8F-4F8A-A99A-F9854C5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C20BBE-3246-4380-8027-0EA988F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AD1DE00-CEB2-47C7-9DC8-84054CEA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2CD807A-3069-4DDB-849E-AA7C6AD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1EA2061-2698-481D-8592-94849803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F5DCAF-F4E0-4E50-B89F-5070C04C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Tabouleh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46F76E-4B1D-42E2-8373-6B1417D2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7409A94-E73A-4E2C-A5B7-937A35C2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€9.50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AF13D1F-A298-48EC-86C5-1D5799B0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2DF947-A62D-416F-BBBB-4BEAC403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9E04F25-41AE-4154-A436-5B73E685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F814B6-5AE8-4686-B005-F1F0D673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47B89C-8A8A-4F76-BFF3-C91B344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148FA2-9448-4C33-A78D-51FF9FC1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5A8E5F3-45E5-4BAF-A246-4C4D537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2791EF-22C2-4958-BFD6-762FAD6C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884752-2BF1-4489-BE3C-ECBF54C3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F38970-9A2D-4C6A-8A08-BF310788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Tabule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2DDAB67-32B3-44C4-B96D-02483A43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3C719F-366E-4FF4-9A08-71F5C75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6D0667-F350-4910-AD97-37CFB12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E50EBFB-0B09-4782-A583-97FEC3CF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34D667B-3867-445D-BD91-EB96BB2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0B1724-0921-4906-A5E6-91B8B328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6A71C8-E91A-4CBA-B16F-CFD36761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794DDD-C1D3-41FF-98E1-AD681B40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EEB53B-B407-4609-A34E-0EDF0CE2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11CD39-A183-4B4C-BCAE-784E737F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A9BCCE-D50A-4C31-970F-53FC7A9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B74291-CD5A-4130-BFE9-01DE457C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8626ED-310B-4C4D-A12D-A7DA29F8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2F6CEC-352D-46DA-B33C-A209F5C8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69BA120-FA6F-4553-8812-E191566E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240C9C-8629-4D16-8D8F-63A04778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CE6863-867F-4F17-9092-C34857AE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133737C-818C-46B2-A4C8-835F365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68D82DE-5D76-4C84-9485-A231D63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B629CE-16E9-4746-A639-788E08CD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0468A6-8F82-4195-A627-79275C4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55806B-EF53-46A5-ADC3-FD16398F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87B0400-EA1A-4986-8714-8F742F7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B9389C1-3AC7-4B6B-AD48-643CDF70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32932BE-7028-4319-A7BD-2BC97FE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4BF329B-68C8-4016-B07E-F24EE9AA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26BF3FC-8B0D-4F3E-BA7D-FB159FF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0F7BFF-90A6-4A10-A078-F3C423B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F87EA3C-F555-4848-B065-3348ABC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4467443-BD77-4C1B-9B4A-1943C44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FDC57E2-FDCF-4271-80A3-80AA288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5A7D84A-9D4E-4383-9561-D77504F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6B939EA-D271-4812-BAB6-21A3C1F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C48CED3-E022-4F4F-A1DA-A653E85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7054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DAEF183-82C3-4A7B-99C5-872405CE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57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EBDA829-BCF0-4124-AABF-8B5550B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054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777152F-503F-4E86-A062-5E23FB8E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65F1E3A-7806-4F96-95AA-FDCCC750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€9.50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A934F9D-D470-4236-8422-F88750F9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8B4B21-CC37-44FD-A38B-87168742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C9D6C1D-8393-4E89-85DC-C7C2CF81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A151B9A-C3CE-48A8-B89C-B8517A07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</p:spTree>
    <p:extLst>
      <p:ext uri="{BB962C8B-B14F-4D97-AF65-F5344CB8AC3E}">
        <p14:creationId xmlns:p14="http://schemas.microsoft.com/office/powerpoint/2010/main" val="63946832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6CFE8F-1E1C-41F2-BCFF-88B20BAD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N2 — VERGLEICHBARER PREISKORB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BBE32-0729-459E-90A0-DF35E5CE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Vergleichbarer Preiskorb ·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CACBF-6DFD-442D-B92D-4F53DB57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sinnvolle Entsprechungen; Quelldatum und Konfidenz werden gezeigt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1B63B-9290-42B2-B31D-D0285857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8F965-877A-4739-A8C1-C36381B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60DA6-98C6-483F-8FDB-70B769C9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76D61-B16B-4945-B72B-66A9E46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02485-4FF0-4A07-A1DE-BB06A5F8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Vergleich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D4ACC-A1B5-412A-8C79-3662E84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9B72D-BFA3-45D2-8276-607517F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BCB08-C033-436B-A4C5-3B16DB13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225D8-CD7D-4D1C-87D0-2965452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Zugeordneter Artikel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F6BB3-5444-425F-A552-8142058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998DD-5EB9-4FF7-AD48-07EC07ED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FDC4A-673A-4430-BA74-B299EAC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37CB1-C7E6-4C97-B4F7-464D4B3F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Quelldatum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716F8-7DFB-4E04-BB3A-A9DCAAE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21D95-4529-449E-8DB7-4185F804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Zuordnung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B3E51-F23A-4D88-A60B-FDF87FD8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35C4F-6B3B-41A5-814E-598F2C7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1957D-840B-4A9F-A5F4-0E8EAEE3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4F013-94FC-4EDF-B838-27E5AD59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F3966-E431-47DD-A719-F150F670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05B6A-DCE0-4888-83D9-E26C53D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F3A68-4B44-4DFA-A08B-66E5FC87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32933-0108-465A-A9BB-FA71F88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5F761-C9ED-499E-B7A4-62091CC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DD2CE-D170-4FED-9817-7EE284D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C2D9EC-9035-4A96-A34C-9DD10CC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3957E-4F49-46AE-8819-9AB4982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2D26B-0966-45C0-A30C-3C2BBB22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A4F6B8-F484-4C66-A810-B58EC659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D3DBC1-28DE-4A11-B4E2-A343DF49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8ADF6-C87D-4C47-8A7C-17649D1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2C1040-0EA2-40DF-B3C4-2D384657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054A1-42EC-4E83-A2DD-B8D5CC5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Teller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4FF65F-2D25-42FC-BDD6-1D71F746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BA612-BB70-43BB-B915-181974BE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€13.90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286A8C-A376-4935-82C9-39D633C3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01A1D-1C62-48AB-9D51-767EA1FB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4D765-4F87-40B4-8D70-26CAA044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E79780-09C5-4B05-B914-346B067E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B72737-37B2-4244-B4A0-49CDA32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F08A04-8E92-48C9-840E-C150215E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FFCAFF-A25E-4691-8DE7-A311EC9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C5F3BF-0576-4999-9EAC-6C8E9D5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1288BC-4B0C-4A52-8B7A-731BF75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5FBF08-7F79-4620-92C8-76E4389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Falafel-Teller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3655D5-8588-4C69-9B79-5303E97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5877D7-EFBE-490A-9E0F-FBF0B61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€11.90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B4D480-A89F-4886-8313-C666B2C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D5B684-2259-4A57-BD57-29DF054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27F5B5-1213-4D49-98F9-42BAAFFD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D5FB2D-2B2E-4382-B4BA-307BE5B1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D6EC1C-5B3F-48A3-A61D-1007678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74CF24-24CB-4838-8BAB-38B9655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BACF36-DBDE-4F76-BE4A-D48BF74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33E51A-7E8A-4D62-BC89-4639D8BE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1C1328-51E8-4963-868B-52600662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2F07BD-9700-4CF2-AACA-AEF04DB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Teller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FDD914-7D74-4AD2-83F9-8509351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9E855C-5D62-4D7E-8FA7-6023F4BE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€7.50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5DEC2F-F707-460F-BB1F-1C707030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4AC892-FD91-4C9B-8A8C-4C9C02D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40C22D-27D9-4F87-A935-52B9C132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FAC7DC-99B3-4821-AF67-ED66035D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CD6606-313C-472B-B150-8E94BCA0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B36EF8-6098-41AC-9AD4-49DE765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28894C-CD93-4A79-A2E6-BA29511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32FD61-525A-40E8-8A3E-7EAE21AC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FBBA2F-BAAB-4701-BD7F-E65DD67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4C93B7-E920-4FF0-8388-06EEF688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Teller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6029EB-D277-4CB1-B9D4-63518F1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262C6D-FF31-4E02-A3FF-2437DBF1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€10.00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B0CC3A-C53D-46FF-A6F6-9318F634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80435B-CBEF-4D5D-A71A-D6FE0C7F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80C8277-387A-4A21-B3E3-C51E7B6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C66645-1E94-4756-961E-7655F80B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797A8C-EA46-4622-93AB-A42AF605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700389-BDE2-4059-A6FF-6391B07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E753EC-952C-41F5-955B-BE06665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F1C52B0-E1BD-4094-AF4D-04EA992F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686FD67-C6B6-489D-8E7C-832E1709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53A908-7D05-4C8B-989F-0346CAF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A9B9E5-5F51-44B9-A003-8FDDC76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083BCF-04D9-4ED2-BE57-1B718A41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€18.00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9507F8E-E8F2-43DC-AC30-B4C171CA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951805-4A32-41E5-BC90-40DE18E7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9D71FAA-0762-470B-912F-F8583ED9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9E91964-6E3D-4602-9DFD-3E12B4A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F45929-38AE-404E-B7E3-3B44690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76BB33-0F64-4D76-B03A-2B7C90E8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90C400-3F30-456F-90B6-D2F2A12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46A5841-39AA-41AB-AB3D-9DE3EA3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04798C0-CDCE-4271-8009-FAF67DF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697A9F6-7440-4915-9308-BFFEEC4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Tawook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E58C96-F139-4F57-BB4E-DEAC5B12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A22A832-CCAA-4E0C-8926-C5E7F315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€19.90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04C453B-9EF3-4C16-977B-FFDCB2BA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D18A4BE-9DF3-4E36-A8C5-F7FD9F5C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6B8ED1-4D34-4B2E-BE97-9354D69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E9E999-5D64-4237-BDDE-57CA88E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94B0FA-1179-4B53-8E19-73C18428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185777D-67C9-4576-9C91-1B27188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B56332-E257-49D8-BB4D-2876596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B31895-B322-49A3-AF5B-4FABE92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A1B11BE-D155-4521-8FF5-D523D3D7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091E6A-E16F-43AC-B0CA-86440151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Hähnchen Teller mit…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E9639F-B217-448C-A979-9CB2C2DD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33DBDE-5238-4BF0-8AFD-F71E8ED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€13.50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FDC0635-342A-4466-834E-6248BC93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6A1A4B1-F41F-4E1A-9338-1C8E9513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77820E6-0323-4511-AAFA-A0AABAAB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699FF3-87D5-4A96-AC25-11799E1C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628ADD-3D13-4A7E-8CCF-CF333047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03711F-4F38-4C1A-B142-87EBBDE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069C53B-CD3C-4BF6-9DF0-FFD30DF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8B35FF1-9D29-4CB1-89BE-1F1FE20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021102A-B152-4B4F-AA44-C183E919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04355D1-BC99-45A9-AB40-4D0B11B2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Schisch Taouk Teller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98D3C3A-5D87-4D58-9927-904C49EE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3FBC6BF-9314-479B-A74E-37DAEDA7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€14.90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7F42929-2319-48A2-9B02-029E4D5A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E7F9DE4-5015-4004-A3BD-79D6DC6F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51E092F-3557-46CC-9208-61FB3EFC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62B72EB-5D44-43EC-86A0-F6F7162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03C3FD0-0755-4BA4-8B03-097FC45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EDECC7-1859-4404-856E-834C8365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7BD44E-00FE-432B-A86C-FF5C6422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E2C1BD5-C211-4A52-8816-51B819ED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7054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D202CC0-91E8-426F-A060-88C3612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57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9A43515-2DA7-4917-BBF6-84A83E1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054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 Grillplat…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9A050A-C328-4766-984A-FF86417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8AE2A1B-4A9B-4770-A17D-7E70C04F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€25.00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8F011B1-4D59-46A4-8364-AF13216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4CC4C91-7B09-4BC2-95D9-DC614516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4A54314-0801-4F11-901F-DA0BF19B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2562920-DB0E-48F7-A4F8-851C55A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</p:spTree>
    <p:extLst>
      <p:ext uri="{BB962C8B-B14F-4D97-AF65-F5344CB8AC3E}">
        <p14:creationId xmlns:p14="http://schemas.microsoft.com/office/powerpoint/2010/main" val="60378554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5782D-5D15-46F6-B494-6DD03BE6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N3 — VERGLEICHBARER PREISKORB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17CC4-2FBE-4097-97D2-4CF18B7C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Vergleichbarer Preiskorb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DB66C-1088-48F9-92BA-3A18FDE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sinnvolle Entsprechungen; Quelldatum und Konfidenz werden gezeigt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6E81B-57B1-464B-AD32-66B557A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CEDE3-5033-45E5-94E6-D2527633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5C8A6-69DA-4648-8437-880FBC1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7B57F-4F47-4DBE-BCB2-0788F04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750AC-A478-4F96-A8CA-0DB4F11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Vergleich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488DF-B188-4163-B47A-4D939A1A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C1368-433C-42E3-B607-D8AD3C6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42E2F-C060-4525-AEA4-E687B6DD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C7168-11D2-48BE-B842-5A088EAA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Zugeordneter Artikel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70746-D08C-4011-AE31-0AA6861E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C2393-7796-4982-9EF2-F89C67D8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4427B-CF77-4BA9-9E13-6B67D02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6467F-1B69-4E61-99C9-B6A0084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Quelldatum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EDF3D-590E-4ECF-98A1-64126B4A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ED775-662A-4021-8890-0FEE187F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Zuordnung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FA2C9-2962-45D9-93CC-4BDA532F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785E5-08F4-4A3D-B870-E0A2BC0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18E36-432B-4207-ACF8-EB44D011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113AE-86A3-4942-B1A1-4D5556EE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BCCC7-0E4F-4E08-B9E9-2B73DA8A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04E4F-1285-4FD9-B444-62C18E16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CBFBD-33FC-4262-8491-758EB8E3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236E4-0D76-41B6-A27E-E5D85220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€28.50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BA727-9684-472C-849D-30F2323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C4ECA-91C4-4BEB-B456-200A836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EE767-E616-4018-A011-C680A69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26BE4-DFA6-4AA8-92A3-B93B7877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84D3DA-EB77-4336-AE4F-8FEFDA1E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BC16C6-301A-4824-A79C-CA7492C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D91F9D-A88D-4B07-83A1-C8DA9379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B8225E-94A6-43CE-B1BA-605719F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86D16D-C46E-41D1-9C33-31544470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3CDE1A-717F-435C-9B86-8AB4D29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88452C-FC90-4B00-8194-DB96748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9AC573-B42E-4F43-B17B-B199859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€14.50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617E2-964F-436D-A5A2-92E999E8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259F67-9E43-4DA2-88E5-DCE45AC4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0CF1B-CA24-401B-99A5-C4642AE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00EB5A-8BEB-4619-80D4-6CD2E43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B66782-7518-4696-8C16-1F420472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96DC4-226A-48C1-AFAD-7F35333D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F5887E-9C09-4358-BB36-A59E64D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68E280-BFEF-4739-BC6C-1A19B72F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BB2DA9-7B3D-4287-B348-52459898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559A50-5308-422A-8619-5AC13A6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A3D4FE-A2A7-4D3E-AF03-BF6CF31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B14A0-1484-4FD5-93C5-0875428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€24.90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23AB31-EBF7-4FA9-AD52-A5F1EED2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02A66D-20D5-477E-97AC-D0E547E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7EFBAB-5665-41EC-AF26-8D3EBBF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7642C0-F4C3-4C8B-8352-B90057CC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EFBFB0-7971-4580-AD31-856C315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5769F5-0B06-4BCB-9A2F-8DC43E51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Lamb Chops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4EED77-6B45-4321-BC00-FE73576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6E0928-2934-4C1F-8164-F7885F0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63852F-3290-4125-AFBC-61465E5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479D51-560B-41B1-A93D-B367FAE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Lammkoteletts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0FC6AC-58F6-4860-9C7A-14F5D7BC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AF44F9-96E5-4933-903A-57EC3670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€26.00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CD7AC3-AF95-4123-8E60-827AF98D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39DC8A-1B96-44A0-A294-9C5D9B8B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0AA7DE-A9AD-4D28-915A-2671334A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59BD3A-8E8B-4020-85D6-D3EDB75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9ED3B1-B47F-4BA2-AE3D-917DCE90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47CA47-7267-4D24-8580-5FB42670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Lamb Chops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2D2F31-AB53-4E54-BE05-3DD5B577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ABA2D7-FF82-4849-9E9E-CF42A52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C8F245-78CE-4EFC-9D22-FF6347D4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CB5CC4-3F50-4FFD-8A54-6EFE53DF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Lammkotelett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38F335-70E3-4022-A752-5C9B4BDD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DFD126-B70E-4B8B-B304-2A59EFA3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€28.90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B4ACFB-60F5-4171-9B5E-0A82ADBC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71881E-4897-44F1-B6ED-73D9353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E59C95-1FBD-4E7B-9A01-4CB458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1D7AD0-E0DD-403F-B012-E3A240E0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B04319-365A-4213-9208-116731D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F560A2-C16E-4E96-B13D-E10683DC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Lamb Chops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6AC0E25-6F15-429F-99D5-CB76F35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D049F7-5A3D-4BA6-9CC7-42ACA5B9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947B27-D5C0-4AE6-B235-C23D2F99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2672D2-8A5B-4DEE-B480-572EB389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Lammkotelett Teller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08E809-A09A-4270-BFFB-F7898A6E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DCE627D-14F2-4407-90AA-FE4F766D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€20.90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F7C580-14D2-4341-BCD7-B8BB640C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BE3A10-F9D5-4BA9-820E-5C9DF585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0269990-C86F-4C13-9DF4-971FBAA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7A48B07-39EF-4CFF-A8B7-15605709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B16E0A2-7816-4804-9B6C-ADE82784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C9A60D-067E-4A21-838A-CEB591DE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6DCE14-B6CB-4025-A7B2-C1C67BD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995694-ADB7-432F-8F45-2E39512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12EA92-CF12-442F-AD81-8749FB44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D20C888-D3C5-4097-9E40-00EBB64B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Gegrillte / frittie…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EE3E61-532D-45C7-8FEA-D9B01642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F33650E-F29C-4554-83E0-011FE118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€24.00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8A28DB-2EF3-41ED-BB06-9C23A95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5878D3B-B517-4E2E-A6D4-3706B56A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692403-510C-4EA9-89C0-2DFCF5C5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FAA735-AE2D-4239-BA8C-46B0EA0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44F5766-5998-4EC6-859A-75479565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68F265-697A-4A85-87E3-078EBF6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7D653E-5FB3-4C07-A72B-BC3D507B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E70714A-F591-4F35-98B1-AC95EB43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CB7623-9A84-4158-B3DA-2E29F82E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DA31B6-D88F-4B92-A10C-111D5103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Gegrillter Fisch Do…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8EE3F1D-E2F9-4B66-972D-0213FDB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B2693EE-955E-4161-AFA9-F2156630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€29.50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3628003-289C-40C0-8504-D6E807E7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4E45650-6BA4-4DD4-A252-F0CE03F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7A0CD1-1BF7-4EEE-BFEF-C7703548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FA03323-1E62-4DBD-BC01-AA30B1C9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4C5AB56-2435-4169-8855-C678596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B499BF-5287-4067-8D22-D19AFD4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D3100C2-CFF0-4DA3-A020-22EA40D5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1BFF4C-1C45-4C1F-BC65-40E5A19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F2CC7F9-D0D4-44D8-B4C9-611BE281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789BA59-F1B6-46D5-9437-6F4C6440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 mit Reis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4799AF-5C89-4BF2-867B-77DA5FF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510F979-EEAE-4D58-A132-A44A0BF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€15.50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E88072-95E7-4C1C-888F-DE5135B5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990C300-5E25-46DE-BF7B-3AD4F4D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739A0C7-06EC-4082-AF91-3BE4A872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90926F3-D013-470D-A940-2200A0D1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65467D1-00A9-460E-A29E-A72C185B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63746F-F377-4F30-A6CC-5D7BE763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AF098A5-F3ED-48C1-82B4-59567A5A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38B8DA4-2D9A-43A0-8141-41B6320B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7054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77EFC87-0F36-471E-A07F-AEE4CE74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57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1177AC8-7222-4639-BA30-5B4BB3C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054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C86BA9-9CEA-43AF-A217-391DF69E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16B7C8B-A53C-441D-AA75-06E01A8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€24.90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A92763-E66E-45DB-A403-38B04D2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0E3A48A-427A-4DDE-A1BA-B4F385C5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4AEBF01-F9E7-4F1E-B3DD-DB5F3BD1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754C7E8-0C45-4E94-8D46-87C0DE0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</p:spTree>
    <p:extLst>
      <p:ext uri="{BB962C8B-B14F-4D97-AF65-F5344CB8AC3E}">
        <p14:creationId xmlns:p14="http://schemas.microsoft.com/office/powerpoint/2010/main" val="29176903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0C7A51-1340-44FA-824A-290F836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N4 — VERGLEICHBARER PREISKORB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C9770-6D6F-4133-9616-1E4CC17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Vergleichbarer Preiskorb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3D61A-1851-4B00-BF11-6D93935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sinnvolle Entsprechungen; Quelldatum und Konfidenz werden gezeigt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55231-4A73-4012-9DB8-9B596059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0DE92-CB62-4283-8DDD-48A3DE84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B8920-54D4-4994-8572-B7EEFC91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67FEC-D8DB-4117-ABEA-A31B58E6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CCAFA-558D-4F1A-A901-256B59FF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Vergleich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D1475-F42B-44F2-ACE1-24944AA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2AC5B-C566-45B6-9F46-9E3F22E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D9BE6-3AA2-45A1-94FE-DF9F768F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D24ED-B193-4559-BFCF-44361021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Zugeordneter Artikel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DB343-4B7A-438C-833A-89B4B45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874AA-E739-4870-A0F8-DEC60E0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9AC75-D510-49AB-9FB4-4DCFE82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0B78C-4953-4FF9-A0B4-93C1851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Quelldatum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28F7C-B429-459F-A5F7-3D59F96F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12648-5340-4B61-BACD-2961FBD7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Zuordnung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59078-0FB8-4825-8FEC-3C92273F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2681E-696A-4CDD-9F8D-C62E5B5B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3F115-CDAE-4A4D-8D27-373A939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01A59-4CD0-4CAC-8EE9-4520D251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9634C-BB92-4F96-BA5F-EE3FC18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2E988-B97F-41AD-A1F2-6E4BB5A0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 Sandwich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FDFA2-295A-4D6F-A487-8A909E45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08B26-962B-496D-B839-DAE9F00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7608B-B7B5-4645-83D0-06DBF8E5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3E2CD-4124-48E3-9F01-D871C33A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C449C-D746-43AF-8EB0-DD2D4144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0F29B-D184-402A-8901-6B18FAB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F74FA-31E1-4FC4-B30D-B6CFD4E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E8E2D3-1EC7-43CC-9645-0DB236B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33DD8-0DC0-46E1-B46B-E6D7042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93D8E-8E6E-4C62-B311-EEF4B37B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B1F1ED-E544-4F97-A194-2F9B5201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A11D9A-7DE6-412A-81E2-C8E4A4FC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Döner Sandwich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5280DF-4196-4EB5-8FDC-B900F69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165C7A-2279-44A0-AFC1-56D106DD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€5.00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B4DF4C-3E5D-4233-A644-DB7643EB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141486-5CF6-40AA-B4F1-3C55852E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F1B20C-D403-4CE2-A072-33262A0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3A66C4-FF1B-44C1-B2CD-B237C9E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niedrig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0CB62-09D6-4927-98C1-BE1186AA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5B9054-4325-42ED-B8B2-41202FF9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8BCD8-CF46-4652-AC46-5E7ED849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7423B1-B67C-4EB2-AE87-73651B8D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946497-FFD9-4C3A-9C98-FDD03D4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6E709A-A567-4CB1-9456-1EB8F68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Schawarma Kalb Sand…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58B4E-4895-4715-B923-23A7C80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AC5287-05EF-4717-AD2F-380CBACC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€6.65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7FE356-8F7D-4B5E-883D-5F7D2477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FFB228-516D-4F8E-82FB-B0F9EB4C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86ED08-A7C9-4DC7-A2E4-16EF13E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0D24AB-5E47-4088-B733-1BF892A3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D4CF79-8F76-4562-BE17-9D07BAA2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C208DA-92AB-4FA6-AF36-2A7E6490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9366D6-FCEA-407C-9093-507634C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A5BA3C-18D5-45C3-8630-0FBAEF7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816CDE-97F4-4090-8AAA-D4FB39F7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FF85E8-E24A-4DCF-A812-B0EC8295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BC1B3C-0928-465D-A129-268FB38B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3AFBE7-E006-4D63-932D-1CAD748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ECE588-A57C-4BDE-875F-6AA08388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8B39EF-CAFF-4393-AD87-ACB7384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81306D-44C2-44D6-94B2-0964603A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5B2B98-88B3-458B-AA93-8DC07FB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DA8AD7-0D72-461A-8B51-F9F45421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8D2ABE-2F47-4168-9788-07B1C2F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C6A5AC-2EB2-46AC-9678-6E06DD99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13EDB1-525E-446D-8D8C-8CB58584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D78E7D-8A1F-4631-978B-20A3973A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5B60B3-9B95-4B32-BAC8-2D77B6F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865A26-B817-42DC-A88E-9EE0634F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756239-F54B-46D3-AC63-9DAA6A28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4C82B8-3E87-43AC-94EA-8DA42169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77E07CE-941B-42B9-B408-3A159060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1CD219-6323-4331-88E9-4B936D5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6F6D40-2026-4F76-8636-19B2F12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4B6054-C751-48E9-BE33-7697D54A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FD2A3AC-BD8D-4C36-A24C-7C1F1464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B4307D-D9D8-451C-AF9C-34480B5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65B015-C150-4DE5-90FE-7DDBDBA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553E8F-D80C-4B6B-8115-2D8C414F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59DFA9-1788-480F-8C49-D5649FD1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Cola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E112CDA-E911-4DEB-A86F-B7A62BE1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4EBD7BD-5068-47E4-939D-D162038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567270-B157-4AFF-86E3-3FD2B49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4AD5192-EBD6-471E-B34F-6AC14078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nicht erfasst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87ACE0-E867-4E43-8DE2-73E06B9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F8FE27F-0A91-4290-9D17-DDCBBE5E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9EE336-A27A-42C1-A8D3-B8891FD6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5574ED-C908-437E-9C1D-A581CCA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09FE88-F774-4B32-A813-7E77D52E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537732-28B4-40D4-8E51-4839B1FA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89245F-4C40-49A1-8D65-9A4046B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7C292E-142A-430E-8F96-E7762461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Coca-Cola 0.2l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0DFC029-0F28-4B84-BD7A-1D53C9FF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58E00A7-CB9F-42CA-ACA5-6BE5433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3EE655-18B9-4C20-8E3F-5E5EAC8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53B3B9-EFF7-41EC-92CA-BD87AA30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0A5D5C-9B4C-47E7-A06D-842A8BC4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6C9E40-77AA-42DF-ABAA-57DE2AF8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0A03A8-F0F5-440C-99C6-2A29D1A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915B761-668C-48DA-A346-92440371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9452CC-06B8-4A3E-ACBF-9287A4EC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3152344-DFD7-4505-894F-71749F5B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A867AF9-4E9B-4442-83AD-E6FB52B9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46B306A-62A0-4275-92FA-FEFC765E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 0.33l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F47FB4-9D81-4642-9DB2-D797F7F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CA01725-2D0E-4112-AAF3-98C59718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€2.00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6914B0A-A6D3-44BD-B9EC-C4E3EBCE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A6AE0F7-CEAB-4675-96B7-80A99BFC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C3FB3F2-BE8B-4069-B7CD-2292FEA7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0B83CBA-A34E-45BF-A633-5B87947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8BE260D-3409-409E-9831-00A99F03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B32C88C-20DC-42DA-B68D-3F9E933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8F4ACD-4CB0-4376-91A8-B30634A5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A4A2E9-03E5-431A-AE92-5C3AACC4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F58748-DB52-4B82-A4BE-484CB821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6292DB-BA0B-4317-A733-7FF2585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Fritz-Kola 0.33l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6EB2C7E-6C46-4979-98E6-5638A0A8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D1A46CB-F950-4668-B76E-CE709CE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€2.50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2DA3CDF-EDD1-44F5-A1D6-929B892E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097C2C3-036B-415D-B8C7-9D69AE33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DB4951C-C271-4AA0-B996-91BFCCCB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3F972A-8326-47F8-99C7-755B1084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mittel</a:t>
            </a:r>
          </a:p>
        </p:txBody>
      </p:sp>
    </p:spTree>
    <p:extLst>
      <p:ext uri="{BB962C8B-B14F-4D97-AF65-F5344CB8AC3E}">
        <p14:creationId xmlns:p14="http://schemas.microsoft.com/office/powerpoint/2010/main" val="38333789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B30D1-0D1F-4933-ADB9-054E64F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O — DIGITALE / SERVICE-PRÄSENZ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4F89C-26A8-4ADB-A50B-965E6116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Details zur digitalen / Service-Präsenz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C2106-D16F-4EF6-BB26-5C38C10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Statuswerte stammen aus gespeicherten Quellenregistern und validierten Bewertungsdatensätzen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C83D3-F142-4C85-B149-4083BB8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5DAD9-6AAD-4E70-9E81-F3B0BDBE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24F0F-8A65-4896-9B1C-419119B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624C1-4F5F-4DAB-9420-28DCBE5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78A8-90C1-4295-BCC9-E4E67E4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Merkmal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3E22B-5E9D-4830-AD92-6617DE7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97A8A-2F23-45FD-BABF-2347DCE1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565D9-D92E-4D5A-990F-869BC40F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B6B72-D8C0-4B83-87DE-B5BB5C8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72550-4366-4DE7-AA7C-7E8F0D5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9581B-A419-465C-8B17-D168B96D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4AC56-DEAE-4BE6-A15D-D1B96B2C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D592C-9D11-433D-B018-33F89C45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40F34-02BC-42B4-B7A0-16BF58F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96541-310C-44BE-AA7D-B6D718C0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Offizielle Website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A0B0D-0E0F-47DA-AF66-6AC7088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B4C9F-DD20-4AB3-AF5F-C656F67C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https://www.alas…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A1A62-F4F4-46E7-8F65-AFC1FB7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CCA9D-DBB1-4265-AB95-F31463D6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https://www.oliv…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7FF92-F5F0-4165-A49F-B1F2A18C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D2E49-56A5-4C99-B10E-5CE8A399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https://alsafare…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37253-E2DA-467E-BB64-842B4EA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A2073-54C1-446B-8099-BAEF819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B0397-7A8D-4DB3-A8F9-F5FCFBB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255F7-BA74-42DA-B5EA-D45C1C0D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6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Vollständigkeit der Speisekarte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E3A49-81DC-4516-8D8C-625D712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2C6F2-B27F-463C-AD23-EF74DF51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3F5879-9D5F-420C-9CA9-DBB9B7E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A2FDF-6BBD-4E32-8DF9-453081CE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30FF9B-2210-4CA2-B544-73AB6E92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B74AC-A8C4-4424-B94F-ED16FF7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A8B3C5-B68B-494E-95D8-131D6DBB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72FBDB-F499-4ADC-8F7C-DD22CDCF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F67020-FCEB-425C-8330-B3CB297F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EB03A5-EF0E-494B-BD83-D96373C4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Google-Präsenz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ABCE3D-85DF-43D5-B0FC-D337AB2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691C2B-19FE-4926-94CC-F4E49C41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bestätigt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EFA7F9-3463-49FE-8DBB-CE8AF1B1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E0BEE9-9470-4F63-AABE-CB24F144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bestätigt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EF0F9C-E25F-4D12-B449-393DC3B6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BE6A28-6F99-4E6A-AA41-95321ED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bestätigt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080AD5-AC0E-4F82-BD9D-29A33BCC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BC1738-42E1-4288-B54A-8B1A9B45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bestätigt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670D9B-F754-44F4-8B46-818808F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F3D103-B68A-4F46-985C-FA311C2E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Lieferung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5EF6AF-9854-4582-8B6A-6A91FC67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968813-5975-4868-BC3A-20130E59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F7BF95-F32A-4059-93F5-707E4FCF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B0F560-9DAF-4FE4-A197-09308DBF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EE3E5E-CE19-4D48-99D0-077F6552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525228-0F85-4FE6-ACAB-1E292F4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C57BC6-30E3-47DF-861D-EB6B7372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EC82FA-BCAD-4BE4-BACA-0A23E15F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2A6499-3520-43CA-968E-03E42D5F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8522C0-E80A-4474-9923-7B1674A2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Abholung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11360D-A2A0-4096-8366-06D654DF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7FEB50-CCAB-437F-B887-3B091399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E727E9-9AA8-4406-A4FC-22390571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CD6DED-0CFB-4D1E-919F-EB98F85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8C954B-4226-4417-8442-08C15FF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F255AE-1730-42D4-B085-AA08DDF1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D9A0C7-2F27-4FF7-A175-60A4BBA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E0EB5F-7358-4D78-9C3D-55061DC2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5AA1EC-FF22-4BE7-BBB3-B8CDB8E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B2A470-31D6-4C74-8C6F-ED31EEF3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Online-Reservierung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4AB4D3-5B13-42E0-8831-B484C9BC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ED8FD2-8C41-4745-A9B5-4A283E9E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B020B9-5CC1-4227-9904-19855F5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2B6386-2D6C-4495-8208-4D8ACC9D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71319A-0D82-412E-87A4-0C8FE752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D480D6-839A-4874-9F15-4DC55E18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EB2A46-56D9-4DE7-958F-6304524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47A1F2-3388-4A42-A56E-4B2FF395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8812A9-C47C-4559-B943-CC0EA634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2E5ED8-85B2-4F53-BA59-3DA38C0C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Parken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868737-8AF9-4FFA-8687-9FA63EA1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059C43-80C9-4552-9FE8-A75D1BF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D8DF13-3FF1-4FBA-9E8D-6EB003B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D3FE02E-C7E8-4B50-A406-74C5786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2EECECE-4200-45E9-983B-9D49368D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A672496-7E8E-4DDF-AEDA-A87E29C9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84A31D-8387-4AFF-A1B2-1AAE615A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EE603E8-8830-460B-ADAD-628A66B0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A6CC5CE-4003-45D0-A309-E5D9C5CE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509149-D1CF-498E-9686-D60CE438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Zahlung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AB7918-FF93-4908-ADDB-58CE945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1EF11ED-9F45-444D-9D6B-C004FD1A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1EA6CD-8C1C-46F5-B610-E578758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786838-2A06-4ACB-B224-390AA186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A47A86-4103-47A7-8819-FA049927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55972BE-D496-4C1E-A471-EF5380B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8306175-4FD0-46F6-98D0-029D7A3C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3C323E-7E32-4BF1-9896-27B9C06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36F22C-9981-493A-827B-EBFD8FE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798541-18C9-4CBC-BCAF-D32A8F3E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Außenplätze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F766394-5992-4010-9129-5A81034A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08CFF93-A91F-4FAF-8EEF-D3D250EE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C10ED77-F0EA-49B1-9DB1-68713759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E5182B4-350C-4472-AE72-A4D29565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9EFB701-5112-469E-9C5E-A5D949B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4059DC9-023E-4573-8FD7-BA71773F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4011EA4-2DA3-4D6D-AAE7-3ED1020F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CD4E330-811A-4857-B306-E628912A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F57478-BC94-4F5A-9808-7104012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D46AD0-D214-4383-9EFA-06740F4E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Catering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0F219C-206E-4F51-A90B-BD37352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3C0CD4-7B97-4FFC-8600-A966E99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19E6AAB-8856-4509-B9F6-C710832C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7C69CEA-FACF-4D42-BB95-D5248C73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BF694C-E303-478A-B5CF-C73C98D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09F0682-5EB3-470F-97F2-092A91E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B05D50-8BED-448D-902F-B926D518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2003C07-66A6-494F-9855-73A72A90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</p:spTree>
    <p:extLst>
      <p:ext uri="{BB962C8B-B14F-4D97-AF65-F5344CB8AC3E}">
        <p14:creationId xmlns:p14="http://schemas.microsoft.com/office/powerpoint/2010/main" val="74983009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23810-EDC3-4482-9A6B-C77FB1EF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P1 — QUELLENREGISTER / KONFLIKTE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B099B-E8AE-4DE1-ACFB-D6E5E71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Quellen und Konflikte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6A409-3759-4D1C-A3FF-01CB5D45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gespeicherte Quellen; keine neue öffentliche Recherche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870A2-F018-408E-A6FC-F3C62DBD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4AC3-C10D-44A6-953E-393195C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D6A62-BB11-4F44-A447-29A12D9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5B6BD-6A9E-4A04-8664-63B24E0E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Bestehende validierte lokale Al-Assiel-Eingaben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validierte Projekteingabe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Bereitgestelltes Wettbewerbsanalyse-PDF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bereitgestellte Recherche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7537D-6619-4A6B-AF93-7E510F6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EE7CE-3CFE-4FC0-9B3B-72E2B7AA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DOKUMENTIERTE KONFLIKTE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20EA0-44F9-4618-97AE-DB2063D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Bereitgestelltes Wettbewerbsanalyse-PDF: Der im PDF erfasste breitere Bestand ersetzt nicht den validierten lokalen Katalog mit 118 Artikeln.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Bereitgestelltes Wettbewerbsanalyse-PDF: Die validierte Vergleichszahl der Getränke bleibt: Kaltgetränke 15 + Heißgetränke 10 + Cocktails &amp; Säfte 9 = 34.</a:t>
            </a:r>
          </a:p>
        </p:txBody>
      </p:sp>
    </p:spTree>
    <p:extLst>
      <p:ext uri="{BB962C8B-B14F-4D97-AF65-F5344CB8AC3E}">
        <p14:creationId xmlns:p14="http://schemas.microsoft.com/office/powerpoint/2010/main" val="203701061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F43FE-2F84-4EAE-90CF-C09A008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P2 — QUELLENREGISTER / KONFLIKTE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9D095-4AB1-4EEE-A9C7-BE76FE87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Quellen und Konflikte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732AB-3E24-43EC-BAEA-82640F33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gespeicherte Quellen; keine neue öffentliche Recherche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9050-4928-4875-8A0B-46398A07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D7369-D1D6-4816-875F-72FA4794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7F99F-FA80-4915-B304-5D806D7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1460A-99A0-4A7B-A92F-D752EE3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Olivenzweig-Startseite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Restaurant-Website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Olivenzweig-Speisekarte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eigene Speisekarte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Olivenzweig-Brunchkarte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eigene Speisekarte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Olivenzweig-Serviceinformationen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Restaurant-Website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758B2-11E5-4A40-BCED-326976F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Olivenzweig-Reservierung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Restaurant-Website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Olivenzweig-Kontaktseite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Restaurant-Website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Olivenzweig-Lieferkarte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Lieferplattform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Google-Maps-Ziel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Google-Unternehmensprofil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B1EA1-B791-460F-9D89-9A55A04B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DOKUMENTIERTE KONFLIKTE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D52F1-FB09-4FED-A50F-68E752DD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Olivenzweig-Speisekarte: Die Lieferkarte weist teils andere Artikelpreise auf; die offizielle Vor-Ort-Karte bleibt separat erhalten.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Olivenzweig-Kontaktseite: Einige offizielle Seitenfußzeilen nennen täglich, während dieselbe Website Montag als geschlossen angibt; Montag bleibt mit Konfliktkennzeichnung als geschlossen erfasst.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Olivenzweig-Lieferkarte: Lieferpreise weichen bei einigen Artikeln von der offiziellen Vor-Ort-Karte ab.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Bereitgestelltes Wettbewerbsanalyse-PDF: Konflikte bei Öffnungszeiten in der offiziellen Website werden anhand des neueren offiziellen Quellenregisters behandelt.</a:t>
            </a:r>
          </a:p>
        </p:txBody>
      </p:sp>
    </p:spTree>
    <p:extLst>
      <p:ext uri="{BB962C8B-B14F-4D97-AF65-F5344CB8AC3E}">
        <p14:creationId xmlns:p14="http://schemas.microsoft.com/office/powerpoint/2010/main" val="121326184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FEE16-7B5D-4124-BD47-25FE067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P3 — QUELLENREGISTER / KONFLIKTE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CDDEE-D3FA-4953-9B1B-65ADE407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Quellen und Konflikte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C4104-C16E-4A87-BEB6-76B9676F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gespeicherte Quellen; keine neue öffentliche Recherche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40F2E-64EA-4D14-A345-D19C3536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772FC-5E14-4AD5-9FCC-72D1C8A1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484F0-89C3-45A9-84F3-5F5DA201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89729-818F-48FD-AA54-B828EE0E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Offizielle Al-Safa-Website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offizielle Restaurant-Website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Al-Safa-Karte bei Speisekarte.de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aktueller Karteneintrag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Älterer öffentlicher Al-Safa-Kartenschnappschuss (niedrig)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sekundärer Speisekarten-Schnappschuss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Al-Safa-Schnappschuss der physischen Karte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bereitgestellte physische Speisekarte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DDC8E-46A3-4760-9F6E-C5E1D664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PDF-Spiegel bei Speisekarte.menu (niedrig)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Speisekarten-Aggregator-PDF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Restaurant Guru Al Safa Bonn (niedrig)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etablierter Eintrag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Eintrag bei Online Tischreservierung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Buchungseintrag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Google-Maps-Ziel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Google-Unternehmensprofil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567DC-66F1-4068-B4D8-B9C5ADF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DOKUMENTIERTE KONFLIKTE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5EEEB-FBAC-4533-A524-C8166F57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Al-Safa-Karte bei Speisekarte.de: Einige Preise weichen von der undatierten physischen Kartenextraktion ab; bei doppelten Angaben wird der datierte öffentliche Wert bevorzugt.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Älterer öffentlicher Al-Safa-Kartenschnappschuss: Laut Kurzbericht ist die aktuelle offizielle Karte unvollständig; Preise gelten als öffentlicher Listungsschnappschuss, nicht als garantiert vollständige aktuelle Karte.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Al-Safa-Schnappschuss der physischen Karte: Türkische Pizza: physisch 5,00 € gegenüber datierter öffentlicher Listung 6,00 €.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Al-Safa-Schnappschuss der physischen Karte: Lammkoteletts: physisch 16,50 € gegenüber datierter öffentlicher Listung 17,00 €.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PDF-Spiegel bei Speisekarte.menu: Datum und Aktualität des Schnappschusses sind nicht maßgeblich; öffentliche Website-Preise werden damit nicht überschrieben.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Bereitgestelltes Wettbewerbsanalyse-PDF: Türkische Pizza: 5 € physisch gegenüber 6 € in der datierten öffentlichen Listung; 6 € bleiben erhalten.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Bereitgestelltes Wettbewerbsanalyse-PDF: Lammkoteletts: 16,50 € physisch gegenüber 17 € in der datierten öffentlichen Listung; 17 € bleiben erhalten.</a:t>
            </a:r>
          </a:p>
        </p:txBody>
      </p:sp>
    </p:spTree>
    <p:extLst>
      <p:ext uri="{BB962C8B-B14F-4D97-AF65-F5344CB8AC3E}">
        <p14:creationId xmlns:p14="http://schemas.microsoft.com/office/powerpoint/2010/main" val="8208805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650CF-75AF-4645-B9A5-2957B67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P4 — QUELLENREGISTER / KONFLIKTE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31252-B007-48EE-BA3A-4DBBA4E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Beit Fayrouz Quellen und Konflikte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C3709-979A-4381-ACDD-B205E56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Nur gespeicherte Quellen; keine neue öffentliche Recherche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B9AC2-79E7-47A1-A6D5-42CBBB1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6BFED-9B4A-4827-B984-5C60039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00C57-5891-45BE-AC27-792E83C9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C90B6-C232-4A2D-B612-198F8F3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bei Lieferando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Speisekarte der Lieferplattform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bei Uber Eats (mittel)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Speisekarte der Lieferplattform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Google-Maps-Ziel (hoch)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Google-Unternehmensprofil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Eintrag zur Eröffnungsankündigung (niedrig)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etablierter Eintrag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0B3F2-CB37-4F04-B312-56F67A4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06B0A-5B44-4B30-819C-BA2EBD5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DOKUMENTIERTE KONFLIKTE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938C3-A889-4D70-A360-980B8287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bei Lieferando: Ein älterer/lokalisierter Lieferando-Abruf zeigte andere Preise; für Katalogpreise wird der aktuelle deutsche Schnappschuss vom 21.09.2026 verwendet und der Konflikt bleibt dokumentiert.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bei Uber Eats: Mehrere Preise weichen von Lieferando ab; Uber-Werte bleiben in platform_signals/notes dokumentiert und werden nicht stillschweigend ersetzt.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Eintrag zur Eröffnungsankündigung: Die angegebenen Betriebszeiten 12:00-24:00 weichen von den Uber-Eats-Lieferzeiten 11:00-23:45 ab.</a:t>
            </a:r>
          </a:p>
        </p:txBody>
      </p:sp>
    </p:spTree>
    <p:extLst>
      <p:ext uri="{BB962C8B-B14F-4D97-AF65-F5344CB8AC3E}">
        <p14:creationId xmlns:p14="http://schemas.microsoft.com/office/powerpoint/2010/main" val="9546942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7508B-EDAC-410B-9A01-60C6BCEF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Q1 — SCORECARD WETTBEWERBERBESUCH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B899B-9FE5-4E34-904F-3F85E240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Scorecard Wettbewerberbesuch · Besuchsfakten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BB3B8-79F6-4727-9643-DE5DC090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Drucken oder digital ausfüllen - ein Formular pro Besuch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D0760-83CF-4381-9F35-D664D46A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11ADF-7F76-4114-9233-3CF80EF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B0F6-516B-440B-95E9-B8074CB7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105F1-88B8-41DD-8317-D838AC2F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A3AF8-E68C-4F76-8719-9A44458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Bereich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705AE-9573-4173-845F-DF9E1D2F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90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11796-D3FB-40F5-9A04-B330DE4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57375"/>
            <a:ext cx="798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Erfassung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25743-2876-47E9-89EF-52C2013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9AB3F-FB3A-4CD4-95C2-50460F5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BESUCH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A4CC0-567C-49B7-9BB6-376BB16A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199B9-17A4-40C5-8E71-C3F0E718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383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Restaurant · Datum · Uhrzeit · Teammitglieder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C3FC2-1120-44F2-AE77-A92EC0D2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D5B5B-339B-4BA2-906B-D60B6F95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ANKUNFT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97FE4-9E41-483A-87C9-B98EFC1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B6DE3-49AA-4CFB-A97F-945DDB49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241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Parken · Beschilderung · Begrüßung · Wartezeit bis zum Platz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C6A93-0979-470E-8CA2-0D83327A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9906F-80E6-4CB0-9408-D924E3E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099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SPEISEKARTE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7C0A9-417A-4CA0-A767-2433275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623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C449D-042E-4A37-8CDA-7556941F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099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Klarheit · Bilder · Favoriten · Empfehlungen · Angebote · Bundles · Bestellablauf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29CA2-C5BD-4DFF-9EB8-5AAEFE6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80CAC-C987-4B4F-B11E-F01BBB58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957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SPEISEN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37962-99C5-44B2-84C7-3752A900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481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A72D0-5374-453C-9C7B-B8D43CD2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957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Gericht · Preis · Geschmack · Würzung · Temperatur · Frische · Zartheit · Portion · Anrichtung · Brot · Beilagen · Saucen · Zeit bis zum Tisch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09FE3-7C2F-4005-8887-9C9C1D6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67490-51E5-4FC5-BB0F-F5F1878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815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GETRÄNKE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6CC9CC-3ADE-4CF3-BCC5-2B61616D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339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C7E95-841E-45AC-9B14-5BC7021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815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Getränk · Preis · Präsentation · Geschmack · Empfehlung</a:t>
            </a:r>
          </a:p>
        </p:txBody>
      </p:sp>
    </p:spTree>
    <p:extLst>
      <p:ext uri="{BB962C8B-B14F-4D97-AF65-F5344CB8AC3E}">
        <p14:creationId xmlns:p14="http://schemas.microsoft.com/office/powerpoint/2010/main" val="205292647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59094-6184-43BD-B9B5-7549570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Q2 — SCORECARD WETTBEWERBERBESUCH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4D02-F316-4C10-88D0-C401C32A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Scorecard Wettbewerberbesuch · Einordnung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734D0-71EA-42F8-8E08-53737F23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Beobachtungen in ein kontrolliertes Experiment überführen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07737-D619-46BB-B68A-BB4532A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033F4-D0C0-4BB6-A47A-C4F493C4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0BF77-C787-427A-883D-4E48769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8E1E4-4258-4E05-8AFB-B195905A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42EE8-0296-4DA4-8615-16EF3D6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Bereich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88EF5-BCBE-4C28-9F85-2554565E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90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69DA6-A08C-4210-B8FA-A77037C1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57375"/>
            <a:ext cx="798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Erfassung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6207F-AFAF-4C4F-A25C-E6E9D51A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2FF4E-DB15-4CBB-874E-2C55281D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B4C04-151E-468C-9095-EA3D9C2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78D97-EC4D-48AB-834D-E3C1D149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383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Freundlichkeit · Wissen · Aufmerksamkeit · Kommunikation · Empfehlungsverhalten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B83E0-C3E7-4900-B249-FF94BEF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6BBEC-E364-4A3D-B88A-8E04E07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UMFELD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AAAE3-1B2D-4E3F-A92E-9DC82409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CDED9-6C44-48E0-8A48-21A1D468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241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Sauberkeit · Komfort · Lautstärke · Atmosphäre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8C242-197F-4830-90F3-6B9F6882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E53BB-DF2C-4546-9FE8-B8D8043D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099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KOMMERZIELL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C5A1C-6D0E-498C-9802-DDFD699E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623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21971-1FC5-4EB9-9F36-D5972AD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099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Preis-Leistung · Angebote · Bundles · Zusatzverkauf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2A75E-8AE4-420D-B169-3557D99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BBB74-4D1E-4595-98DC-C24C211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957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9006F1-FB86-42F2-9476-2FD5075D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481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77059-FA5D-443B-B3D9-62594204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957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Was der Wettbewerber besser macht · was Al Assiel besser macht · was nicht kopiert werden sollte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F5249-D622-43C0-B7C3-577458B2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61A7F-18D3-4771-BA1E-371C6A4C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815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1B262-0635-48BC-8E42-F607061C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339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2F7F6-2783-45D1-B5E5-35E5DF6A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815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Ein Al-Assiel-Experiment · Zuständigkeit · Kennzahl · Frist</a:t>
            </a:r>
          </a:p>
        </p:txBody>
      </p:sp>
    </p:spTree>
    <p:extLst>
      <p:ext uri="{BB962C8B-B14F-4D97-AF65-F5344CB8AC3E}">
        <p14:creationId xmlns:p14="http://schemas.microsoft.com/office/powerpoint/2010/main" val="65733845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6D420-C496-4BD3-800B-590A582A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ANHANG R — METHODIK / SCHWELLEN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4C586-6864-4D56-9B41-E686AA51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Methodik und Evidenzschwellen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4452E-75C6-4EA4-BD89-69FA163B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Transparent, deterministisch und bewertungslokal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6B3C2-ED28-42FC-819A-5F167007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76866-8667-4D15-9222-45522659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E1C75-2A5A-4983-8362-EB17020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Zurück zur Ausgangsfolie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1250E-4BFB-46E2-B696-785E1F5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EBA63-103C-46CF-98E4-113E178C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621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0ED81-B279-434F-A1D2-1DE0E8EF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954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FE217-3E21-4037-B66A-7445C80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62125"/>
            <a:ext cx="798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Umsetzung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60833-2D94-4ED9-A59D-102A9078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75154-66AA-43F2-935B-274872A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431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ADE68-1183-4155-9A8C-081290E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1A2A0-2217-4BF4-A683-E4A9F89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431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Themen- und satzteillokal; die gesamte Sternebewertung wird nie als Sentimentersatz verwendet.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8F37-1F1A-4EF6-A948-13FECB66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7D0B1-F90C-4BC7-A18F-DCEE31E8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765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Sentimentevidenz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80311-C54A-42E6-BFAC-EC56742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289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6A019-4DD3-4EA8-AD98-9814E55A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765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1-4 stützende Bewertungen = niedrig; 5-14 = mittel; 15+ = hoch; null = keine.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227D2-3D24-4451-9E41-967BB7F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A78A9-16A1-4DC2-B12A-AFE6C851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099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Formaler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29962-EFC8-439F-B4C9-D4760611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623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0EFDC-0C50-44A2-9148-AAC2D7C6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Nur Bewertungen bis einschließlich 03. Sep. 2026; identische gemeinsame Zeiträume.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BCB4A-8C75-493F-8CAC-9124F9D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558F1-47B2-473D-802E-60FF85A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433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Führungskennzeichnung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EFD95-289F-4C95-B80C-A5276137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957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F52C7-392F-44F7-A32C-C837417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433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Gesamt ≥5 Bewertungen; Thema ≥5 Nennungen und ≥3 positive Bewertungen; sonst unzureichende Evidenz.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52ECF-65F5-4CDF-AB60-FD9B357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291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21E17-EFA4-4CBD-80C3-93E8B0B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767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Gerichteformulierung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CA8E1-829E-40B4-9F17-5A1FC01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7E393-C941-49C4-B57D-D03FBED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767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Nur Kundenaufmerksamkeit/Sentiment; niemals Bestseller- oder Absatzschluss.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0996E-9E95-43CE-8EF7-400922A9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C15D2-02FB-4A70-B332-8D8DA59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101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Kartengruppen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B98A9-1693-4B5F-8317-E376607D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625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CC5E3-FA01-45A8-BF10-50F56DE2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101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Primärgruppen sind überschneidungsfrei; überlappende Attribute werden markiert und nie summiert.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BD6ACC-4186-4DAB-9462-A87EEC9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2286E2-C825-4BA1-99FB-E23A9CAA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435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4AAC74-76D6-4DC5-9CCF-C6A9463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959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9941CF-D135-4DA4-9129-DBAA9EF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435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Unbekannt bleibt unbekannt; fehlende Evidenz wird nicht in falsch umgewandelt.</a:t>
            </a:r>
          </a:p>
        </p:txBody>
      </p:sp>
    </p:spTree>
    <p:extLst>
      <p:ext uri="{BB962C8B-B14F-4D97-AF65-F5344CB8AC3E}">
        <p14:creationId xmlns:p14="http://schemas.microsoft.com/office/powerpoint/2010/main" val="684161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2026-09-29T13:02:23.5000000Z</dcterms:created>
  <dcterms:modified xsi:type="dcterms:W3CDTF">2026-09-29T13:02:23.5000000Z</dcterms:modified>
</coreProperties>
</file>